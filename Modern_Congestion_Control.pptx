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>
  <p:sldMasterIdLst>
    <p:sldMasterId id="2147483650" r:id="rId1"/>
  </p:sldMasterIdLst>
  <p:notesMasterIdLst>
    <p:notesMasterId r:id="rId19"/>
  </p:notesMasterIdLst>
  <p:handoutMasterIdLst>
    <p:handoutMasterId r:id="rId20"/>
  </p:handoutMasterIdLst>
  <p:sldIdLst>
    <p:sldId id="930" r:id="rId2"/>
    <p:sldId id="954" r:id="rId3"/>
    <p:sldId id="955" r:id="rId4"/>
    <p:sldId id="956" r:id="rId5"/>
    <p:sldId id="957" r:id="rId6"/>
    <p:sldId id="958" r:id="rId7"/>
    <p:sldId id="959" r:id="rId8"/>
    <p:sldId id="960" r:id="rId9"/>
    <p:sldId id="961" r:id="rId10"/>
    <p:sldId id="962" r:id="rId11"/>
    <p:sldId id="964" r:id="rId12"/>
    <p:sldId id="965" r:id="rId13"/>
    <p:sldId id="967" r:id="rId14"/>
    <p:sldId id="951" r:id="rId15"/>
    <p:sldId id="966" r:id="rId16"/>
    <p:sldId id="963" r:id="rId17"/>
    <p:sldId id="970" r:id="rId18"/>
  </p:sldIdLst>
  <p:sldSz cx="9144000" cy="6858000" type="screen4x3"/>
  <p:notesSz cx="6797675" cy="9928225"/>
  <p:embeddedFontLst>
    <p:embeddedFont>
      <p:font typeface="Arial" panose="020B0604020202020204" pitchFamily="34" charset="0"/>
      <p:regular r:id="rId21"/>
      <p:bold r:id="rId22"/>
    </p:embeddedFont>
    <p:embeddedFont>
      <p:font typeface="Wingdings 2" panose="05020102010507070707" pitchFamily="18" charset="2"/>
      <p:regular r:id="rId23"/>
    </p:embeddedFont>
    <p:embeddedFont>
      <p:font typeface="Wingdings 3" panose="05040102010807070707" pitchFamily="18" charset="2"/>
      <p:regular r:id="rId24"/>
    </p:embeddedFont>
  </p:embeddedFontLst>
  <p:custDataLst>
    <p:tags r:id="rId25"/>
  </p:custDataLst>
  <p:defaultTextStyle>
    <a:defPPr>
      <a:defRPr lang="en-US"/>
    </a:defPPr>
    <a:lvl1pPr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1pPr>
    <a:lvl2pPr marL="4572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2pPr>
    <a:lvl3pPr marL="9144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3pPr>
    <a:lvl4pPr marL="13716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4pPr>
    <a:lvl5pPr marL="1828800" algn="ctr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5pPr>
    <a:lvl6pPr marL="22860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6pPr>
    <a:lvl7pPr marL="27432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7pPr>
    <a:lvl8pPr marL="32004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8pPr>
    <a:lvl9pPr marL="3657600" algn="l" defTabSz="457200" rtl="0" eaLnBrk="1" latinLnBrk="0" hangingPunct="1">
      <a:defRPr sz="1400" kern="1200">
        <a:solidFill>
          <a:schemeClr val="tx1"/>
        </a:solidFill>
        <a:latin typeface="Arial" pitchFamily="-106" charset="0"/>
        <a:ea typeface="Arial" pitchFamily="-106" charset="0"/>
        <a:cs typeface="Arial" pitchFamily="-106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01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6">
          <p15:clr>
            <a:srgbClr val="A4A3A4"/>
          </p15:clr>
        </p15:guide>
        <p15:guide id="2" pos="212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290"/>
    <a:srgbClr val="AABBD9"/>
    <a:srgbClr val="9CB5DF"/>
    <a:srgbClr val="617DAB"/>
    <a:srgbClr val="FFB7A6"/>
    <a:srgbClr val="00418F"/>
    <a:srgbClr val="66A1DB"/>
    <a:srgbClr val="3E5C93"/>
    <a:srgbClr val="456399"/>
    <a:srgbClr val="E73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45" autoAdjust="0"/>
    <p:restoredTop sz="96405" autoAdjust="0"/>
  </p:normalViewPr>
  <p:slideViewPr>
    <p:cSldViewPr snapToGrid="0">
      <p:cViewPr varScale="1">
        <p:scale>
          <a:sx n="80" d="100"/>
          <a:sy n="80" d="100"/>
        </p:scale>
        <p:origin x="1574" y="67"/>
      </p:cViewPr>
      <p:guideLst>
        <p:guide orient="horz" pos="2160"/>
        <p:guide pos="1010"/>
      </p:guideLst>
    </p:cSldViewPr>
  </p:slideViewPr>
  <p:outlineViewPr>
    <p:cViewPr>
      <p:scale>
        <a:sx n="33" d="100"/>
        <a:sy n="33" d="100"/>
      </p:scale>
      <p:origin x="0" y="-851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2456"/>
    </p:cViewPr>
  </p:sorterViewPr>
  <p:notesViewPr>
    <p:cSldViewPr snapToGrid="0">
      <p:cViewPr>
        <p:scale>
          <a:sx n="100" d="100"/>
          <a:sy n="100" d="100"/>
        </p:scale>
        <p:origin x="8104" y="1960"/>
      </p:cViewPr>
      <p:guideLst>
        <p:guide orient="horz" pos="3106"/>
        <p:guide pos="212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00475" y="0"/>
            <a:ext cx="299720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212725" y="9482138"/>
            <a:ext cx="2927350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86163" y="9482138"/>
            <a:ext cx="2998787" cy="4460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>
              <a:latin typeface="Arial"/>
            </a:endParaRPr>
          </a:p>
        </p:txBody>
      </p:sp>
      <p:sp>
        <p:nvSpPr>
          <p:cNvPr id="17418" name="Text Box 10"/>
          <p:cNvSpPr txBox="1">
            <a:spLocks noChangeArrowheads="1"/>
          </p:cNvSpPr>
          <p:nvPr/>
        </p:nvSpPr>
        <p:spPr bwMode="auto">
          <a:xfrm>
            <a:off x="6493541" y="0"/>
            <a:ext cx="185072" cy="369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641" tIns="45829" rIns="91641" bIns="45829">
            <a:prstTxWarp prst="textNoShape">
              <a:avLst/>
            </a:prstTxWarp>
            <a:spAutoFit/>
          </a:bodyPr>
          <a:lstStyle/>
          <a:p>
            <a:pPr algn="r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  <p:sp>
        <p:nvSpPr>
          <p:cNvPr id="17420" name="Rectangle 12"/>
          <p:cNvSpPr>
            <a:spLocks noChangeArrowheads="1"/>
          </p:cNvSpPr>
          <p:nvPr/>
        </p:nvSpPr>
        <p:spPr bwMode="auto">
          <a:xfrm>
            <a:off x="566738" y="0"/>
            <a:ext cx="4505325" cy="37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0982" tIns="45481" rIns="90982" bIns="45481">
            <a:prstTxWarp prst="textNoShape">
              <a:avLst/>
            </a:prstTxWarp>
            <a:spAutoFit/>
          </a:bodyPr>
          <a:lstStyle/>
          <a:p>
            <a:pPr algn="l" defTabSz="4422775">
              <a:defRPr/>
            </a:pPr>
            <a:endParaRPr lang="en-US" sz="1800" dirty="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08619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27350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4288" y="0"/>
            <a:ext cx="2951162" cy="484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12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84238" y="723900"/>
            <a:ext cx="5005387" cy="37544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86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896938" y="4722813"/>
            <a:ext cx="4957762" cy="4481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Klicken Sie, um die Formate des Vorlagentextes zu bearbeiten</a:t>
            </a:r>
          </a:p>
          <a:p>
            <a:pPr lvl="1"/>
            <a:r>
              <a:rPr lang="en-US" noProof="0" dirty="0"/>
              <a:t>Zweite Ebene</a:t>
            </a:r>
          </a:p>
          <a:p>
            <a:pPr lvl="2"/>
            <a:r>
              <a:rPr lang="en-US" noProof="0" dirty="0"/>
              <a:t>Dritte Ebene</a:t>
            </a:r>
          </a:p>
          <a:p>
            <a:pPr lvl="3"/>
            <a:r>
              <a:rPr lang="en-US" noProof="0" dirty="0"/>
              <a:t>Vierte Ebene</a:t>
            </a:r>
          </a:p>
          <a:p>
            <a:pPr lvl="4"/>
            <a:r>
              <a:rPr lang="en-US" noProof="0" dirty="0"/>
              <a:t>Fünfte Ebene</a:t>
            </a:r>
          </a:p>
        </p:txBody>
      </p:sp>
      <p:sp>
        <p:nvSpPr>
          <p:cNvPr id="286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4038"/>
            <a:ext cx="2927350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l" defTabSz="4422775">
              <a:defRPr sz="1800"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286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4288" y="9444038"/>
            <a:ext cx="2951162" cy="449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909" tIns="46946" rIns="93909" bIns="46946" numCol="1" anchor="b" anchorCtr="0" compatLnSpc="1">
            <a:prstTxWarp prst="textNoShape">
              <a:avLst/>
            </a:prstTxWarp>
          </a:bodyPr>
          <a:lstStyle>
            <a:lvl1pPr algn="r" defTabSz="4422775">
              <a:defRPr sz="1800">
                <a:latin typeface="Arial"/>
                <a:ea typeface="Arial"/>
                <a:cs typeface="Arial"/>
              </a:defRPr>
            </a:lvl1pPr>
          </a:lstStyle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0155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/>
        <a:ea typeface="Arial"/>
        <a:cs typeface="Arial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Raja Jain derived 40 years ago, that if 2 of 3 go infinite, it still would not increase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225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increase of packets that are send: Point A is when no more packets should be send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4619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34420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3476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070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Copa+ derived mathematically that Copa will arrive in </a:t>
            </a:r>
            <a:r>
              <a:rPr lang="en-US" dirty="0" err="1"/>
              <a:t>Competetive</a:t>
            </a:r>
            <a:r>
              <a:rPr lang="en-US" dirty="0"/>
              <a:t> mode after some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6380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035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393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171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251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PCC: near ideal line, but not always. However very complex to understand: therefore not so easy to improve</a:t>
            </a:r>
          </a:p>
          <a:p>
            <a:r>
              <a:rPr lang="en-US" dirty="0" err="1"/>
              <a:t>PowerTCP</a:t>
            </a:r>
            <a:r>
              <a:rPr lang="en-US" dirty="0"/>
              <a:t>: drains queue without losing </a:t>
            </a:r>
            <a:r>
              <a:rPr lang="en-US" dirty="0" err="1"/>
              <a:t>throughtput</a:t>
            </a:r>
            <a:endParaRPr lang="en-US" dirty="0"/>
          </a:p>
          <a:p>
            <a:r>
              <a:rPr lang="en-US" dirty="0"/>
              <a:t>C4: no scientific values available, we don’t know if the numbers are 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1074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4382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0869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2185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97666C-D6B8-904D-B8F2-816FE66458F0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328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ky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rgbClr val="0D2766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2" name="Picture 1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Sea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11113" y="5965825"/>
            <a:ext cx="4572000" cy="338138"/>
          </a:xfrm>
          <a:prstGeom prst="rect">
            <a:avLst/>
          </a:prstGeom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algn="l" eaLnBrk="1" hangingPunct="1">
              <a:spcBef>
                <a:spcPct val="20000"/>
              </a:spcBef>
              <a:defRPr/>
            </a:pPr>
            <a:r>
              <a:rPr lang="en-US" sz="1600" noProof="0">
                <a:solidFill>
                  <a:schemeClr val="bg1"/>
                </a:solidFill>
                <a:latin typeface="Arial"/>
                <a:ea typeface="Arial"/>
                <a:cs typeface="Arial"/>
              </a:rPr>
              <a:t>https://comsys.rwth-aachen.de/</a:t>
            </a:r>
          </a:p>
        </p:txBody>
      </p:sp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 marL="342900" marR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noProof="0"/>
          </a:p>
        </p:txBody>
      </p:sp>
      <p:sp>
        <p:nvSpPr>
          <p:cNvPr id="10" name="Rectangle 9"/>
          <p:cNvSpPr/>
          <p:nvPr userDrawn="1"/>
        </p:nvSpPr>
        <p:spPr bwMode="auto">
          <a:xfrm>
            <a:off x="-7938" y="6375400"/>
            <a:ext cx="9159876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pic>
        <p:nvPicPr>
          <p:cNvPr id="14" name="Picture 13" descr="rwth_comsys_bild_cmyk.pd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ky-blue">
    <p:bg>
      <p:bgPr>
        <a:gradFill rotWithShape="0">
          <a:gsLst>
            <a:gs pos="0">
              <a:srgbClr val="9FB5D9"/>
            </a:gs>
            <a:gs pos="100000">
              <a:srgbClr val="598CC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C8FCA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-seablue">
    <p:bg>
      <p:bgPr>
        <a:gradFill rotWithShape="0">
          <a:gsLst>
            <a:gs pos="0">
              <a:srgbClr val="0D2766"/>
            </a:gs>
            <a:gs pos="100000">
              <a:srgbClr val="9FB5D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1095375"/>
            <a:ext cx="9144000" cy="2333625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 algn="r" eaLnBrk="1" hangingPunct="1">
              <a:spcBef>
                <a:spcPct val="20000"/>
              </a:spcBef>
              <a:defRPr/>
            </a:pPr>
            <a:endParaRPr lang="en-US" sz="1200" noProof="0">
              <a:latin typeface="Arial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3352800"/>
            <a:ext cx="9144000" cy="228600"/>
          </a:xfrm>
          <a:prstGeom prst="rect">
            <a:avLst/>
          </a:prstGeom>
          <a:gradFill>
            <a:gsLst>
              <a:gs pos="0">
                <a:schemeClr val="bg1">
                  <a:lumMod val="65000"/>
                </a:schemeClr>
              </a:gs>
              <a:gs pos="35000">
                <a:schemeClr val="bg1">
                  <a:lumMod val="75000"/>
                </a:schemeClr>
              </a:gs>
              <a:gs pos="100000">
                <a:schemeClr val="bg1">
                  <a:lumMod val="85000"/>
                </a:schemeClr>
              </a:gs>
            </a:gsLst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789362" y="1702828"/>
            <a:ext cx="5354637" cy="457200"/>
          </a:xfrm>
          <a:prstGeom prst="rect">
            <a:avLst/>
          </a:prstGeom>
        </p:spPr>
        <p:txBody>
          <a:bodyPr lIns="0" rIns="180000"/>
          <a:lstStyle>
            <a:lvl1pPr>
              <a:defRPr sz="4800" b="1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endParaRPr lang="en-US" noProof="0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0"/>
          </p:nvPr>
        </p:nvSpPr>
        <p:spPr>
          <a:xfrm>
            <a:off x="3789363" y="2356346"/>
            <a:ext cx="5354637" cy="914400"/>
          </a:xfrm>
        </p:spPr>
        <p:txBody>
          <a:bodyPr lIns="0" rIns="180000"/>
          <a:lstStyle>
            <a:lvl1pPr>
              <a:buNone/>
              <a:defRPr b="1">
                <a:solidFill>
                  <a:srgbClr val="5E76A6"/>
                </a:solidFill>
                <a:latin typeface="Arial"/>
                <a:cs typeface="Arial"/>
              </a:defRPr>
            </a:lvl1pPr>
          </a:lstStyle>
          <a:p>
            <a:pPr lvl="0"/>
            <a:endParaRPr lang="en-US" noProof="0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8756062" cy="5311697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Nineth level</a:t>
            </a: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auto"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1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121751" y="643413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r">
              <a:defRPr/>
            </a:pPr>
            <a:fld id="{C4701650-41B2-7A4D-B223-84DBE99DBB49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r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88" y="103188"/>
            <a:ext cx="8756650" cy="457200"/>
          </a:xfrm>
          <a:prstGeom prst="rect">
            <a:avLst/>
          </a:prstGeom>
        </p:spPr>
        <p:txBody>
          <a:bodyPr/>
          <a:lstStyle>
            <a:lvl1pPr>
              <a:defRPr b="1">
                <a:latin typeface="Arial"/>
                <a:ea typeface="Arial"/>
                <a:cs typeface="Arial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3474" y="769377"/>
            <a:ext cx="8890394" cy="5922248"/>
          </a:xfrm>
        </p:spPr>
        <p:txBody>
          <a:bodyPr/>
          <a:lstStyle>
            <a:lvl1pPr>
              <a:buClr>
                <a:srgbClr val="004290"/>
              </a:buClr>
              <a:defRPr b="1">
                <a:solidFill>
                  <a:srgbClr val="004290"/>
                </a:solidFill>
                <a:latin typeface="Arial"/>
                <a:cs typeface="Arial"/>
              </a:defRPr>
            </a:lvl1pPr>
            <a:lvl2pPr>
              <a:buClr>
                <a:srgbClr val="004290"/>
              </a:buClr>
              <a:defRPr>
                <a:latin typeface="Arial"/>
                <a:cs typeface="Arial"/>
              </a:defRPr>
            </a:lvl2pPr>
            <a:lvl3pPr>
              <a:buClr>
                <a:srgbClr val="004290"/>
              </a:buClr>
              <a:defRPr>
                <a:latin typeface="Arial"/>
                <a:cs typeface="Arial"/>
              </a:defRPr>
            </a:lvl3pPr>
            <a:lvl4pPr>
              <a:buClr>
                <a:srgbClr val="004290"/>
              </a:buClr>
              <a:defRPr>
                <a:latin typeface="Arial"/>
                <a:cs typeface="Arial"/>
              </a:defRPr>
            </a:lvl4pPr>
            <a:lvl5pPr>
              <a:buClr>
                <a:srgbClr val="004290"/>
              </a:buClr>
              <a:defRPr>
                <a:latin typeface="Arial"/>
                <a:cs typeface="Arial"/>
              </a:defRPr>
            </a:lvl5pPr>
            <a:lvl6pPr>
              <a:defRPr>
                <a:latin typeface="Arial" panose="020B0604020202020204" pitchFamily="34" charset="0"/>
                <a:cs typeface="Arial" panose="020B0604020202020204" pitchFamily="34" charset="0"/>
              </a:defRPr>
            </a:lvl6pPr>
            <a:lvl7pPr>
              <a:defRPr>
                <a:latin typeface="Arial" panose="020B0604020202020204" pitchFamily="34" charset="0"/>
                <a:cs typeface="Arial" panose="020B0604020202020204" pitchFamily="34" charset="0"/>
              </a:defRPr>
            </a:lvl7pPr>
            <a:lvl8pPr>
              <a:defRPr>
                <a:latin typeface="Arial" panose="020B0604020202020204" pitchFamily="34" charset="0"/>
                <a:cs typeface="Arial" panose="020B0604020202020204" pitchFamily="34" charset="0"/>
              </a:defRPr>
            </a:lvl8pPr>
            <a:lvl9pPr>
              <a:defRPr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5" name="Rectangle 4"/>
          <p:cNvSpPr/>
          <p:nvPr userDrawn="1"/>
        </p:nvSpPr>
        <p:spPr bwMode="auto">
          <a:xfrm>
            <a:off x="0" y="6330074"/>
            <a:ext cx="9144000" cy="527926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400" b="0" i="0" u="none" strike="noStrike" cap="none" normalizeH="0" baseline="0" noProof="0">
              <a:ln>
                <a:noFill/>
              </a:ln>
              <a:solidFill>
                <a:schemeClr val="tx1"/>
              </a:solidFill>
              <a:effectLst/>
              <a:latin typeface="Arial" pitchFamily="34" charset="-128"/>
            </a:endParaRPr>
          </a:p>
        </p:txBody>
      </p:sp>
      <p:sp>
        <p:nvSpPr>
          <p:cNvPr id="10" name="Rectangle 31"/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" name="Picture 10" descr="rwth_comsys_bild_cmyk.pdf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418F"/>
            </a:gs>
            <a:gs pos="100000">
              <a:srgbClr val="5677C1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 userDrawn="1"/>
        </p:nvSpPr>
        <p:spPr bwMode="auto">
          <a:xfrm>
            <a:off x="0" y="0"/>
            <a:ext cx="9144000" cy="838200"/>
          </a:xfrm>
          <a:prstGeom prst="rect">
            <a:avLst/>
          </a:prstGeom>
          <a:gradFill rotWithShape="1">
            <a:gsLst>
              <a:gs pos="0">
                <a:srgbClr val="0C2665"/>
              </a:gs>
              <a:gs pos="100000">
                <a:srgbClr val="9FB6D9"/>
              </a:gs>
            </a:gsLst>
            <a:lin ang="300000"/>
          </a:gradFill>
          <a:ln w="9525">
            <a:noFill/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sz="2400" noProof="0">
              <a:latin typeface="Arial"/>
              <a:ea typeface="Arial"/>
              <a:cs typeface="Arial"/>
            </a:endParaRP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  <p:custDataLst>
              <p:tags r:id="rId11"/>
            </p:custDataLst>
          </p:nvPr>
        </p:nvSpPr>
        <p:spPr bwMode="auto">
          <a:xfrm>
            <a:off x="166688" y="817563"/>
            <a:ext cx="8815387" cy="5343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Mastertextformat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1036" name="Rectangle 12"/>
          <p:cNvSpPr>
            <a:spLocks noChangeArrowheads="1"/>
          </p:cNvSpPr>
          <p:nvPr userDrawn="1"/>
        </p:nvSpPr>
        <p:spPr bwMode="auto">
          <a:xfrm>
            <a:off x="0" y="671513"/>
            <a:ext cx="9144000" cy="570865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noProof="0">
              <a:latin typeface="Arial"/>
              <a:ea typeface="Arial"/>
              <a:cs typeface="Arial"/>
            </a:endParaRPr>
          </a:p>
        </p:txBody>
      </p:sp>
      <p:sp>
        <p:nvSpPr>
          <p:cNvPr id="11" name="Rectangle 10"/>
          <p:cNvSpPr/>
          <p:nvPr userDrawn="1"/>
        </p:nvSpPr>
        <p:spPr bwMode="auto">
          <a:xfrm>
            <a:off x="0" y="649287"/>
            <a:ext cx="9144000" cy="84137"/>
          </a:xfrm>
          <a:prstGeom prst="rect">
            <a:avLst/>
          </a:prstGeom>
          <a:gradFill>
            <a:gsLst>
              <a:gs pos="100000">
                <a:schemeClr val="accent4">
                  <a:tint val="37000"/>
                  <a:satMod val="300000"/>
                </a:schemeClr>
              </a:gs>
              <a:gs pos="0">
                <a:schemeClr val="bg1">
                  <a:lumMod val="95000"/>
                </a:schemeClr>
              </a:gs>
            </a:gsLst>
          </a:gradFill>
          <a:ln>
            <a:solidFill>
              <a:schemeClr val="bg2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-3176" y="6375400"/>
            <a:ext cx="9144000" cy="482600"/>
          </a:xfrm>
          <a:prstGeom prst="rect">
            <a:avLst/>
          </a:prstGeom>
          <a:gradFill>
            <a:gsLst>
              <a:gs pos="23000">
                <a:srgbClr val="E4E4E4"/>
              </a:gs>
              <a:gs pos="100000">
                <a:srgbClr val="F8FBFF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prstTxWarp prst="textNoShape">
              <a:avLst/>
            </a:prstTxWarp>
          </a:bodyPr>
          <a:lstStyle/>
          <a:p>
            <a:pPr marL="342900" indent="-342900" algn="l" eaLnBrk="1" hangingPunct="1">
              <a:spcBef>
                <a:spcPct val="20000"/>
              </a:spcBef>
              <a:buFontTx/>
              <a:buChar char="•"/>
              <a:defRPr/>
            </a:pPr>
            <a:endParaRPr lang="en-US" sz="1600" noProof="0">
              <a:latin typeface="Arial"/>
              <a:ea typeface="Arial"/>
              <a:cs typeface="Arial"/>
            </a:endParaRPr>
          </a:p>
        </p:txBody>
      </p:sp>
      <p:sp>
        <p:nvSpPr>
          <p:cNvPr id="134175" name="Rectangle 31"/>
          <p:cNvSpPr>
            <a:spLocks noChangeArrowheads="1"/>
          </p:cNvSpPr>
          <p:nvPr userDrawn="1">
            <p:custDataLst>
              <p:tags r:id="rId12"/>
            </p:custDataLst>
          </p:nvPr>
        </p:nvSpPr>
        <p:spPr bwMode="auto">
          <a:xfrm>
            <a:off x="61277" y="6444218"/>
            <a:ext cx="343103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rIns="0">
            <a:prstTxWarp prst="textNoShape">
              <a:avLst/>
            </a:prstTxWarp>
            <a:spAutoFit/>
          </a:bodyPr>
          <a:lstStyle/>
          <a:p>
            <a:pPr algn="l">
              <a:defRPr/>
            </a:pPr>
            <a:fld id="{6A113AA4-9849-FB42-8487-64854D6D9D95}" type="slidenum">
              <a:rPr lang="en-US" sz="1600" noProof="0">
                <a:solidFill>
                  <a:srgbClr val="004290"/>
                </a:solidFill>
                <a:latin typeface="Arial"/>
                <a:ea typeface="Arial"/>
                <a:cs typeface="Arial"/>
              </a:rPr>
              <a:pPr algn="l">
                <a:defRPr/>
              </a:pPr>
              <a:t>‹Nr.›</a:t>
            </a:fld>
            <a:endParaRPr lang="en-US" sz="1600" noProof="0">
              <a:solidFill>
                <a:srgbClr val="00429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Text Placeholder 2"/>
          <p:cNvSpPr txBox="1">
            <a:spLocks/>
          </p:cNvSpPr>
          <p:nvPr userDrawn="1"/>
        </p:nvSpPr>
        <p:spPr bwMode="auto">
          <a:xfrm>
            <a:off x="2065283" y="6372224"/>
            <a:ext cx="5013434" cy="48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342900" marR="0" lvl="0" indent="-342900" algn="ctr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Name(s) of author(s)</a:t>
            </a:r>
          </a:p>
        </p:txBody>
      </p:sp>
      <p:pic>
        <p:nvPicPr>
          <p:cNvPr id="12" name="Picture 11" descr="rwth_comsys_bild_cmyk.pdf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233" y="6409415"/>
            <a:ext cx="2030415" cy="39617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92" r:id="rId1"/>
    <p:sldLayoutId id="2147483993" r:id="rId2"/>
    <p:sldLayoutId id="2147483994" r:id="rId3"/>
    <p:sldLayoutId id="2147483995" r:id="rId4"/>
    <p:sldLayoutId id="2147483989" r:id="rId5"/>
    <p:sldLayoutId id="2147483990" r:id="rId6"/>
    <p:sldLayoutId id="2147483991" r:id="rId7"/>
    <p:sldLayoutId id="2147483997" r:id="rId8"/>
    <p:sldLayoutId id="2147483996" r:id="rId9"/>
  </p:sldLayoutIdLst>
  <p:transition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+mj-lt"/>
          <a:ea typeface="Arial" pitchFamily="-108" charset="0"/>
          <a:cs typeface="Arial" pitchFamily="-108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bg1"/>
          </a:solidFill>
          <a:latin typeface="Arial" pitchFamily="34" charset="0"/>
          <a:ea typeface="Arial" pitchFamily="-108" charset="0"/>
          <a:cs typeface="Arial" pitchFamily="-108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00418F"/>
          </a:solidFill>
          <a:latin typeface="Arial" pitchFamily="34" charset="0"/>
        </a:defRPr>
      </a:lvl9pPr>
    </p:titleStyle>
    <p:bodyStyle>
      <a:lvl1pPr marL="342900" indent="-342900" algn="l" rtl="0" eaLnBrk="0" fontAlgn="base" hangingPunct="0">
        <a:lnSpc>
          <a:spcPct val="11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"/>
        <a:defRPr sz="2400">
          <a:solidFill>
            <a:schemeClr val="tx1"/>
          </a:solidFill>
          <a:latin typeface="Arial"/>
          <a:ea typeface="Arial"/>
          <a:cs typeface="Arial"/>
        </a:defRPr>
      </a:lvl1pPr>
      <a:lvl2pPr marL="742950" indent="-28575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"/>
        <a:defRPr sz="2000">
          <a:solidFill>
            <a:schemeClr val="tx1"/>
          </a:solidFill>
          <a:latin typeface="Arial"/>
          <a:ea typeface="Arial"/>
          <a:cs typeface="Arial"/>
        </a:defRPr>
      </a:lvl2pPr>
      <a:lvl3pPr marL="1143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2" pitchFamily="-106" charset="2"/>
        <a:buChar char="¾"/>
        <a:defRPr>
          <a:solidFill>
            <a:schemeClr val="tx1"/>
          </a:solidFill>
          <a:latin typeface="Arial"/>
          <a:ea typeface="Arial"/>
          <a:cs typeface="Arial"/>
        </a:defRPr>
      </a:lvl3pPr>
      <a:lvl4pPr marL="15621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Font typeface="Wingdings 3" pitchFamily="-106" charset="2"/>
        <a:buChar char="¬"/>
        <a:defRPr>
          <a:solidFill>
            <a:schemeClr val="tx1"/>
          </a:solidFill>
          <a:latin typeface="Arial"/>
          <a:ea typeface="Arial"/>
          <a:cs typeface="Arial"/>
        </a:defRPr>
      </a:lvl4pPr>
      <a:lvl5pPr marL="19812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/>
          <a:ea typeface="Arial"/>
          <a:cs typeface="Arial"/>
        </a:defRPr>
      </a:lvl5pPr>
      <a:lvl6pPr marL="24384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6pPr>
      <a:lvl7pPr marL="28956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7pPr>
      <a:lvl8pPr marL="33528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8pPr>
      <a:lvl9pPr marL="3810000" indent="-228600" algn="l" rtl="0" eaLnBrk="0" fontAlgn="base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418F"/>
        </a:buClr>
        <a:buChar char="-"/>
        <a:defRPr>
          <a:solidFill>
            <a:schemeClr val="tx1"/>
          </a:solidFill>
          <a:latin typeface="Arial" pitchFamily="34" charset="-12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257267" y="1145948"/>
            <a:ext cx="8432799" cy="1471745"/>
          </a:xfrm>
        </p:spPr>
        <p:txBody>
          <a:bodyPr/>
          <a:lstStyle/>
          <a:p>
            <a:r>
              <a:rPr lang="en-US" dirty="0">
                <a:latin typeface="Arial"/>
                <a:cs typeface="Arial"/>
              </a:rPr>
              <a:t>Modern Congestion Control Algorithms</a:t>
            </a:r>
          </a:p>
        </p:txBody>
      </p:sp>
      <p:sp>
        <p:nvSpPr>
          <p:cNvPr id="5" name="Text Placeholder 2"/>
          <p:cNvSpPr txBox="1">
            <a:spLocks/>
          </p:cNvSpPr>
          <p:nvPr/>
        </p:nvSpPr>
        <p:spPr bwMode="auto">
          <a:xfrm>
            <a:off x="528321" y="3712706"/>
            <a:ext cx="84328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Yannik Schreiter</a:t>
            </a: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endParaRPr lang="en-US" sz="2200" kern="0"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SzTx/>
              <a:buFont typeface="Wingdings 2" pitchFamily="-106" charset="2"/>
              <a:buNone/>
              <a:tabLst/>
              <a:defRPr/>
            </a:pPr>
            <a:r>
              <a:rPr kumimoji="0" lang="en-US" sz="2200" b="0" i="0" strike="noStrike" kern="0" cap="none" spc="0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Benedikt</a:t>
            </a:r>
            <a:r>
              <a:rPr kumimoji="0" lang="en-US" sz="2200" b="0" i="0" strike="noStrike" kern="0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Arial"/>
                <a:cs typeface="Arial"/>
              </a:rPr>
              <a:t> Bode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FD8C91A-111A-4C4F-BFC2-3453EFB03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57267" y="2798306"/>
            <a:ext cx="5354637" cy="914400"/>
          </a:xfrm>
        </p:spPr>
        <p:txBody>
          <a:bodyPr/>
          <a:lstStyle/>
          <a:p>
            <a:r>
              <a:rPr lang="en-US" dirty="0"/>
              <a:t>Seminar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BD941A-3517-4882-A9A8-CFCB4AE4410B}"/>
              </a:ext>
            </a:extLst>
          </p:cNvPr>
          <p:cNvSpPr txBox="1"/>
          <p:nvPr/>
        </p:nvSpPr>
        <p:spPr>
          <a:xfrm>
            <a:off x="4736892" y="5963170"/>
            <a:ext cx="44026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Aachen, 2026-07-22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Congestion Control and why do we need it?</a:t>
            </a:r>
          </a:p>
          <a:p>
            <a:pPr lvl="1"/>
            <a:r>
              <a:rPr lang="en-US" dirty="0"/>
              <a:t>Avoids congestion</a:t>
            </a:r>
          </a:p>
          <a:p>
            <a:pPr lvl="1"/>
            <a:r>
              <a:rPr lang="en-US" dirty="0"/>
              <a:t>Improves use of hardware</a:t>
            </a:r>
          </a:p>
          <a:p>
            <a:pPr lvl="1"/>
            <a:r>
              <a:rPr lang="en-US" dirty="0"/>
              <a:t>Lower latency, packets loss and higher throughput</a:t>
            </a:r>
          </a:p>
          <a:p>
            <a:r>
              <a:rPr lang="en-US" dirty="0"/>
              <a:t>Why not just increase capabilities of the hardware?</a:t>
            </a:r>
          </a:p>
          <a:p>
            <a:pPr lvl="1"/>
            <a:r>
              <a:rPr lang="en-US" dirty="0"/>
              <a:t>An increase needs to happen for all of the hardware in the same amount:</a:t>
            </a:r>
          </a:p>
          <a:p>
            <a:pPr lvl="2"/>
            <a:r>
              <a:rPr lang="en-US" dirty="0"/>
              <a:t>CPU speed</a:t>
            </a:r>
          </a:p>
          <a:p>
            <a:pPr lvl="2"/>
            <a:r>
              <a:rPr lang="en-US" dirty="0"/>
              <a:t>Bandwidth of connection</a:t>
            </a:r>
          </a:p>
          <a:p>
            <a:pPr lvl="2"/>
            <a:r>
              <a:rPr lang="en-US" dirty="0"/>
              <a:t>Memory/Depth of waiting queue</a:t>
            </a:r>
          </a:p>
          <a:p>
            <a:pPr lvl="1"/>
            <a:r>
              <a:rPr lang="en-US" dirty="0"/>
              <a:t>Instead try to fit the hardware perfectly to have the best use of its capabilities</a:t>
            </a:r>
          </a:p>
        </p:txBody>
      </p:sp>
    </p:spTree>
    <p:extLst>
      <p:ext uri="{BB962C8B-B14F-4D97-AF65-F5344CB8AC3E}">
        <p14:creationId xmlns:p14="http://schemas.microsoft.com/office/powerpoint/2010/main" val="11455549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 of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is the Goal of a Congestion Control Algorithm?</a:t>
            </a:r>
          </a:p>
          <a:p>
            <a:pPr lvl="1"/>
            <a:r>
              <a:rPr lang="en-US" dirty="0"/>
              <a:t>Goal: Point A:</a:t>
            </a:r>
          </a:p>
          <a:p>
            <a:pPr lvl="2"/>
            <a:r>
              <a:rPr lang="en-US" dirty="0"/>
              <a:t>Highest possible throughput while no unnecessary delay and packet loss</a:t>
            </a:r>
          </a:p>
          <a:p>
            <a:pPr lvl="1"/>
            <a:endParaRPr lang="en-US" dirty="0"/>
          </a:p>
        </p:txBody>
      </p:sp>
      <p:pic>
        <p:nvPicPr>
          <p:cNvPr id="46" name="Grafik 45">
            <a:extLst>
              <a:ext uri="{FF2B5EF4-FFF2-40B4-BE49-F238E27FC236}">
                <a16:creationId xmlns:a16="http://schemas.microsoft.com/office/drawing/2014/main" id="{4673A040-B3B4-4D72-8976-6FF3BFBF8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640" y="2133600"/>
            <a:ext cx="8019808" cy="393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0512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TCP Cubic</a:t>
            </a:r>
          </a:p>
          <a:p>
            <a:pPr lvl="1"/>
            <a:r>
              <a:rPr lang="en-US" dirty="0"/>
              <a:t>Starts with Cubically increase of congestion window</a:t>
            </a:r>
          </a:p>
          <a:p>
            <a:pPr lvl="2"/>
            <a:r>
              <a:rPr lang="en-US" dirty="0"/>
              <a:t>Amount of packets transmitted in a certain window</a:t>
            </a:r>
          </a:p>
          <a:p>
            <a:pPr lvl="1"/>
            <a:r>
              <a:rPr lang="en-US" dirty="0"/>
              <a:t>If packet loss occurs(Point B), then decrease congestion window</a:t>
            </a:r>
          </a:p>
          <a:p>
            <a:pPr marL="457200" lvl="1" indent="0">
              <a:buNone/>
            </a:pPr>
            <a:r>
              <a:rPr lang="en-US" dirty="0"/>
              <a:t>	Else increase slowly congestion window</a:t>
            </a:r>
          </a:p>
          <a:p>
            <a:r>
              <a:rPr lang="en-US" dirty="0"/>
              <a:t>TCP Vegas</a:t>
            </a:r>
          </a:p>
          <a:p>
            <a:pPr lvl="1"/>
            <a:r>
              <a:rPr lang="en-US" dirty="0"/>
              <a:t>Increases congestion window only every RTT</a:t>
            </a:r>
          </a:p>
          <a:p>
            <a:pPr lvl="1"/>
            <a:r>
              <a:rPr lang="en-US" dirty="0"/>
              <a:t>Compares earlier RTT to current RTT</a:t>
            </a:r>
          </a:p>
          <a:p>
            <a:pPr lvl="2"/>
            <a:r>
              <a:rPr lang="en-US" dirty="0"/>
              <a:t>If RTT is longer, make window smaller else increase</a:t>
            </a:r>
          </a:p>
          <a:p>
            <a:r>
              <a:rPr lang="en-US" dirty="0"/>
              <a:t>Jain’s Fairness Index:</a:t>
            </a:r>
          </a:p>
          <a:p>
            <a:pPr lvl="1"/>
            <a:r>
              <a:rPr lang="en-US" dirty="0"/>
              <a:t>Value that shows how fair one flow to the others is</a:t>
            </a:r>
          </a:p>
          <a:p>
            <a:pPr lvl="1"/>
            <a:r>
              <a:rPr lang="en-US" dirty="0"/>
              <a:t>If value equals 1, then all flows get same share of the network capabilities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13906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en-US" dirty="0"/>
              <a:t>Bottleneck Bandwidth and Round-Trip Propagation Time(BBR)</a:t>
            </a:r>
          </a:p>
          <a:p>
            <a:pPr lvl="1"/>
            <a:r>
              <a:rPr lang="en-US" dirty="0"/>
              <a:t>Startup phase:</a:t>
            </a:r>
          </a:p>
          <a:p>
            <a:pPr lvl="2"/>
            <a:r>
              <a:rPr lang="en-US" dirty="0"/>
              <a:t>Rapidly increasing of sending rate till delivery rate stops increasing</a:t>
            </a:r>
          </a:p>
          <a:p>
            <a:pPr lvl="3"/>
            <a:r>
              <a:rPr lang="en-US" dirty="0"/>
              <a:t>Point A</a:t>
            </a:r>
          </a:p>
          <a:p>
            <a:pPr lvl="1"/>
            <a:r>
              <a:rPr lang="en-US" dirty="0" err="1"/>
              <a:t>ProbeBW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Try to find out if Bandwidth increased or not</a:t>
            </a:r>
          </a:p>
          <a:p>
            <a:pPr lvl="2"/>
            <a:r>
              <a:rPr lang="en-US" dirty="0"/>
              <a:t>Increase sending rate to 1.25 then reduce to 0.75 to empty queue</a:t>
            </a:r>
          </a:p>
          <a:p>
            <a:pPr lvl="1"/>
            <a:r>
              <a:rPr lang="en-US" dirty="0" err="1"/>
              <a:t>ProbeRTT</a:t>
            </a:r>
            <a:endParaRPr lang="en-US" dirty="0"/>
          </a:p>
          <a:p>
            <a:pPr lvl="2"/>
            <a:r>
              <a:rPr lang="en-US" dirty="0"/>
              <a:t>Find lowest RTT</a:t>
            </a:r>
          </a:p>
          <a:p>
            <a:pPr lvl="2"/>
            <a:r>
              <a:rPr lang="en-US" dirty="0"/>
              <a:t>Empty queue by drastically reducing sending rate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501407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Active Queue </a:t>
            </a:r>
            <a:r>
              <a:rPr lang="fr-FR" dirty="0" err="1"/>
              <a:t>Debt</a:t>
            </a:r>
            <a:r>
              <a:rPr lang="fr-FR" dirty="0"/>
              <a:t> Compensation (AQDC) BBR</a:t>
            </a:r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BBR </a:t>
            </a:r>
            <a:r>
              <a:rPr lang="fr-FR" dirty="0" err="1"/>
              <a:t>may</a:t>
            </a:r>
            <a:r>
              <a:rPr lang="fr-FR" dirty="0"/>
              <a:t> not drain queue </a:t>
            </a:r>
            <a:r>
              <a:rPr lang="fr-FR" dirty="0" err="1"/>
              <a:t>before</a:t>
            </a:r>
            <a:r>
              <a:rPr lang="fr-FR" dirty="0"/>
              <a:t> </a:t>
            </a:r>
            <a:r>
              <a:rPr lang="fr-FR" dirty="0" err="1"/>
              <a:t>ProbeRTT</a:t>
            </a:r>
            <a:endParaRPr lang="fr-FR" dirty="0"/>
          </a:p>
          <a:p>
            <a:pPr lvl="1"/>
            <a:r>
              <a:rPr lang="fr-FR" dirty="0"/>
              <a:t>To solve </a:t>
            </a:r>
            <a:r>
              <a:rPr lang="fr-FR" dirty="0" err="1"/>
              <a:t>this</a:t>
            </a:r>
            <a:r>
              <a:rPr lang="fr-FR" dirty="0"/>
              <a:t> AQDC trackes the </a:t>
            </a:r>
            <a:r>
              <a:rPr lang="fr-FR" dirty="0" err="1"/>
              <a:t>debt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the queue</a:t>
            </a:r>
          </a:p>
          <a:p>
            <a:r>
              <a:rPr lang="fr-FR" dirty="0"/>
              <a:t>BBR-</a:t>
            </a:r>
            <a:r>
              <a:rPr lang="fr-FR" dirty="0" err="1"/>
              <a:t>Extendend</a:t>
            </a:r>
            <a:r>
              <a:rPr lang="fr-FR" dirty="0"/>
              <a:t> State (BBR-ES)</a:t>
            </a:r>
          </a:p>
          <a:p>
            <a:pPr lvl="1"/>
            <a:r>
              <a:rPr lang="fr-FR" dirty="0" err="1"/>
              <a:t>Creates</a:t>
            </a:r>
            <a:r>
              <a:rPr lang="fr-FR" dirty="0"/>
              <a:t> new phase </a:t>
            </a:r>
            <a:r>
              <a:rPr lang="fr-FR" dirty="0" err="1"/>
              <a:t>between</a:t>
            </a:r>
            <a:r>
              <a:rPr lang="fr-FR" dirty="0"/>
              <a:t> </a:t>
            </a:r>
            <a:r>
              <a:rPr lang="fr-FR" dirty="0" err="1"/>
              <a:t>ProbeRTT</a:t>
            </a:r>
            <a:r>
              <a:rPr lang="fr-FR" dirty="0"/>
              <a:t> and </a:t>
            </a:r>
            <a:r>
              <a:rPr lang="fr-FR" dirty="0" err="1"/>
              <a:t>ProbeBW</a:t>
            </a:r>
            <a:endParaRPr lang="fr-FR" dirty="0"/>
          </a:p>
          <a:p>
            <a:pPr lvl="1"/>
            <a:r>
              <a:rPr lang="fr-FR" dirty="0"/>
              <a:t>Goal </a:t>
            </a:r>
            <a:r>
              <a:rPr lang="fr-FR" dirty="0" err="1"/>
              <a:t>is</a:t>
            </a:r>
            <a:r>
              <a:rPr lang="fr-FR" dirty="0"/>
              <a:t> to drain the queue</a:t>
            </a:r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79606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2 modes:</a:t>
            </a:r>
          </a:p>
          <a:p>
            <a:pPr lvl="2"/>
            <a:r>
              <a:rPr lang="fr-FR" dirty="0"/>
              <a:t>Default mode: </a:t>
            </a:r>
            <a:r>
              <a:rPr lang="fr-FR" dirty="0" err="1"/>
              <a:t>try</a:t>
            </a:r>
            <a:r>
              <a:rPr lang="fr-FR" dirty="0"/>
              <a:t> to </a:t>
            </a:r>
            <a:r>
              <a:rPr lang="fr-FR" dirty="0" err="1"/>
              <a:t>maximize</a:t>
            </a:r>
            <a:r>
              <a:rPr lang="fr-FR" dirty="0"/>
              <a:t> Utility </a:t>
            </a:r>
            <a:r>
              <a:rPr lang="fr-FR" dirty="0" err="1"/>
              <a:t>function</a:t>
            </a:r>
            <a:endParaRPr lang="fr-FR" dirty="0"/>
          </a:p>
          <a:p>
            <a:pPr lvl="2"/>
            <a:r>
              <a:rPr lang="fr-FR" dirty="0" err="1"/>
              <a:t>Competetive</a:t>
            </a:r>
            <a:r>
              <a:rPr lang="fr-FR" dirty="0"/>
              <a:t> mode: To </a:t>
            </a:r>
            <a:r>
              <a:rPr lang="fr-FR" dirty="0" err="1"/>
              <a:t>compete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buffer </a:t>
            </a:r>
            <a:r>
              <a:rPr lang="fr-FR" dirty="0" err="1"/>
              <a:t>filling</a:t>
            </a:r>
            <a:r>
              <a:rPr lang="fr-FR" dirty="0"/>
              <a:t> flows</a:t>
            </a:r>
          </a:p>
          <a:p>
            <a:pPr lvl="3"/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activated</a:t>
            </a:r>
            <a:r>
              <a:rPr lang="fr-FR" dirty="0"/>
              <a:t> if </a:t>
            </a:r>
            <a:r>
              <a:rPr lang="fr-FR" dirty="0" err="1"/>
              <a:t>there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flow</a:t>
            </a:r>
          </a:p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unnecessarily</a:t>
            </a:r>
            <a:r>
              <a:rPr lang="fr-FR" dirty="0"/>
              <a:t> </a:t>
            </a:r>
            <a:r>
              <a:rPr lang="fr-FR" dirty="0" err="1"/>
              <a:t>activated</a:t>
            </a:r>
            <a:endParaRPr lang="fr-FR" dirty="0"/>
          </a:p>
          <a:p>
            <a:pPr lvl="1"/>
            <a:r>
              <a:rPr lang="fr-FR" dirty="0" err="1"/>
              <a:t>Introduces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for </a:t>
            </a:r>
            <a:r>
              <a:rPr lang="fr-FR" dirty="0" err="1"/>
              <a:t>function</a:t>
            </a:r>
            <a:r>
              <a:rPr lang="fr-FR" dirty="0"/>
              <a:t> to </a:t>
            </a:r>
            <a:r>
              <a:rPr lang="fr-FR" dirty="0" err="1"/>
              <a:t>stay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in default mode</a:t>
            </a:r>
          </a:p>
          <a:p>
            <a:r>
              <a:rPr lang="fr-FR" dirty="0" err="1"/>
              <a:t>Copa</a:t>
            </a:r>
            <a:r>
              <a:rPr lang="fr-FR" dirty="0"/>
              <a:t> Dynamic (</a:t>
            </a:r>
            <a:r>
              <a:rPr lang="fr-FR" dirty="0" err="1"/>
              <a:t>Copa</a:t>
            </a:r>
            <a:r>
              <a:rPr lang="fr-FR" dirty="0"/>
              <a:t>-D)</a:t>
            </a:r>
          </a:p>
          <a:p>
            <a:pPr lvl="1"/>
            <a:r>
              <a:rPr lang="fr-FR" dirty="0" err="1"/>
              <a:t>Instead</a:t>
            </a:r>
            <a:r>
              <a:rPr lang="fr-FR" dirty="0"/>
              <a:t> of </a:t>
            </a:r>
            <a:r>
              <a:rPr lang="fr-FR" dirty="0" err="1"/>
              <a:t>introducing</a:t>
            </a:r>
            <a:r>
              <a:rPr lang="fr-FR" dirty="0"/>
              <a:t> new </a:t>
            </a:r>
            <a:r>
              <a:rPr lang="fr-FR" dirty="0" err="1"/>
              <a:t>parameter</a:t>
            </a:r>
            <a:r>
              <a:rPr lang="fr-FR" dirty="0"/>
              <a:t> change the </a:t>
            </a:r>
            <a:r>
              <a:rPr lang="fr-FR" dirty="0" err="1"/>
              <a:t>problematic</a:t>
            </a:r>
            <a:r>
              <a:rPr lang="fr-FR" dirty="0"/>
              <a:t> </a:t>
            </a:r>
            <a:r>
              <a:rPr lang="fr-FR" dirty="0" err="1"/>
              <a:t>parameter</a:t>
            </a:r>
            <a:r>
              <a:rPr lang="fr-FR" dirty="0"/>
              <a:t> and </a:t>
            </a:r>
            <a:r>
              <a:rPr lang="fr-FR" dirty="0" err="1"/>
              <a:t>make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more </a:t>
            </a:r>
            <a:r>
              <a:rPr lang="fr-FR" dirty="0" err="1"/>
              <a:t>dynamically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8385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Performance Congestion Control (PCC)</a:t>
            </a:r>
          </a:p>
          <a:p>
            <a:pPr lvl="1"/>
            <a:r>
              <a:rPr lang="fr-FR" dirty="0" err="1"/>
              <a:t>Takes</a:t>
            </a:r>
            <a:r>
              <a:rPr lang="fr-FR" dirty="0"/>
              <a:t> all information 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gets</a:t>
            </a:r>
            <a:r>
              <a:rPr lang="fr-FR" dirty="0"/>
              <a:t> (RTT, </a:t>
            </a:r>
            <a:r>
              <a:rPr lang="fr-FR" dirty="0" err="1"/>
              <a:t>Bandwidth</a:t>
            </a:r>
            <a:r>
              <a:rPr lang="fr-FR" dirty="0"/>
              <a:t>, </a:t>
            </a:r>
            <a:r>
              <a:rPr lang="fr-FR" dirty="0" err="1"/>
              <a:t>latency</a:t>
            </a:r>
            <a:r>
              <a:rPr lang="fr-FR" dirty="0"/>
              <a:t> etc.) to </a:t>
            </a:r>
            <a:r>
              <a:rPr lang="fr-FR" dirty="0" err="1"/>
              <a:t>calculate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 for </a:t>
            </a:r>
            <a:r>
              <a:rPr lang="fr-FR" dirty="0" err="1"/>
              <a:t>calculation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based</a:t>
            </a:r>
            <a:r>
              <a:rPr lang="fr-FR" dirty="0"/>
              <a:t> on Game Theory</a:t>
            </a:r>
          </a:p>
          <a:p>
            <a:pPr lvl="2"/>
            <a:r>
              <a:rPr lang="fr-FR" dirty="0" err="1"/>
              <a:t>Highly</a:t>
            </a:r>
            <a:r>
              <a:rPr lang="fr-FR" dirty="0"/>
              <a:t> </a:t>
            </a:r>
            <a:r>
              <a:rPr lang="fr-FR" dirty="0" err="1"/>
              <a:t>complex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Core</a:t>
            </a:r>
            <a:r>
              <a:rPr lang="fr-FR" dirty="0"/>
              <a:t> </a:t>
            </a:r>
            <a:r>
              <a:rPr lang="fr-FR" dirty="0" err="1"/>
              <a:t>Idea</a:t>
            </a:r>
            <a:r>
              <a:rPr lang="fr-FR" dirty="0"/>
              <a:t>: Switches and </a:t>
            </a:r>
            <a:r>
              <a:rPr lang="fr-FR" dirty="0" err="1"/>
              <a:t>routers</a:t>
            </a:r>
            <a:r>
              <a:rPr lang="fr-FR" dirty="0"/>
              <a:t> of network </a:t>
            </a:r>
            <a:r>
              <a:rPr lang="fr-FR" dirty="0" err="1"/>
              <a:t>now</a:t>
            </a:r>
            <a:r>
              <a:rPr lang="fr-FR" dirty="0"/>
              <a:t> </a:t>
            </a:r>
            <a:r>
              <a:rPr lang="fr-FR" dirty="0" err="1"/>
              <a:t>current</a:t>
            </a:r>
            <a:r>
              <a:rPr lang="fr-FR" dirty="0"/>
              <a:t> use of network</a:t>
            </a:r>
          </a:p>
          <a:p>
            <a:pPr lvl="2"/>
            <a:r>
              <a:rPr lang="fr-FR" dirty="0"/>
              <a:t>Use In-Band Network </a:t>
            </a:r>
            <a:r>
              <a:rPr lang="fr-FR" dirty="0" err="1"/>
              <a:t>Telemetry</a:t>
            </a:r>
            <a:r>
              <a:rPr lang="fr-FR" dirty="0"/>
              <a:t> (INT) information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Approaches for Congestion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Christians</a:t>
            </a:r>
            <a:r>
              <a:rPr lang="fr-FR" dirty="0"/>
              <a:t> Congestion Control Code (C4)</a:t>
            </a:r>
          </a:p>
          <a:p>
            <a:pPr lvl="1"/>
            <a:r>
              <a:rPr lang="fr-FR" dirty="0"/>
              <a:t>4 </a:t>
            </a:r>
            <a:r>
              <a:rPr lang="fr-FR" dirty="0" err="1"/>
              <a:t>different</a:t>
            </a:r>
            <a:r>
              <a:rPr lang="fr-FR" dirty="0"/>
              <a:t> states:</a:t>
            </a:r>
          </a:p>
          <a:p>
            <a:pPr lvl="2"/>
            <a:r>
              <a:rPr lang="fr-FR" dirty="0"/>
              <a:t>Start phase</a:t>
            </a:r>
          </a:p>
          <a:p>
            <a:pPr lvl="3"/>
            <a:r>
              <a:rPr lang="fr-FR" dirty="0"/>
              <a:t>start and </a:t>
            </a:r>
            <a:r>
              <a:rPr lang="fr-FR" dirty="0" err="1"/>
              <a:t>find</a:t>
            </a:r>
            <a:r>
              <a:rPr lang="fr-FR" dirty="0"/>
              <a:t> </a:t>
            </a:r>
            <a:r>
              <a:rPr lang="fr-FR" dirty="0" err="1"/>
              <a:t>bottleneck’s</a:t>
            </a:r>
            <a:r>
              <a:rPr lang="fr-FR" dirty="0"/>
              <a:t> </a:t>
            </a:r>
            <a:r>
              <a:rPr lang="fr-FR" dirty="0" err="1"/>
              <a:t>bandwidth</a:t>
            </a:r>
            <a:endParaRPr lang="fr-FR" dirty="0"/>
          </a:p>
          <a:p>
            <a:pPr lvl="2"/>
            <a:r>
              <a:rPr lang="fr-FR" dirty="0" err="1"/>
              <a:t>Cruising</a:t>
            </a:r>
            <a:r>
              <a:rPr lang="fr-FR" dirty="0"/>
              <a:t> state </a:t>
            </a:r>
          </a:p>
          <a:p>
            <a:pPr lvl="3"/>
            <a:r>
              <a:rPr lang="fr-FR" dirty="0" err="1"/>
              <a:t>stay</a:t>
            </a:r>
            <a:r>
              <a:rPr lang="fr-FR" dirty="0"/>
              <a:t> at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perfect</a:t>
            </a:r>
            <a:r>
              <a:rPr lang="fr-FR" dirty="0"/>
              <a:t> </a:t>
            </a:r>
            <a:r>
              <a:rPr lang="fr-FR" dirty="0" err="1"/>
              <a:t>sending</a:t>
            </a:r>
            <a:r>
              <a:rPr lang="fr-FR" dirty="0"/>
              <a:t> rate</a:t>
            </a:r>
          </a:p>
          <a:p>
            <a:pPr lvl="2"/>
            <a:r>
              <a:rPr lang="fr-FR" dirty="0" err="1"/>
              <a:t>Probing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Testing</a:t>
            </a:r>
            <a:r>
              <a:rPr lang="fr-FR" dirty="0"/>
              <a:t> the network to </a:t>
            </a:r>
            <a:r>
              <a:rPr lang="fr-FR" dirty="0" err="1"/>
              <a:t>determine</a:t>
            </a:r>
            <a:r>
              <a:rPr lang="fr-FR" dirty="0"/>
              <a:t> if more </a:t>
            </a:r>
            <a:r>
              <a:rPr lang="fr-FR" dirty="0" err="1"/>
              <a:t>is</a:t>
            </a:r>
            <a:r>
              <a:rPr lang="fr-FR" dirty="0"/>
              <a:t> possible</a:t>
            </a:r>
          </a:p>
          <a:p>
            <a:pPr lvl="2"/>
            <a:r>
              <a:rPr lang="fr-FR" dirty="0" err="1"/>
              <a:t>Recovery</a:t>
            </a:r>
            <a:r>
              <a:rPr lang="fr-FR" dirty="0"/>
              <a:t> phase</a:t>
            </a:r>
          </a:p>
          <a:p>
            <a:pPr lvl="3"/>
            <a:r>
              <a:rPr lang="fr-FR" dirty="0" err="1"/>
              <a:t>Recovery</a:t>
            </a:r>
            <a:r>
              <a:rPr lang="fr-FR" dirty="0"/>
              <a:t> the networks </a:t>
            </a:r>
            <a:r>
              <a:rPr lang="fr-FR" dirty="0" err="1"/>
              <a:t>recources</a:t>
            </a:r>
            <a:r>
              <a:rPr lang="fr-FR" dirty="0"/>
              <a:t> </a:t>
            </a:r>
            <a:r>
              <a:rPr lang="fr-FR" dirty="0" err="1"/>
              <a:t>after</a:t>
            </a:r>
            <a:r>
              <a:rPr lang="fr-FR" dirty="0"/>
              <a:t> </a:t>
            </a:r>
            <a:r>
              <a:rPr lang="fr-FR" dirty="0" err="1"/>
              <a:t>probing</a:t>
            </a:r>
            <a:r>
              <a:rPr lang="fr-FR" dirty="0"/>
              <a:t> phase 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177413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r>
              <a:rPr lang="fr-FR" dirty="0"/>
              <a:t>Tries to </a:t>
            </a:r>
            <a:r>
              <a:rPr lang="fr-FR" dirty="0" err="1"/>
              <a:t>be</a:t>
            </a:r>
            <a:r>
              <a:rPr lang="fr-FR" dirty="0"/>
              <a:t> at Point A, but </a:t>
            </a:r>
            <a:r>
              <a:rPr lang="fr-FR" dirty="0" err="1"/>
              <a:t>is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</a:t>
            </a:r>
            <a:r>
              <a:rPr lang="fr-FR" dirty="0" err="1"/>
              <a:t>it</a:t>
            </a:r>
            <a:endParaRPr lang="fr-FR" dirty="0"/>
          </a:p>
          <a:p>
            <a:pPr lvl="2"/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small</a:t>
            </a:r>
            <a:r>
              <a:rPr lang="fr-FR" dirty="0"/>
              <a:t>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less</a:t>
            </a:r>
            <a:r>
              <a:rPr lang="fr-FR" dirty="0"/>
              <a:t> good, </a:t>
            </a:r>
            <a:r>
              <a:rPr lang="fr-FR" dirty="0" err="1"/>
              <a:t>because</a:t>
            </a:r>
            <a:r>
              <a:rPr lang="fr-FR" dirty="0"/>
              <a:t> </a:t>
            </a:r>
            <a:r>
              <a:rPr lang="fr-FR" dirty="0" err="1"/>
              <a:t>its</a:t>
            </a:r>
            <a:r>
              <a:rPr lang="fr-FR" dirty="0"/>
              <a:t> operating Point </a:t>
            </a:r>
            <a:r>
              <a:rPr lang="fr-FR" dirty="0" err="1"/>
              <a:t>could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behind</a:t>
            </a:r>
            <a:r>
              <a:rPr lang="fr-FR" dirty="0"/>
              <a:t> Point B</a:t>
            </a:r>
          </a:p>
          <a:p>
            <a:pPr lvl="2"/>
            <a:r>
              <a:rPr lang="fr-FR" dirty="0" err="1"/>
              <a:t>With</a:t>
            </a:r>
            <a:r>
              <a:rPr lang="fr-FR" dirty="0"/>
              <a:t> large buffers on </a:t>
            </a:r>
            <a:r>
              <a:rPr lang="fr-FR" dirty="0" err="1"/>
              <a:t>bottleneck</a:t>
            </a:r>
            <a:r>
              <a:rPr lang="fr-FR" dirty="0"/>
              <a:t>:</a:t>
            </a:r>
          </a:p>
          <a:p>
            <a:pPr lvl="3"/>
            <a:r>
              <a:rPr lang="fr-FR" dirty="0"/>
              <a:t>BBR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a bit </a:t>
            </a:r>
            <a:r>
              <a:rPr lang="fr-FR" dirty="0" err="1"/>
              <a:t>behind</a:t>
            </a:r>
            <a:r>
              <a:rPr lang="fr-FR" dirty="0"/>
              <a:t> Point A, </a:t>
            </a:r>
            <a:r>
              <a:rPr lang="fr-FR" dirty="0" err="1"/>
              <a:t>therefore</a:t>
            </a:r>
            <a:r>
              <a:rPr lang="fr-FR" dirty="0"/>
              <a:t> </a:t>
            </a:r>
            <a:r>
              <a:rPr lang="fr-FR" dirty="0" err="1"/>
              <a:t>very</a:t>
            </a:r>
            <a:r>
              <a:rPr lang="fr-FR" dirty="0"/>
              <a:t> good</a:t>
            </a:r>
          </a:p>
          <a:p>
            <a:r>
              <a:rPr lang="fr-FR" dirty="0"/>
              <a:t>AQDC BBR</a:t>
            </a:r>
          </a:p>
          <a:p>
            <a:pPr lvl="1"/>
            <a:r>
              <a:rPr lang="fr-FR" dirty="0"/>
              <a:t>Is more </a:t>
            </a:r>
            <a:r>
              <a:rPr lang="fr-FR" dirty="0" err="1"/>
              <a:t>near</a:t>
            </a:r>
            <a:r>
              <a:rPr lang="fr-FR" dirty="0"/>
              <a:t> Operating Point A </a:t>
            </a:r>
            <a:r>
              <a:rPr lang="fr-FR" dirty="0" err="1"/>
              <a:t>than</a:t>
            </a:r>
            <a:r>
              <a:rPr lang="fr-FR" dirty="0"/>
              <a:t> standard BBR</a:t>
            </a:r>
          </a:p>
          <a:p>
            <a:r>
              <a:rPr lang="fr-FR" dirty="0"/>
              <a:t>BBR-ES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Jains </a:t>
            </a:r>
            <a:r>
              <a:rPr lang="fr-FR" dirty="0" err="1"/>
              <a:t>Fairness</a:t>
            </a:r>
            <a:r>
              <a:rPr lang="fr-FR" dirty="0"/>
              <a:t> Index (</a:t>
            </a:r>
            <a:r>
              <a:rPr lang="fr-FR" dirty="0" err="1"/>
              <a:t>often</a:t>
            </a:r>
            <a:r>
              <a:rPr lang="fr-FR" dirty="0"/>
              <a:t> </a:t>
            </a:r>
            <a:r>
              <a:rPr lang="fr-FR" dirty="0" err="1"/>
              <a:t>above</a:t>
            </a:r>
            <a:r>
              <a:rPr lang="fr-FR" dirty="0"/>
              <a:t> 0.9)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02175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 err="1"/>
              <a:t>Copa</a:t>
            </a:r>
            <a:endParaRPr lang="fr-FR" dirty="0"/>
          </a:p>
          <a:p>
            <a:pPr lvl="1"/>
            <a:r>
              <a:rPr lang="fr-FR" dirty="0"/>
              <a:t>Not </a:t>
            </a:r>
            <a:r>
              <a:rPr lang="fr-FR" dirty="0" err="1"/>
              <a:t>complex</a:t>
            </a:r>
            <a:r>
              <a:rPr lang="fr-FR" dirty="0"/>
              <a:t> to </a:t>
            </a:r>
            <a:r>
              <a:rPr lang="fr-FR" dirty="0" err="1"/>
              <a:t>understand</a:t>
            </a:r>
            <a:r>
              <a:rPr lang="fr-FR" dirty="0"/>
              <a:t> (</a:t>
            </a:r>
            <a:r>
              <a:rPr lang="fr-FR" dirty="0" err="1"/>
              <a:t>compared</a:t>
            </a:r>
            <a:r>
              <a:rPr lang="fr-FR" dirty="0"/>
              <a:t> to PCC)</a:t>
            </a:r>
          </a:p>
          <a:p>
            <a:pPr lvl="1"/>
            <a:r>
              <a:rPr lang="fr-FR" dirty="0" err="1"/>
              <a:t>Copa</a:t>
            </a:r>
            <a:r>
              <a:rPr lang="fr-FR" dirty="0"/>
              <a:t> default (</a:t>
            </a:r>
            <a:r>
              <a:rPr lang="fr-FR" dirty="0" err="1"/>
              <a:t>Copa</a:t>
            </a:r>
            <a:r>
              <a:rPr lang="fr-FR" dirty="0"/>
              <a:t> D)</a:t>
            </a:r>
          </a:p>
          <a:p>
            <a:pPr lvl="2"/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deactivated</a:t>
            </a:r>
            <a:endParaRPr lang="fr-FR" dirty="0"/>
          </a:p>
          <a:p>
            <a:pPr lvl="2"/>
            <a:r>
              <a:rPr lang="fr-FR" dirty="0"/>
              <a:t>On Ideal line -&gt;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perfect</a:t>
            </a:r>
            <a:endParaRPr lang="fr-FR" dirty="0"/>
          </a:p>
          <a:p>
            <a:pPr lvl="1"/>
            <a:r>
              <a:rPr lang="fr-FR" dirty="0" err="1"/>
              <a:t>Copa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Competetive</a:t>
            </a:r>
            <a:r>
              <a:rPr lang="fr-FR" dirty="0"/>
              <a:t> mode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perfect</a:t>
            </a:r>
            <a:endParaRPr lang="fr-FR" dirty="0"/>
          </a:p>
          <a:p>
            <a:r>
              <a:rPr lang="fr-FR" dirty="0" err="1"/>
              <a:t>Copa</a:t>
            </a:r>
            <a:r>
              <a:rPr lang="fr-FR" dirty="0"/>
              <a:t>+</a:t>
            </a:r>
          </a:p>
          <a:p>
            <a:pPr lvl="1"/>
            <a:r>
              <a:rPr lang="fr-FR" dirty="0" err="1"/>
              <a:t>Better</a:t>
            </a:r>
            <a:r>
              <a:rPr lang="fr-FR" dirty="0"/>
              <a:t> control on mode </a:t>
            </a:r>
            <a:r>
              <a:rPr lang="fr-FR" dirty="0" err="1"/>
              <a:t>switching</a:t>
            </a:r>
            <a:r>
              <a:rPr lang="fr-FR" dirty="0"/>
              <a:t> -&gt; </a:t>
            </a:r>
            <a:r>
              <a:rPr lang="fr-FR" dirty="0" err="1"/>
              <a:t>vealues</a:t>
            </a:r>
            <a:r>
              <a:rPr lang="fr-FR" dirty="0"/>
              <a:t> </a:t>
            </a:r>
            <a:r>
              <a:rPr lang="fr-FR" dirty="0" err="1"/>
              <a:t>near</a:t>
            </a:r>
            <a:r>
              <a:rPr lang="fr-FR" dirty="0"/>
              <a:t> </a:t>
            </a:r>
            <a:r>
              <a:rPr lang="fr-FR" dirty="0" err="1"/>
              <a:t>Copa</a:t>
            </a:r>
            <a:r>
              <a:rPr lang="fr-FR" dirty="0"/>
              <a:t> default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8427315-C1BB-4A07-A39A-3C3A74CA32B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52"/>
          <a:stretch/>
        </p:blipFill>
        <p:spPr>
          <a:xfrm>
            <a:off x="4596725" y="891487"/>
            <a:ext cx="4339470" cy="315289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r>
              <a:rPr lang="fr-FR" kern="0" dirty="0" err="1"/>
              <a:t>Copa</a:t>
            </a:r>
            <a:r>
              <a:rPr lang="fr-FR" kern="0" dirty="0"/>
              <a:t> Dynamic (</a:t>
            </a:r>
            <a:r>
              <a:rPr lang="fr-FR" kern="0" dirty="0" err="1"/>
              <a:t>Copa</a:t>
            </a:r>
            <a:r>
              <a:rPr lang="fr-FR" kern="0" dirty="0"/>
              <a:t> D)</a:t>
            </a:r>
          </a:p>
          <a:p>
            <a:pPr lvl="1"/>
            <a:r>
              <a:rPr lang="fr-FR" kern="0" dirty="0" err="1"/>
              <a:t>Lower</a:t>
            </a:r>
            <a:r>
              <a:rPr lang="fr-FR" kern="0" dirty="0"/>
              <a:t> RTT </a:t>
            </a:r>
            <a:r>
              <a:rPr lang="fr-FR" kern="0" dirty="0" err="1"/>
              <a:t>than</a:t>
            </a:r>
            <a:r>
              <a:rPr lang="fr-FR" kern="0" dirty="0"/>
              <a:t> </a:t>
            </a:r>
            <a:r>
              <a:rPr lang="fr-FR" kern="0" dirty="0" err="1"/>
              <a:t>Copa</a:t>
            </a:r>
            <a:endParaRPr lang="fr-FR" kern="0" dirty="0"/>
          </a:p>
          <a:p>
            <a:pPr lvl="1"/>
            <a:r>
              <a:rPr lang="fr-FR" kern="0" dirty="0" err="1"/>
              <a:t>When</a:t>
            </a:r>
            <a:r>
              <a:rPr lang="fr-FR" kern="0" dirty="0"/>
              <a:t> </a:t>
            </a:r>
            <a:r>
              <a:rPr lang="fr-FR" kern="0" dirty="0" err="1"/>
              <a:t>bandwidth</a:t>
            </a:r>
            <a:r>
              <a:rPr lang="fr-FR" kern="0" dirty="0"/>
              <a:t> changes, </a:t>
            </a:r>
            <a:r>
              <a:rPr lang="fr-FR" kern="0" dirty="0" err="1"/>
              <a:t>Copa</a:t>
            </a:r>
            <a:r>
              <a:rPr lang="fr-FR" kern="0" dirty="0"/>
              <a:t> D starts to </a:t>
            </a:r>
            <a:r>
              <a:rPr lang="fr-FR" kern="0" dirty="0" err="1"/>
              <a:t>oscillate</a:t>
            </a:r>
            <a:r>
              <a:rPr lang="fr-FR" kern="0" dirty="0"/>
              <a:t> </a:t>
            </a:r>
            <a:r>
              <a:rPr lang="fr-FR" kern="0" dirty="0" err="1"/>
              <a:t>around</a:t>
            </a:r>
            <a:r>
              <a:rPr lang="fr-FR" kern="0" dirty="0"/>
              <a:t> </a:t>
            </a:r>
            <a:r>
              <a:rPr lang="fr-FR" kern="0" dirty="0" err="1"/>
              <a:t>ideal</a:t>
            </a:r>
            <a:r>
              <a:rPr lang="fr-FR" kern="0" dirty="0"/>
              <a:t> line</a:t>
            </a:r>
          </a:p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</p:spTree>
    <p:extLst>
      <p:ext uri="{BB962C8B-B14F-4D97-AF65-F5344CB8AC3E}">
        <p14:creationId xmlns:p14="http://schemas.microsoft.com/office/powerpoint/2010/main" val="324829149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6" y="891487"/>
            <a:ext cx="4886708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r>
              <a:rPr lang="fr-FR" dirty="0"/>
              <a:t>Good </a:t>
            </a:r>
            <a:r>
              <a:rPr lang="fr-FR" dirty="0" err="1"/>
              <a:t>improvements</a:t>
            </a:r>
            <a:r>
              <a:rPr lang="fr-FR" dirty="0"/>
              <a:t> to TCP </a:t>
            </a:r>
            <a:r>
              <a:rPr lang="fr-FR" dirty="0" err="1"/>
              <a:t>Cubic</a:t>
            </a:r>
            <a:endParaRPr lang="fr-FR" dirty="0"/>
          </a:p>
          <a:p>
            <a:pPr lvl="1"/>
            <a:r>
              <a:rPr lang="fr-FR" dirty="0" err="1"/>
              <a:t>Nearly</a:t>
            </a:r>
            <a:r>
              <a:rPr lang="fr-FR" dirty="0"/>
              <a:t> </a:t>
            </a:r>
            <a:r>
              <a:rPr lang="fr-FR" dirty="0" err="1"/>
              <a:t>ideal</a:t>
            </a:r>
            <a:endParaRPr lang="fr-FR" dirty="0"/>
          </a:p>
          <a:p>
            <a:r>
              <a:rPr lang="fr-FR" dirty="0" err="1"/>
              <a:t>PowerTCP</a:t>
            </a:r>
            <a:endParaRPr lang="fr-FR" dirty="0"/>
          </a:p>
          <a:p>
            <a:pPr lvl="1"/>
            <a:r>
              <a:rPr lang="fr-FR" dirty="0" err="1"/>
              <a:t>very</a:t>
            </a:r>
            <a:r>
              <a:rPr lang="fr-FR" dirty="0"/>
              <a:t> good </a:t>
            </a:r>
            <a:r>
              <a:rPr lang="fr-FR" dirty="0" err="1"/>
              <a:t>reaction</a:t>
            </a:r>
            <a:r>
              <a:rPr lang="fr-FR" dirty="0"/>
              <a:t> to network changes</a:t>
            </a:r>
          </a:p>
          <a:p>
            <a:pPr lvl="1"/>
            <a:r>
              <a:rPr lang="fr-FR" dirty="0"/>
              <a:t>Close to Point A</a:t>
            </a:r>
          </a:p>
          <a:p>
            <a:pPr lvl="1"/>
            <a:r>
              <a:rPr lang="fr-FR" dirty="0" err="1"/>
              <a:t>Only</a:t>
            </a:r>
            <a:r>
              <a:rPr lang="fr-FR" dirty="0"/>
              <a:t> </a:t>
            </a:r>
            <a:r>
              <a:rPr lang="fr-FR" dirty="0" err="1"/>
              <a:t>useful</a:t>
            </a:r>
            <a:r>
              <a:rPr lang="fr-FR" dirty="0"/>
              <a:t> in </a:t>
            </a:r>
            <a:r>
              <a:rPr lang="fr-FR" dirty="0" err="1"/>
              <a:t>special</a:t>
            </a:r>
            <a:r>
              <a:rPr lang="fr-FR" dirty="0"/>
              <a:t> network (data centers)</a:t>
            </a:r>
          </a:p>
          <a:p>
            <a:r>
              <a:rPr lang="fr-FR" dirty="0"/>
              <a:t>C4</a:t>
            </a:r>
          </a:p>
          <a:p>
            <a:pPr lvl="1"/>
            <a:r>
              <a:rPr lang="fr-FR" dirty="0" err="1"/>
              <a:t>Proved</a:t>
            </a:r>
            <a:r>
              <a:rPr lang="fr-FR" dirty="0"/>
              <a:t> 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better</a:t>
            </a:r>
            <a:r>
              <a:rPr lang="fr-FR" dirty="0"/>
              <a:t> in Wifi networks </a:t>
            </a:r>
            <a:r>
              <a:rPr lang="fr-FR" dirty="0" err="1"/>
              <a:t>than</a:t>
            </a:r>
            <a:r>
              <a:rPr lang="fr-FR" dirty="0"/>
              <a:t> BBR, TCP </a:t>
            </a:r>
            <a:r>
              <a:rPr lang="fr-FR" dirty="0" err="1"/>
              <a:t>Cubic</a:t>
            </a:r>
            <a:endParaRPr lang="fr-FR" dirty="0"/>
          </a:p>
          <a:p>
            <a:endParaRPr lang="fr-FR" dirty="0"/>
          </a:p>
          <a:p>
            <a:pPr lvl="2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48EC1AF-E05C-496D-8649-FA40CB471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307"/>
          <a:stretch/>
        </p:blipFill>
        <p:spPr>
          <a:xfrm>
            <a:off x="5094514" y="1167357"/>
            <a:ext cx="4039961" cy="164625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2FF6ACB-96CA-421C-ACF1-3F151C124CD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t="-13" r="46027" b="1"/>
          <a:stretch/>
        </p:blipFill>
        <p:spPr>
          <a:xfrm>
            <a:off x="5893730" y="2902773"/>
            <a:ext cx="1940405" cy="288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916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Whose</a:t>
            </a:r>
            <a:r>
              <a:rPr lang="fr-FR" dirty="0"/>
              <a:t> the best?</a:t>
            </a:r>
          </a:p>
          <a:p>
            <a:pPr lvl="1"/>
            <a:r>
              <a:rPr lang="fr-FR" dirty="0" err="1"/>
              <a:t>Depends</a:t>
            </a:r>
            <a:r>
              <a:rPr lang="fr-FR" dirty="0"/>
              <a:t> on network</a:t>
            </a:r>
          </a:p>
          <a:p>
            <a:pPr lvl="2"/>
            <a:r>
              <a:rPr lang="fr-FR" dirty="0" err="1"/>
              <a:t>PowerTCP</a:t>
            </a:r>
            <a:r>
              <a:rPr lang="fr-FR" dirty="0"/>
              <a:t> for data centers</a:t>
            </a:r>
          </a:p>
          <a:p>
            <a:pPr lvl="2"/>
            <a:r>
              <a:rPr lang="fr-FR" dirty="0" err="1"/>
              <a:t>Copa</a:t>
            </a:r>
            <a:r>
              <a:rPr lang="fr-FR" dirty="0"/>
              <a:t>-D for mobile networks</a:t>
            </a:r>
          </a:p>
          <a:p>
            <a:pPr lvl="1"/>
            <a:r>
              <a:rPr lang="fr-FR" dirty="0"/>
              <a:t>No </a:t>
            </a:r>
            <a:r>
              <a:rPr lang="fr-FR" dirty="0" err="1"/>
              <a:t>perfect</a:t>
            </a:r>
            <a:r>
              <a:rPr lang="fr-FR" dirty="0"/>
              <a:t> Congestion Control </a:t>
            </a:r>
            <a:r>
              <a:rPr lang="fr-FR" dirty="0" err="1"/>
              <a:t>Algorithm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found</a:t>
            </a:r>
            <a:r>
              <a:rPr lang="fr-FR" dirty="0"/>
              <a:t> </a:t>
            </a:r>
            <a:r>
              <a:rPr lang="fr-FR" dirty="0" err="1"/>
              <a:t>yet</a:t>
            </a:r>
            <a:endParaRPr lang="fr-FR" dirty="0"/>
          </a:p>
          <a:p>
            <a:pPr lvl="2"/>
            <a:r>
              <a:rPr lang="fr-FR" dirty="0"/>
              <a:t>No one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always</a:t>
            </a:r>
            <a:r>
              <a:rPr lang="fr-FR" dirty="0"/>
              <a:t> on Point A </a:t>
            </a:r>
          </a:p>
          <a:p>
            <a:r>
              <a:rPr lang="fr-FR" dirty="0" err="1"/>
              <a:t>What’s</a:t>
            </a:r>
            <a:r>
              <a:rPr lang="fr-FR" dirty="0"/>
              <a:t> </a:t>
            </a:r>
            <a:r>
              <a:rPr lang="fr-FR" dirty="0" err="1"/>
              <a:t>next</a:t>
            </a:r>
            <a:endParaRPr lang="fr-FR" dirty="0"/>
          </a:p>
          <a:p>
            <a:pPr lvl="1"/>
            <a:r>
              <a:rPr lang="fr-FR" dirty="0"/>
              <a:t>New </a:t>
            </a:r>
            <a:r>
              <a:rPr lang="fr-FR" dirty="0" err="1"/>
              <a:t>CCAs</a:t>
            </a:r>
            <a:r>
              <a:rPr lang="fr-FR" dirty="0"/>
              <a:t> are </a:t>
            </a:r>
            <a:r>
              <a:rPr lang="fr-FR" dirty="0" err="1"/>
              <a:t>specialised</a:t>
            </a:r>
            <a:endParaRPr lang="fr-FR" dirty="0"/>
          </a:p>
          <a:p>
            <a:pPr lvl="1"/>
            <a:r>
              <a:rPr lang="fr-FR" dirty="0" err="1"/>
              <a:t>Other</a:t>
            </a:r>
            <a:r>
              <a:rPr lang="fr-FR" dirty="0"/>
              <a:t> types of networks</a:t>
            </a:r>
          </a:p>
          <a:p>
            <a:pPr lvl="2"/>
            <a:r>
              <a:rPr lang="fr-FR" dirty="0" err="1"/>
              <a:t>Satelite</a:t>
            </a:r>
            <a:r>
              <a:rPr lang="fr-FR" dirty="0"/>
              <a:t> communication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98981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0" y="1785956"/>
            <a:ext cx="9144000" cy="457200"/>
          </a:xfrm>
        </p:spPr>
        <p:txBody>
          <a:bodyPr/>
          <a:lstStyle/>
          <a:p>
            <a:pPr algn="ctr"/>
            <a:r>
              <a:rPr lang="en-US" dirty="0"/>
              <a:t>Thanks for listening</a:t>
            </a:r>
          </a:p>
        </p:txBody>
      </p:sp>
      <p:sp>
        <p:nvSpPr>
          <p:cNvPr id="1536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4339471" cy="5311697"/>
          </a:xfrm>
        </p:spPr>
        <p:txBody>
          <a:bodyPr/>
          <a:lstStyle/>
          <a:p>
            <a:r>
              <a:rPr lang="fr-FR" dirty="0"/>
              <a:t>PCC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A1FD17-9307-4C23-A58D-954A13D4EDCF}"/>
              </a:ext>
            </a:extLst>
          </p:cNvPr>
          <p:cNvSpPr txBox="1">
            <a:spLocks/>
          </p:cNvSpPr>
          <p:nvPr/>
        </p:nvSpPr>
        <p:spPr bwMode="auto">
          <a:xfrm>
            <a:off x="4804529" y="4044386"/>
            <a:ext cx="4118809" cy="21457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"/>
              <a:defRPr sz="2400" b="1">
                <a:solidFill>
                  <a:srgbClr val="004290"/>
                </a:solidFill>
                <a:latin typeface="Arial"/>
                <a:ea typeface="Arial"/>
                <a:cs typeface="Arial"/>
              </a:defRPr>
            </a:lvl1pPr>
            <a:lvl2pPr marL="742950" indent="-28575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"/>
              <a:defRPr sz="200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2" pitchFamily="-106" charset="2"/>
              <a:buChar char="¾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5621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Font typeface="Wingdings 3" pitchFamily="-106" charset="2"/>
              <a:buChar char="¬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9812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290"/>
              </a:buClr>
              <a:buChar char="-"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4384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8956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352800" indent="-22860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Char char="-"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581400" indent="0" algn="l" rtl="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rgbClr val="00418F"/>
              </a:buClr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457200" lvl="1" indent="0">
              <a:buNone/>
            </a:pPr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pPr lvl="1"/>
            <a:endParaRPr lang="fr-FR" kern="0" dirty="0"/>
          </a:p>
          <a:p>
            <a:endParaRPr lang="en-US" kern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292C750-3E4F-4523-A410-59F7D19CD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48" y="1592421"/>
            <a:ext cx="7414903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458062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/>
              <a:t>BBR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ABDD0B2-56C3-4041-BFCA-E5A16D4D5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28" y="1490737"/>
            <a:ext cx="3330229" cy="13945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AAD38EE-0645-44BD-BC85-BA1442980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6472" y="1426485"/>
            <a:ext cx="5204774" cy="4005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8991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07805" y="891487"/>
            <a:ext cx="8873441" cy="5311697"/>
          </a:xfrm>
        </p:spPr>
        <p:txBody>
          <a:bodyPr/>
          <a:lstStyle/>
          <a:p>
            <a:r>
              <a:rPr lang="fr-FR" dirty="0" err="1"/>
              <a:t>PowerTCP</a:t>
            </a:r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756F8EB-19D0-469E-99E9-BF2D44281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949" y="1966855"/>
            <a:ext cx="5484101" cy="292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597450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theme1.xml><?xml version="1.0" encoding="utf-8"?>
<a:theme xmlns:a="http://schemas.openxmlformats.org/drawingml/2006/main" name="Vorlesungen-Layout">
  <a:themeElements>
    <a:clrScheme name="Ds-Template">
      <a:dk1>
        <a:srgbClr val="000000"/>
      </a:dk1>
      <a:lt1>
        <a:sysClr val="window" lastClr="FFFFFF"/>
      </a:lt1>
      <a:dk2>
        <a:srgbClr val="000000"/>
      </a:dk2>
      <a:lt2>
        <a:srgbClr val="BBC0AC"/>
      </a:lt2>
      <a:accent1>
        <a:srgbClr val="EEAC19"/>
      </a:accent1>
      <a:accent2>
        <a:srgbClr val="E07602"/>
      </a:accent2>
      <a:accent3>
        <a:srgbClr val="9FF726"/>
      </a:accent3>
      <a:accent4>
        <a:srgbClr val="8BA8D3"/>
      </a:accent4>
      <a:accent5>
        <a:srgbClr val="21449B"/>
      </a:accent5>
      <a:accent6>
        <a:srgbClr val="5E82B7"/>
      </a:accent6>
      <a:hlink>
        <a:srgbClr val="DF7408"/>
      </a:hlink>
      <a:folHlink>
        <a:srgbClr val="DE720C"/>
      </a:folHlink>
    </a:clrScheme>
    <a:fontScheme name="Vorlesungen-Layou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EAEAEA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-128"/>
          </a:defRPr>
        </a:defPPr>
      </a:lstStyle>
    </a:lnDef>
  </a:objectDefaults>
  <a:extraClrSchemeLst>
    <a:extraClrScheme>
      <a:clrScheme name="Vorlesungen-Layo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esungen-Layou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esungen-Layou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852</Words>
  <Application>Microsoft Office PowerPoint</Application>
  <PresentationFormat>Bildschirmpräsentation (4:3)</PresentationFormat>
  <Paragraphs>195</Paragraphs>
  <Slides>17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1" baseType="lpstr">
      <vt:lpstr>Arial</vt:lpstr>
      <vt:lpstr>Wingdings 3</vt:lpstr>
      <vt:lpstr>Wingdings 2</vt:lpstr>
      <vt:lpstr>Vorlesungen-Layout</vt:lpstr>
      <vt:lpstr>Modern Congestion Control Algorithms</vt:lpstr>
      <vt:lpstr>Motivation</vt:lpstr>
      <vt:lpstr>Goal of Congestion Control</vt:lpstr>
      <vt:lpstr>Background</vt:lpstr>
      <vt:lpstr>Approaches for Congestion Control</vt:lpstr>
      <vt:lpstr>Approaches for Congestion Control</vt:lpstr>
      <vt:lpstr>Approaches for Congestion Control</vt:lpstr>
      <vt:lpstr>Approaches for Congestion Control</vt:lpstr>
      <vt:lpstr>Approaches for Congestion Control</vt:lpstr>
      <vt:lpstr>Evaluation</vt:lpstr>
      <vt:lpstr>Evaluation</vt:lpstr>
      <vt:lpstr>Evaluation</vt:lpstr>
      <vt:lpstr>Conclusion</vt:lpstr>
      <vt:lpstr>Thanks for listening</vt:lpstr>
      <vt:lpstr>Evaluation</vt:lpstr>
      <vt:lpstr>Evaluation</vt:lpstr>
      <vt:lpstr>Evaluation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Template</dc:title>
  <dc:subject/>
  <dc:creator>Rainer Krogull</dc:creator>
  <cp:keywords/>
  <dc:description/>
  <cp:lastModifiedBy>Yannik Schreiter</cp:lastModifiedBy>
  <cp:revision>2125</cp:revision>
  <cp:lastPrinted>2009-03-26T18:25:42Z</cp:lastPrinted>
  <dcterms:created xsi:type="dcterms:W3CDTF">2009-04-03T11:12:54Z</dcterms:created>
  <dcterms:modified xsi:type="dcterms:W3CDTF">2026-07-16T12:36:39Z</dcterms:modified>
  <cp:category/>
</cp:coreProperties>
</file>