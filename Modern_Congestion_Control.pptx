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7.xml" ContentType="application/vnd.openxmlformats-officedocument.presentationml.comment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comment8.xml" ContentType="application/vnd.openxmlformats-officedocument.presentationml.comment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omments/comment11.xml" ContentType="application/vnd.openxmlformats-officedocument.presentationml.comments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50" r:id="rId1"/>
  </p:sldMasterIdLst>
  <p:notesMasterIdLst>
    <p:notesMasterId r:id="rId31"/>
  </p:notesMasterIdLst>
  <p:handoutMasterIdLst>
    <p:handoutMasterId r:id="rId32"/>
  </p:handoutMasterIdLst>
  <p:sldIdLst>
    <p:sldId id="930" r:id="rId2"/>
    <p:sldId id="954" r:id="rId3"/>
    <p:sldId id="975" r:id="rId4"/>
    <p:sldId id="955" r:id="rId5"/>
    <p:sldId id="956" r:id="rId6"/>
    <p:sldId id="957" r:id="rId7"/>
    <p:sldId id="972" r:id="rId8"/>
    <p:sldId id="973" r:id="rId9"/>
    <p:sldId id="974" r:id="rId10"/>
    <p:sldId id="958" r:id="rId11"/>
    <p:sldId id="959" r:id="rId12"/>
    <p:sldId id="960" r:id="rId13"/>
    <p:sldId id="961" r:id="rId14"/>
    <p:sldId id="962" r:id="rId15"/>
    <p:sldId id="977" r:id="rId16"/>
    <p:sldId id="978" r:id="rId17"/>
    <p:sldId id="964" r:id="rId18"/>
    <p:sldId id="981" r:id="rId19"/>
    <p:sldId id="965" r:id="rId20"/>
    <p:sldId id="976" r:id="rId21"/>
    <p:sldId id="967" r:id="rId22"/>
    <p:sldId id="951" r:id="rId23"/>
    <p:sldId id="966" r:id="rId24"/>
    <p:sldId id="963" r:id="rId25"/>
    <p:sldId id="979" r:id="rId26"/>
    <p:sldId id="980" r:id="rId27"/>
    <p:sldId id="970" r:id="rId28"/>
    <p:sldId id="982" r:id="rId29"/>
    <p:sldId id="971" r:id="rId30"/>
  </p:sldIdLst>
  <p:sldSz cx="9144000" cy="6858000" type="screen4x3"/>
  <p:notesSz cx="6797675" cy="9928225"/>
  <p:embeddedFontLst>
    <p:embeddedFont>
      <p:font typeface="Arial" panose="020B0604020202020204" pitchFamily="34" charset="0"/>
      <p:regular r:id="rId33"/>
      <p:bold r:id="rId34"/>
    </p:embeddedFont>
    <p:embeddedFont>
      <p:font typeface="Wingdings 2" panose="05020102010507070707" pitchFamily="18" charset="2"/>
      <p:regular r:id="rId35"/>
    </p:embeddedFont>
    <p:embeddedFont>
      <p:font typeface="Wingdings 3" panose="05040102010807070707" pitchFamily="18" charset="2"/>
      <p:regular r:id="rId36"/>
    </p:embeddedFont>
  </p:embeddedFontLst>
  <p:custDataLst>
    <p:tags r:id="rId37"/>
  </p:custDataLst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1pPr>
    <a:lvl2pPr marL="4572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2pPr>
    <a:lvl3pPr marL="9144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5pPr>
    <a:lvl6pPr marL="22860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6pPr>
    <a:lvl7pPr marL="27432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7pPr>
    <a:lvl8pPr marL="32004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8pPr>
    <a:lvl9pPr marL="36576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6">
          <p15:clr>
            <a:srgbClr val="A4A3A4"/>
          </p15:clr>
        </p15:guide>
        <p15:guide id="2" pos="212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nik Schreiter" initials="YS" lastIdx="23" clrIdx="0">
    <p:extLst>
      <p:ext uri="{19B8F6BF-5375-455C-9EA6-DF929625EA0E}">
        <p15:presenceInfo xmlns:p15="http://schemas.microsoft.com/office/powerpoint/2012/main" userId="S::86fwugvr4yggfdkk@students.rwth-aachen.de::24056521-de27-4d56-985b-226cc2b1933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90"/>
    <a:srgbClr val="AABBD9"/>
    <a:srgbClr val="9CB5DF"/>
    <a:srgbClr val="617DAB"/>
    <a:srgbClr val="FFB7A6"/>
    <a:srgbClr val="00418F"/>
    <a:srgbClr val="66A1DB"/>
    <a:srgbClr val="3E5C93"/>
    <a:srgbClr val="456399"/>
    <a:srgbClr val="E73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5" autoAdjust="0"/>
    <p:restoredTop sz="96405" autoAdjust="0"/>
  </p:normalViewPr>
  <p:slideViewPr>
    <p:cSldViewPr snapToGrid="0">
      <p:cViewPr varScale="1">
        <p:scale>
          <a:sx n="155" d="100"/>
          <a:sy n="155" d="100"/>
        </p:scale>
        <p:origin x="1392" y="150"/>
      </p:cViewPr>
      <p:guideLst>
        <p:guide orient="horz" pos="2160"/>
        <p:guide pos="1010"/>
      </p:guideLst>
    </p:cSldViewPr>
  </p:slideViewPr>
  <p:outlineViewPr>
    <p:cViewPr>
      <p:scale>
        <a:sx n="33" d="100"/>
        <a:sy n="33" d="100"/>
      </p:scale>
      <p:origin x="0" y="-851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2456"/>
    </p:cViewPr>
  </p:sorterViewPr>
  <p:notesViewPr>
    <p:cSldViewPr snapToGrid="0">
      <p:cViewPr>
        <p:scale>
          <a:sx n="100" d="100"/>
          <a:sy n="100" d="100"/>
        </p:scale>
        <p:origin x="8104" y="1960"/>
      </p:cViewPr>
      <p:guideLst>
        <p:guide orient="horz" pos="3106"/>
        <p:guide pos="2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gs" Target="tags/tag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2:05.177" idx="9">
    <p:pos x="10" y="10"/>
    <p:text>schreib sowas wie vermeide überlastung von netwzerk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3:22.048" idx="10">
    <p:pos x="2544" y="1110"/>
    <p:text>streiche imrpove use of hardware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4:13.975" idx="11">
    <p:pos x="146" y="146"/>
    <p:text>anstatt cpu speed schreibe clock speed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6:11.974" idx="12">
    <p:pos x="282" y="282"/>
    <p:text>perfectly nicht, stattdessen sowas wie vollausschöpfen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7:00.864" idx="13">
    <p:pos x="10" y="10"/>
    <p:text>tausche eventuell bild nach oben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7:23.544" idx="14">
    <p:pos x="146" y="146"/>
    <p:text>sage mehr, warum wir bei Punkt A sein wollen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8:36.727" idx="15">
    <p:pos x="282" y="282"/>
    <p:text>sag lieber nicht, das es einen Timeout gibt, nur Bufferlimit</p:text>
    <p:extLst>
      <p:ext uri="{C676402C-5697-4E1C-873F-D02D1690AC5C}">
        <p15:threadingInfo xmlns:p15="http://schemas.microsoft.com/office/powerpoint/2012/main" timeZoneBias="-120"/>
      </p:ext>
    </p:extLst>
  </p:cm>
  <p:cm authorId="1" dt="2026-07-18T18:27:37.145" idx="23">
    <p:pos x="418" y="418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2:29.772" idx="1">
    <p:pos x="10" y="10"/>
    <p:text>Bild einfügen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34:47.849" idx="3">
    <p:pos x="10" y="146"/>
    <p:text>TCP Vegas kann auch weg</p:text>
    <p:extLst>
      <p:ext uri="{C676402C-5697-4E1C-873F-D02D1690AC5C}">
        <p15:threadingInfo xmlns:p15="http://schemas.microsoft.com/office/powerpoint/2012/main" timeZoneBias="-120">
          <p15:parentCm authorId="1" idx="1"/>
        </p15:threadingInfo>
      </p:ext>
    </p:extLst>
  </p:cm>
  <p:cm authorId="1" dt="2026-07-17T14:34:28.526" idx="2">
    <p:pos x="146" y="146"/>
    <p:text/>
    <p:extLst>
      <p:ext uri="{C676402C-5697-4E1C-873F-D02D1690AC5C}">
        <p15:threadingInfo xmlns:p15="http://schemas.microsoft.com/office/powerpoint/2012/main" timeZoneBias="-120"/>
      </p:ext>
    </p:extLst>
  </p:cm>
  <p:cm authorId="1" dt="2026-07-17T15:01:27.815" idx="16">
    <p:pos x="282" y="282"/>
    <p:text>Übergang zu Jain's Fairness Index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9:25.597" idx="22">
    <p:pos x="10" y="10"/>
    <p:text>ProbeBW mit Probe Bandwidth aussprechen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0:48.822" idx="8">
    <p:pos x="10" y="10"/>
    <p:text>Copa D als abkürzung weglassen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5:30.210" idx="4">
    <p:pos x="10" y="10"/>
    <p:text>Brauchen wir nicht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7:26.259" idx="6">
    <p:pos x="10" y="10"/>
    <p:text>Copa D bei Copa Dynamic weg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39:36.530" idx="7">
    <p:pos x="146" y="146"/>
    <p:text>Copa+ und Copa D brauchen eigene Daten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5:51.355" idx="5">
    <p:pos x="10" y="10"/>
    <p:text>C4 raus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8:23.365" idx="19">
    <p:pos x="10" y="10"/>
    <p:text>nochmal erwähnen, das CCA schwierig ist,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5:08:37.499" idx="20">
    <p:pos x="146" y="146"/>
    <p:text>1/3 Einleitung und Background wiederholen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5:09:02.507" idx="21">
    <p:pos x="146" y="282"/>
    <p:text>was halt zu begin gesagt wurde</p:text>
    <p:extLst>
      <p:ext uri="{C676402C-5697-4E1C-873F-D02D1690AC5C}">
        <p15:threadingInfo xmlns:p15="http://schemas.microsoft.com/office/powerpoint/2012/main" timeZoneBias="-120">
          <p15:parentCm authorId="1" idx="20"/>
        </p15:threadingInfo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7:27.660" idx="18">
    <p:pos x="10" y="10"/>
    <p:text>das thanks for listening in die conclusion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7:07.792" idx="17">
    <p:pos x="10" y="10"/>
    <p:text>eher nicht nach vorne holen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00475" y="0"/>
            <a:ext cx="29972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12725" y="9482138"/>
            <a:ext cx="2927350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86163" y="9482138"/>
            <a:ext cx="2998787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6493541" y="0"/>
            <a:ext cx="185072" cy="369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641" tIns="45829" rIns="91641" bIns="45829">
            <a:prstTxWarp prst="textNoShape">
              <a:avLst/>
            </a:prstTxWarp>
            <a:spAutoFit/>
          </a:bodyPr>
          <a:lstStyle/>
          <a:p>
            <a:pPr algn="r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  <p:sp>
        <p:nvSpPr>
          <p:cNvPr id="17420" name="Rectangle 12"/>
          <p:cNvSpPr>
            <a:spLocks noChangeArrowheads="1"/>
          </p:cNvSpPr>
          <p:nvPr/>
        </p:nvSpPr>
        <p:spPr bwMode="auto">
          <a:xfrm>
            <a:off x="566738" y="0"/>
            <a:ext cx="4505325" cy="37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982" tIns="45481" rIns="90982" bIns="45481">
            <a:prstTxWarp prst="textNoShape">
              <a:avLst/>
            </a:prstTxWarp>
            <a:spAutoFit/>
          </a:bodyPr>
          <a:lstStyle/>
          <a:p>
            <a:pPr algn="l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8619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7350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4288" y="0"/>
            <a:ext cx="2951162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4238" y="723900"/>
            <a:ext cx="5005387" cy="3754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6938" y="4722813"/>
            <a:ext cx="4957762" cy="4481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Klicken Sie, um die Formate des Vorlagentextes zu bearbeiten</a:t>
            </a:r>
          </a:p>
          <a:p>
            <a:pPr lvl="1"/>
            <a:r>
              <a:rPr lang="en-US" noProof="0" dirty="0"/>
              <a:t>Zweite Ebene</a:t>
            </a:r>
          </a:p>
          <a:p>
            <a:pPr lvl="2"/>
            <a:r>
              <a:rPr lang="en-US" noProof="0" dirty="0"/>
              <a:t>Dritte Ebene</a:t>
            </a:r>
          </a:p>
          <a:p>
            <a:pPr lvl="3"/>
            <a:r>
              <a:rPr lang="en-US" noProof="0" dirty="0"/>
              <a:t>Vierte Ebene</a:t>
            </a:r>
          </a:p>
          <a:p>
            <a:pPr lvl="4"/>
            <a:r>
              <a:rPr lang="en-US" noProof="0" dirty="0"/>
              <a:t>Fünfte Ebene</a:t>
            </a:r>
          </a:p>
        </p:txBody>
      </p:sp>
      <p:sp>
        <p:nvSpPr>
          <p:cNvPr id="286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4038"/>
            <a:ext cx="2927350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4288" y="9444038"/>
            <a:ext cx="2951162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0155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Raja Jain derived 40 years ago, that if 2 of 3 go infinite, it still would not increase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225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Raja Jain derived 40 years ago, that if 2 of 3 go infinite, it still would not increase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1433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increase of packets that are send: Point A is when no more packets should be send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461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34420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476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38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766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979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07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Copa+ derived mathematically that Copa will arrive in </a:t>
            </a:r>
            <a:r>
              <a:rPr lang="en-US" dirty="0" err="1"/>
              <a:t>Competetive</a:t>
            </a:r>
            <a:r>
              <a:rPr lang="en-US" dirty="0"/>
              <a:t> mode after some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638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0354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71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2635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Different</a:t>
            </a:r>
            <a:r>
              <a:rPr lang="fr-FR" dirty="0"/>
              <a:t> BBR Versions: </a:t>
            </a:r>
            <a:r>
              <a:rPr lang="fr-FR" dirty="0" err="1"/>
              <a:t>better</a:t>
            </a:r>
            <a:r>
              <a:rPr lang="fr-FR" dirty="0"/>
              <a:t> use of ECN(explicit Congestion Control) and </a:t>
            </a:r>
            <a:r>
              <a:rPr lang="fr-FR" dirty="0" err="1"/>
              <a:t>faster</a:t>
            </a:r>
            <a:r>
              <a:rPr lang="fr-FR" dirty="0"/>
              <a:t> convergence in case of network changes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PDF: </a:t>
            </a:r>
            <a:r>
              <a:rPr lang="fr-FR" dirty="0" err="1"/>
              <a:t>Probabilistic</a:t>
            </a:r>
            <a:r>
              <a:rPr lang="fr-FR" dirty="0"/>
              <a:t> </a:t>
            </a:r>
            <a:r>
              <a:rPr lang="fr-FR" dirty="0" err="1"/>
              <a:t>density</a:t>
            </a:r>
            <a:r>
              <a:rPr lang="fr-FR" dirty="0"/>
              <a:t> </a:t>
            </a:r>
            <a:r>
              <a:rPr lang="fr-FR" dirty="0" err="1"/>
              <a:t>function</a:t>
            </a:r>
            <a:endParaRPr lang="fr-F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CDF:</a:t>
            </a:r>
            <a:r>
              <a:rPr lang="de-DE" dirty="0" err="1"/>
              <a:t>Cumulative</a:t>
            </a:r>
            <a:r>
              <a:rPr lang="de-DE" dirty="0"/>
              <a:t> Distribution </a:t>
            </a:r>
            <a:r>
              <a:rPr lang="de-DE" dirty="0" err="1"/>
              <a:t>Function</a:t>
            </a:r>
            <a:endParaRPr lang="fr-FR" dirty="0"/>
          </a:p>
          <a:p>
            <a:r>
              <a:rPr lang="en-US" dirty="0"/>
              <a:t>BBR-ES(blue): different Dots represent </a:t>
            </a:r>
            <a:r>
              <a:rPr lang="en-US" dirty="0" err="1"/>
              <a:t>buffersizes</a:t>
            </a:r>
            <a:r>
              <a:rPr lang="en-US" dirty="0"/>
              <a:t>: 64: 64BDP </a:t>
            </a:r>
            <a:r>
              <a:rPr lang="en-US" dirty="0" err="1"/>
              <a:t>Buffersize</a:t>
            </a:r>
            <a:r>
              <a:rPr lang="en-US" dirty="0"/>
              <a:t>; 6 flows wit RTT 30ms </a:t>
            </a:r>
            <a:r>
              <a:rPr lang="en-US" dirty="0" err="1"/>
              <a:t>vive</a:t>
            </a:r>
            <a:r>
              <a:rPr lang="en-US" dirty="0"/>
              <a:t> versa</a:t>
            </a:r>
          </a:p>
          <a:p>
            <a:r>
              <a:rPr lang="en-US" dirty="0"/>
              <a:t>Quadrat: 12 flows, triangle 4 flows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0051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2515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4984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1074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7322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382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69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185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154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3859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328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52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ky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rgbClr val="0D2766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2" name="Picture 1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ea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 marL="342900" marR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14" name="Picture 13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ky-blue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eablue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8756062" cy="5311697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Nineth level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1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121751" y="643413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r">
              <a:defRPr/>
            </a:pPr>
            <a:fld id="{C4701650-41B2-7A4D-B223-84DBE99DBB49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r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3474" y="769377"/>
            <a:ext cx="8890394" cy="5922248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6330074"/>
            <a:ext cx="9144000" cy="527926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>
              <a:ln>
                <a:noFill/>
              </a:ln>
              <a:solidFill>
                <a:schemeClr val="tx1"/>
              </a:solidFill>
              <a:effectLst/>
              <a:latin typeface="Arial" pitchFamily="34" charset="-128"/>
            </a:endParaRPr>
          </a:p>
        </p:txBody>
      </p:sp>
      <p:sp>
        <p:nvSpPr>
          <p:cNvPr id="10" name="Rectangle 31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 descr="rwth_comsys_bild_cmyk.pdf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418F"/>
            </a:gs>
            <a:gs pos="100000">
              <a:srgbClr val="5677C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 userDrawn="1"/>
        </p:nvSpPr>
        <p:spPr bwMode="auto">
          <a:xfrm>
            <a:off x="0" y="0"/>
            <a:ext cx="9144000" cy="838200"/>
          </a:xfrm>
          <a:prstGeom prst="rect">
            <a:avLst/>
          </a:prstGeom>
          <a:gradFill rotWithShape="1">
            <a:gsLst>
              <a:gs pos="0">
                <a:srgbClr val="0C2665"/>
              </a:gs>
              <a:gs pos="100000">
                <a:srgbClr val="9FB6D9"/>
              </a:gs>
            </a:gsLst>
            <a:lin ang="300000"/>
          </a:gra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 noProof="0">
              <a:latin typeface="Arial"/>
              <a:ea typeface="Arial"/>
              <a:cs typeface="Arial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  <p:custDataLst>
              <p:tags r:id="rId11"/>
            </p:custDataLst>
          </p:nvPr>
        </p:nvSpPr>
        <p:spPr bwMode="auto">
          <a:xfrm>
            <a:off x="166688" y="817563"/>
            <a:ext cx="8815387" cy="534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Mastertextformat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0" y="671513"/>
            <a:ext cx="9144000" cy="57086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noProof="0">
              <a:latin typeface="Arial"/>
              <a:ea typeface="Arial"/>
              <a:cs typeface="Arial"/>
            </a:endParaRPr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0" y="649287"/>
            <a:ext cx="9144000" cy="84137"/>
          </a:xfrm>
          <a:prstGeom prst="rect">
            <a:avLst/>
          </a:prstGeom>
          <a:gradFill>
            <a:gsLst>
              <a:gs pos="100000">
                <a:schemeClr val="accent4">
                  <a:tint val="37000"/>
                  <a:satMod val="300000"/>
                </a:schemeClr>
              </a:gs>
              <a:gs pos="0">
                <a:schemeClr val="bg1">
                  <a:lumMod val="95000"/>
                </a:schemeClr>
              </a:gs>
            </a:gsLst>
          </a:gradFill>
          <a:ln>
            <a:solidFill>
              <a:schemeClr val="bg2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-3176" y="6375400"/>
            <a:ext cx="9144000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sp>
        <p:nvSpPr>
          <p:cNvPr id="134175" name="Rectangle 31"/>
          <p:cNvSpPr>
            <a:spLocks noChangeArrowheads="1"/>
          </p:cNvSpPr>
          <p:nvPr userDrawn="1">
            <p:custDataLst>
              <p:tags r:id="rId1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Placeholder 2"/>
          <p:cNvSpPr txBox="1">
            <a:spLocks/>
          </p:cNvSpPr>
          <p:nvPr userDrawn="1"/>
        </p:nvSpPr>
        <p:spPr bwMode="auto">
          <a:xfrm>
            <a:off x="2065283" y="6372224"/>
            <a:ext cx="5013434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342900" marR="0" lvl="0" indent="-342900" algn="ctr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</p:txBody>
      </p:sp>
      <p:pic>
        <p:nvPicPr>
          <p:cNvPr id="12" name="Picture 11" descr="rwth_comsys_bild_cmyk.pd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89" r:id="rId5"/>
    <p:sldLayoutId id="2147483990" r:id="rId6"/>
    <p:sldLayoutId id="2147483991" r:id="rId7"/>
    <p:sldLayoutId id="2147483997" r:id="rId8"/>
    <p:sldLayoutId id="2147483996" r:id="rId9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+mj-lt"/>
          <a:ea typeface="Arial" pitchFamily="-108" charset="0"/>
          <a:cs typeface="Arial" pitchFamily="-108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"/>
        <a:defRPr sz="24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"/>
        <a:defRPr sz="20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¾"/>
        <a:defRPr>
          <a:solidFill>
            <a:schemeClr val="tx1"/>
          </a:solidFill>
          <a:latin typeface="Arial"/>
          <a:ea typeface="Arial"/>
          <a:cs typeface="Arial"/>
        </a:defRPr>
      </a:lvl3pPr>
      <a:lvl4pPr marL="15621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¬"/>
        <a:defRPr>
          <a:solidFill>
            <a:schemeClr val="tx1"/>
          </a:solidFill>
          <a:latin typeface="Arial"/>
          <a:ea typeface="Arial"/>
          <a:cs typeface="Arial"/>
        </a:defRPr>
      </a:lvl4pPr>
      <a:lvl5pPr marL="19812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/>
          <a:ea typeface="Arial"/>
          <a:cs typeface="Arial"/>
        </a:defRPr>
      </a:lvl5pPr>
      <a:lvl6pPr marL="24384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6pPr>
      <a:lvl7pPr marL="28956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7pPr>
      <a:lvl8pPr marL="33528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8pPr>
      <a:lvl9pPr marL="3810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comments" Target="../comments/comment7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5" Type="http://schemas.openxmlformats.org/officeDocument/2006/relationships/comments" Target="../comments/comment8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9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257267" y="1145948"/>
            <a:ext cx="8432799" cy="1471745"/>
          </a:xfrm>
        </p:spPr>
        <p:txBody>
          <a:bodyPr/>
          <a:lstStyle/>
          <a:p>
            <a:r>
              <a:rPr lang="en-US" dirty="0">
                <a:latin typeface="Arial"/>
                <a:cs typeface="Arial"/>
              </a:rPr>
              <a:t>Modern Congestion Control Algorithms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 bwMode="auto">
          <a:xfrm>
            <a:off x="528321" y="3712706"/>
            <a:ext cx="84328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sz="220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Benedikt</a:t>
            </a: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Bode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FD8C91A-111A-4C4F-BFC2-3453EFB03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7267" y="2798306"/>
            <a:ext cx="5354637" cy="914400"/>
          </a:xfrm>
        </p:spPr>
        <p:txBody>
          <a:bodyPr/>
          <a:lstStyle/>
          <a:p>
            <a:r>
              <a:rPr lang="en-US" dirty="0"/>
              <a:t>Seminar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D941A-3517-4882-A9A8-CFCB4AE4410B}"/>
              </a:ext>
            </a:extLst>
          </p:cNvPr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Aachen, 2026-07-22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Avoids congestion</a:t>
            </a:r>
          </a:p>
          <a:p>
            <a:pPr lvl="1"/>
            <a:r>
              <a:rPr lang="en-US" dirty="0"/>
              <a:t>Lower latency, packets loss and higher throughput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</a:t>
            </a:r>
          </a:p>
          <a:p>
            <a:pPr lvl="2"/>
            <a:r>
              <a:rPr lang="en-US" dirty="0"/>
              <a:t>Clock speed</a:t>
            </a:r>
          </a:p>
          <a:p>
            <a:pPr lvl="2"/>
            <a:r>
              <a:rPr lang="en-US" dirty="0"/>
              <a:t>Bandwidth of connection</a:t>
            </a:r>
          </a:p>
          <a:p>
            <a:pPr lvl="2"/>
            <a:r>
              <a:rPr lang="en-US" dirty="0"/>
              <a:t>Memory/Depth of waiting queue</a:t>
            </a:r>
          </a:p>
          <a:p>
            <a:pPr lvl="1"/>
            <a:r>
              <a:rPr lang="en-US" dirty="0"/>
              <a:t>Instead try to fit the hardware perfectly to have the best use of its capabilities</a:t>
            </a:r>
          </a:p>
        </p:txBody>
      </p:sp>
    </p:spTree>
    <p:extLst>
      <p:ext uri="{BB962C8B-B14F-4D97-AF65-F5344CB8AC3E}">
        <p14:creationId xmlns:p14="http://schemas.microsoft.com/office/powerpoint/2010/main" val="11455549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 overloading network capabilities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 </a:t>
            </a:r>
          </a:p>
          <a:p>
            <a:pPr lvl="2"/>
            <a:r>
              <a:rPr lang="en-US" dirty="0"/>
              <a:t>clock speed</a:t>
            </a:r>
          </a:p>
          <a:p>
            <a:pPr lvl="2"/>
            <a:r>
              <a:rPr lang="en-US" dirty="0"/>
              <a:t>bandwidth </a:t>
            </a:r>
          </a:p>
          <a:p>
            <a:pPr lvl="2"/>
            <a:r>
              <a:rPr lang="en-US" dirty="0"/>
              <a:t>waiting queue</a:t>
            </a:r>
          </a:p>
          <a:p>
            <a:pPr lvl="1"/>
            <a:r>
              <a:rPr lang="en-US" dirty="0"/>
              <a:t>Instead try to fully utilize the hardware capacities</a:t>
            </a:r>
          </a:p>
        </p:txBody>
      </p:sp>
    </p:spTree>
    <p:extLst>
      <p:ext uri="{BB962C8B-B14F-4D97-AF65-F5344CB8AC3E}">
        <p14:creationId xmlns:p14="http://schemas.microsoft.com/office/powerpoint/2010/main" val="60216256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the Goal of a Congestion Control Algorithm?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Goal: Point A:</a:t>
            </a:r>
          </a:p>
          <a:p>
            <a:pPr lvl="2"/>
            <a:r>
              <a:rPr lang="en-US" dirty="0"/>
              <a:t>Highest possible throughput while no unnecessary delay and packet loss</a:t>
            </a:r>
          </a:p>
          <a:p>
            <a:pPr lvl="1"/>
            <a:endParaRPr lang="en-US" dirty="0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4673A040-B3B4-4D72-8976-6FF3BFBF8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05" y="1354866"/>
            <a:ext cx="8019808" cy="39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512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How to evaluate a CCA:</a:t>
            </a:r>
          </a:p>
          <a:p>
            <a:pPr lvl="1"/>
            <a:r>
              <a:rPr lang="en-US" dirty="0"/>
              <a:t>Queue length:</a:t>
            </a:r>
          </a:p>
          <a:p>
            <a:pPr lvl="2"/>
            <a:r>
              <a:rPr lang="en-US" dirty="0"/>
              <a:t>0 queue length </a:t>
            </a:r>
            <a:r>
              <a:rPr lang="en-US" dirty="0">
                <a:sym typeface="Wingdings" panose="05000000000000000000" pitchFamily="2" charset="2"/>
              </a:rPr>
              <a:t></a:t>
            </a:r>
            <a:r>
              <a:rPr lang="en-US" dirty="0"/>
              <a:t> sending rate ≤ Bandwidth</a:t>
            </a:r>
          </a:p>
          <a:p>
            <a:pPr lvl="1"/>
            <a:r>
              <a:rPr lang="en-US" dirty="0"/>
              <a:t>Jain’s Fairness Index:</a:t>
            </a:r>
          </a:p>
          <a:p>
            <a:pPr lvl="2"/>
            <a:r>
              <a:rPr lang="en-US" dirty="0"/>
              <a:t>Value that shows how fair one flow to the others is</a:t>
            </a:r>
          </a:p>
          <a:p>
            <a:pPr lvl="2"/>
            <a:r>
              <a:rPr lang="en-US" dirty="0"/>
              <a:t>If value equals 1, then all flows get same share of the network capabilities</a:t>
            </a:r>
          </a:p>
          <a:p>
            <a:r>
              <a:rPr lang="en-US" dirty="0"/>
              <a:t>TCP Cubic</a:t>
            </a:r>
          </a:p>
          <a:p>
            <a:pPr lvl="1"/>
            <a:r>
              <a:rPr lang="en-US" dirty="0"/>
              <a:t>Starts with Cubically increase of congestion window</a:t>
            </a:r>
          </a:p>
          <a:p>
            <a:pPr lvl="2"/>
            <a:r>
              <a:rPr lang="en-US" dirty="0"/>
              <a:t>Amount of packets transmitted in a certain window</a:t>
            </a:r>
          </a:p>
          <a:p>
            <a:pPr lvl="1"/>
            <a:r>
              <a:rPr lang="en-US" dirty="0"/>
              <a:t>If packet loss occurs(Point B), then decrease congestion window</a:t>
            </a:r>
          </a:p>
          <a:p>
            <a:pPr marL="457200" lvl="1" indent="0">
              <a:buNone/>
            </a:pPr>
            <a:r>
              <a:rPr lang="en-US" dirty="0"/>
              <a:t>	Else increase slowly congestion window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1390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Startup phase:</a:t>
            </a:r>
          </a:p>
          <a:p>
            <a:pPr lvl="2"/>
            <a:r>
              <a:rPr lang="en-US" dirty="0"/>
              <a:t>Rapidly increasing of sending rate till delivery rate stops increasing</a:t>
            </a:r>
          </a:p>
          <a:p>
            <a:pPr lvl="3"/>
            <a:r>
              <a:rPr lang="en-US" dirty="0"/>
              <a:t>Point A</a:t>
            </a:r>
          </a:p>
          <a:p>
            <a:pPr lvl="1"/>
            <a:r>
              <a:rPr lang="en-US" dirty="0" err="1"/>
              <a:t>ProbeBW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Try to find out if Bandwidth increased or not</a:t>
            </a:r>
          </a:p>
          <a:p>
            <a:pPr lvl="2"/>
            <a:r>
              <a:rPr lang="en-US" dirty="0"/>
              <a:t>Increase sending rate to 1.25 then reduce to 0.75 to empty queue</a:t>
            </a:r>
          </a:p>
          <a:p>
            <a:pPr lvl="1"/>
            <a:r>
              <a:rPr lang="en-US" dirty="0" err="1"/>
              <a:t>ProbeRTT</a:t>
            </a:r>
            <a:endParaRPr lang="en-US" dirty="0"/>
          </a:p>
          <a:p>
            <a:pPr lvl="2"/>
            <a:r>
              <a:rPr lang="en-US" dirty="0"/>
              <a:t>Find lowest RTT</a:t>
            </a:r>
          </a:p>
          <a:p>
            <a:pPr lvl="2"/>
            <a:r>
              <a:rPr lang="en-US" dirty="0"/>
              <a:t>Empty queue by drastically reducing sending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01407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457705" y="3696966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BDP = Bandwidth × RTT</a:t>
            </a:r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943067" y="438435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943067" y="300957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2" name="Elbow Connector 8">
            <a:extLst>
              <a:ext uri="{FF2B5EF4-FFF2-40B4-BE49-F238E27FC236}">
                <a16:creationId xmlns:a16="http://schemas.microsoft.com/office/drawing/2014/main" id="{4AB1021E-FC8C-406C-94B2-A4FB42872A4E}"/>
              </a:ext>
            </a:extLst>
          </p:cNvPr>
          <p:cNvCxnSpPr>
            <a:cxnSpLocks noChangeShapeType="1"/>
            <a:stCxn id="10" idx="3"/>
            <a:endCxn id="9" idx="3"/>
          </p:cNvCxnSpPr>
          <p:nvPr/>
        </p:nvCxnSpPr>
        <p:spPr bwMode="auto">
          <a:xfrm>
            <a:off x="6116229" y="3353273"/>
            <a:ext cx="12700" cy="1374774"/>
          </a:xfrm>
          <a:prstGeom prst="bentConnector3">
            <a:avLst>
              <a:gd name="adj1" fmla="val 3745945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943067" y="3353273"/>
            <a:ext cx="12700" cy="1374774"/>
          </a:xfrm>
          <a:prstGeom prst="bentConnector3">
            <a:avLst>
              <a:gd name="adj1" fmla="val 4427024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630867" y="3009579"/>
            <a:ext cx="2898781" cy="1031081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630867" y="4040660"/>
            <a:ext cx="2898781" cy="1031080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27684413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457705" y="3696966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en-US" dirty="0"/>
              <a:t>BDP= (Bandwidth × RTT) – </a:t>
            </a:r>
            <a:r>
              <a:rPr lang="en-US" dirty="0" err="1"/>
              <a:t>Queue_Debt</a:t>
            </a:r>
            <a:endParaRPr lang="en-US" dirty="0"/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943067" y="438435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943067" y="300957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2" name="Elbow Connector 8">
            <a:extLst>
              <a:ext uri="{FF2B5EF4-FFF2-40B4-BE49-F238E27FC236}">
                <a16:creationId xmlns:a16="http://schemas.microsoft.com/office/drawing/2014/main" id="{4AB1021E-FC8C-406C-94B2-A4FB42872A4E}"/>
              </a:ext>
            </a:extLst>
          </p:cNvPr>
          <p:cNvCxnSpPr>
            <a:cxnSpLocks noChangeShapeType="1"/>
            <a:stCxn id="10" idx="3"/>
            <a:endCxn id="9" idx="3"/>
          </p:cNvCxnSpPr>
          <p:nvPr/>
        </p:nvCxnSpPr>
        <p:spPr bwMode="auto">
          <a:xfrm>
            <a:off x="6116229" y="3353273"/>
            <a:ext cx="12700" cy="1374774"/>
          </a:xfrm>
          <a:prstGeom prst="bentConnector3">
            <a:avLst>
              <a:gd name="adj1" fmla="val 3745945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943067" y="3353273"/>
            <a:ext cx="12700" cy="1374774"/>
          </a:xfrm>
          <a:prstGeom prst="bentConnector3">
            <a:avLst>
              <a:gd name="adj1" fmla="val 4427024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630867" y="3009579"/>
            <a:ext cx="2898781" cy="1031081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630867" y="4040660"/>
            <a:ext cx="2898781" cy="1031080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DBC7048B-4D42-400B-9A5E-B1326A71FF86}"/>
              </a:ext>
            </a:extLst>
          </p:cNvPr>
          <p:cNvSpPr txBox="1"/>
          <p:nvPr/>
        </p:nvSpPr>
        <p:spPr>
          <a:xfrm>
            <a:off x="6571094" y="3779049"/>
            <a:ext cx="626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Track </a:t>
            </a:r>
            <a:r>
              <a:rPr lang="de-DE"/>
              <a:t>debt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630FE4-04AA-4274-B4E3-5AE95CCC46B8}"/>
              </a:ext>
            </a:extLst>
          </p:cNvPr>
          <p:cNvSpPr txBox="1"/>
          <p:nvPr/>
        </p:nvSpPr>
        <p:spPr>
          <a:xfrm>
            <a:off x="3698157" y="3781345"/>
            <a:ext cx="846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Track </a:t>
            </a:r>
            <a:r>
              <a:rPr lang="de-DE" dirty="0" err="1"/>
              <a:t>debt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691672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130251" y="3244121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de-DE" dirty="0"/>
              <a:t>BBR – Extended State (BBR-ES)</a:t>
            </a:r>
            <a:endParaRPr lang="en-US" dirty="0"/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615613" y="480821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615613" y="1895957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615613" y="2239651"/>
            <a:ext cx="12700" cy="2912262"/>
          </a:xfrm>
          <a:prstGeom prst="bentConnector3">
            <a:avLst>
              <a:gd name="adj1" fmla="val 1800000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303413" y="1895957"/>
            <a:ext cx="2898781" cy="1691858"/>
          </a:xfrm>
          <a:prstGeom prst="bentConnector4">
            <a:avLst>
              <a:gd name="adj1" fmla="val 39882"/>
              <a:gd name="adj2" fmla="val 113512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303413" y="3587815"/>
            <a:ext cx="2898781" cy="1907791"/>
          </a:xfrm>
          <a:prstGeom prst="bentConnector4">
            <a:avLst>
              <a:gd name="adj1" fmla="val 39882"/>
              <a:gd name="adj2" fmla="val 111982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19" name="Rounded Rectangle 19">
            <a:extLst>
              <a:ext uri="{FF2B5EF4-FFF2-40B4-BE49-F238E27FC236}">
                <a16:creationId xmlns:a16="http://schemas.microsoft.com/office/drawing/2014/main" id="{A2A9D9E1-9F9E-4BD3-874F-11CC2F2C38F3}"/>
              </a:ext>
            </a:extLst>
          </p:cNvPr>
          <p:cNvSpPr/>
          <p:nvPr/>
        </p:nvSpPr>
        <p:spPr bwMode="auto">
          <a:xfrm>
            <a:off x="6375355" y="3244121"/>
            <a:ext cx="1638393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BBR-NEW-STATE</a:t>
            </a:r>
          </a:p>
        </p:txBody>
      </p:sp>
      <p:cxnSp>
        <p:nvCxnSpPr>
          <p:cNvPr id="23" name="Elbow Connector 8">
            <a:extLst>
              <a:ext uri="{FF2B5EF4-FFF2-40B4-BE49-F238E27FC236}">
                <a16:creationId xmlns:a16="http://schemas.microsoft.com/office/drawing/2014/main" id="{77065449-3D90-4733-96D3-CCC3F7EA04CF}"/>
              </a:ext>
            </a:extLst>
          </p:cNvPr>
          <p:cNvCxnSpPr>
            <a:cxnSpLocks noChangeShapeType="1"/>
            <a:stCxn id="10" idx="3"/>
            <a:endCxn id="19" idx="0"/>
          </p:cNvCxnSpPr>
          <p:nvPr/>
        </p:nvCxnSpPr>
        <p:spPr bwMode="auto">
          <a:xfrm>
            <a:off x="5788775" y="2239651"/>
            <a:ext cx="1405777" cy="1004470"/>
          </a:xfrm>
          <a:prstGeom prst="bentConnector2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8" name="Elbow Connector 8">
            <a:extLst>
              <a:ext uri="{FF2B5EF4-FFF2-40B4-BE49-F238E27FC236}">
                <a16:creationId xmlns:a16="http://schemas.microsoft.com/office/drawing/2014/main" id="{44461A03-B8B3-4860-BCA2-41142B41348E}"/>
              </a:ext>
            </a:extLst>
          </p:cNvPr>
          <p:cNvCxnSpPr>
            <a:cxnSpLocks noChangeShapeType="1"/>
            <a:stCxn id="19" idx="2"/>
            <a:endCxn id="9" idx="3"/>
          </p:cNvCxnSpPr>
          <p:nvPr/>
        </p:nvCxnSpPr>
        <p:spPr bwMode="auto">
          <a:xfrm rot="5400000">
            <a:off x="5881462" y="3838822"/>
            <a:ext cx="1220405" cy="1405777"/>
          </a:xfrm>
          <a:prstGeom prst="bentConnector2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4152158192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ProbeRTT</a:t>
            </a:r>
            <a:endParaRPr lang="fr-FR" dirty="0"/>
          </a:p>
          <a:p>
            <a:pPr lvl="1"/>
            <a:r>
              <a:rPr lang="fr-FR" dirty="0"/>
              <a:t>To solve </a:t>
            </a:r>
            <a:r>
              <a:rPr lang="fr-FR" dirty="0" err="1"/>
              <a:t>this</a:t>
            </a:r>
            <a:r>
              <a:rPr lang="fr-FR" dirty="0"/>
              <a:t> AQDC </a:t>
            </a:r>
            <a:r>
              <a:rPr lang="fr-FR" dirty="0" err="1"/>
              <a:t>tracks</a:t>
            </a:r>
            <a:r>
              <a:rPr lang="fr-FR" dirty="0"/>
              <a:t> the </a:t>
            </a:r>
            <a:r>
              <a:rPr lang="fr-FR" dirty="0" err="1"/>
              <a:t>debt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queue</a:t>
            </a:r>
          </a:p>
          <a:p>
            <a:r>
              <a:rPr lang="fr-FR" dirty="0"/>
              <a:t>BBR-</a:t>
            </a:r>
            <a:r>
              <a:rPr lang="fr-FR" dirty="0" err="1"/>
              <a:t>Extendend</a:t>
            </a:r>
            <a:r>
              <a:rPr lang="fr-FR" dirty="0"/>
              <a:t> State (BBR-ES)</a:t>
            </a:r>
          </a:p>
          <a:p>
            <a:pPr lvl="1"/>
            <a:r>
              <a:rPr lang="fr-FR" dirty="0" err="1"/>
              <a:t>Creates</a:t>
            </a:r>
            <a:r>
              <a:rPr lang="fr-FR" dirty="0"/>
              <a:t> new phase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ProbeRTT</a:t>
            </a:r>
            <a:r>
              <a:rPr lang="fr-FR" dirty="0"/>
              <a:t> and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drain the queue</a:t>
            </a:r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960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2 modes:</a:t>
            </a:r>
          </a:p>
          <a:p>
            <a:pPr lvl="2"/>
            <a:r>
              <a:rPr lang="fr-FR" dirty="0"/>
              <a:t>Default mode: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maximize</a:t>
            </a:r>
            <a:r>
              <a:rPr lang="fr-FR" dirty="0"/>
              <a:t> Utility </a:t>
            </a:r>
            <a:r>
              <a:rPr lang="fr-FR" dirty="0" err="1"/>
              <a:t>function</a:t>
            </a:r>
            <a:endParaRPr lang="fr-FR" dirty="0"/>
          </a:p>
          <a:p>
            <a:pPr lvl="2"/>
            <a:r>
              <a:rPr lang="fr-FR" dirty="0" err="1"/>
              <a:t>Competetive</a:t>
            </a:r>
            <a:r>
              <a:rPr lang="fr-FR" dirty="0"/>
              <a:t> mode: To </a:t>
            </a:r>
            <a:r>
              <a:rPr lang="fr-FR" dirty="0" err="1"/>
              <a:t>compete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buffer </a:t>
            </a:r>
            <a:r>
              <a:rPr lang="fr-FR" dirty="0" err="1"/>
              <a:t>filling</a:t>
            </a:r>
            <a:r>
              <a:rPr lang="fr-FR" dirty="0"/>
              <a:t> flows</a:t>
            </a:r>
          </a:p>
          <a:p>
            <a:pPr lvl="3"/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activated</a:t>
            </a:r>
            <a:r>
              <a:rPr lang="fr-FR" dirty="0"/>
              <a:t> 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flow</a:t>
            </a:r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unnecessarily</a:t>
            </a:r>
            <a:r>
              <a:rPr lang="fr-FR" dirty="0"/>
              <a:t> </a:t>
            </a:r>
            <a:r>
              <a:rPr lang="fr-FR" dirty="0" err="1"/>
              <a:t>activated</a:t>
            </a:r>
            <a:endParaRPr lang="fr-FR" dirty="0"/>
          </a:p>
          <a:p>
            <a:pPr lvl="1"/>
            <a:r>
              <a:rPr lang="fr-FR" dirty="0" err="1"/>
              <a:t>Introduces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for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stay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default mode</a:t>
            </a:r>
          </a:p>
          <a:p>
            <a:r>
              <a:rPr lang="fr-FR" dirty="0" err="1"/>
              <a:t>Copa</a:t>
            </a:r>
            <a:r>
              <a:rPr lang="fr-FR" dirty="0"/>
              <a:t> Dynamic </a:t>
            </a:r>
          </a:p>
          <a:p>
            <a:pPr lvl="1"/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introducing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change the </a:t>
            </a:r>
            <a:r>
              <a:rPr lang="fr-FR" dirty="0" err="1"/>
              <a:t>problematic</a:t>
            </a:r>
            <a:r>
              <a:rPr lang="fr-FR" dirty="0"/>
              <a:t> </a:t>
            </a:r>
            <a:r>
              <a:rPr lang="fr-FR" dirty="0" err="1"/>
              <a:t>parameter</a:t>
            </a:r>
            <a:r>
              <a:rPr lang="fr-FR" dirty="0"/>
              <a:t> and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more </a:t>
            </a:r>
            <a:r>
              <a:rPr lang="fr-FR" dirty="0" err="1"/>
              <a:t>dynamically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385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Performance Congestion Control (PCC)</a:t>
            </a:r>
          </a:p>
          <a:p>
            <a:pPr lvl="1"/>
            <a:r>
              <a:rPr lang="fr-FR" dirty="0" err="1"/>
              <a:t>Takes</a:t>
            </a:r>
            <a:r>
              <a:rPr lang="fr-FR" dirty="0"/>
              <a:t> all information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(RTT, </a:t>
            </a:r>
            <a:r>
              <a:rPr lang="fr-FR" dirty="0" err="1"/>
              <a:t>Bandwidth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 etc.) to </a:t>
            </a:r>
            <a:r>
              <a:rPr lang="fr-FR" dirty="0" err="1"/>
              <a:t>calculate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 for </a:t>
            </a:r>
            <a:r>
              <a:rPr lang="fr-FR" dirty="0" err="1"/>
              <a:t>calculation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Game Theory</a:t>
            </a:r>
          </a:p>
          <a:p>
            <a:pPr lvl="2"/>
            <a:r>
              <a:rPr lang="fr-FR" dirty="0" err="1"/>
              <a:t>Highly</a:t>
            </a:r>
            <a:r>
              <a:rPr lang="fr-FR" dirty="0"/>
              <a:t> </a:t>
            </a:r>
            <a:r>
              <a:rPr lang="fr-FR" dirty="0" err="1"/>
              <a:t>complex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: Switches and </a:t>
            </a:r>
            <a:r>
              <a:rPr lang="fr-FR" dirty="0" err="1"/>
              <a:t>routers</a:t>
            </a:r>
            <a:r>
              <a:rPr lang="fr-FR" dirty="0"/>
              <a:t> of network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current</a:t>
            </a:r>
            <a:r>
              <a:rPr lang="fr-FR" dirty="0"/>
              <a:t> use of network</a:t>
            </a:r>
          </a:p>
          <a:p>
            <a:pPr lvl="2"/>
            <a:r>
              <a:rPr lang="fr-FR" dirty="0"/>
              <a:t>Use In-Band Network </a:t>
            </a:r>
            <a:r>
              <a:rPr lang="fr-FR" dirty="0" err="1"/>
              <a:t>Telemetry</a:t>
            </a:r>
            <a:r>
              <a:rPr lang="fr-FR" dirty="0"/>
              <a:t> (INT) information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Christians</a:t>
            </a:r>
            <a:r>
              <a:rPr lang="fr-FR" dirty="0"/>
              <a:t> Congestion Control Code (C4)</a:t>
            </a:r>
          </a:p>
          <a:p>
            <a:pPr lvl="1"/>
            <a:r>
              <a:rPr lang="fr-FR" dirty="0"/>
              <a:t>4 </a:t>
            </a:r>
            <a:r>
              <a:rPr lang="fr-FR" dirty="0" err="1"/>
              <a:t>different</a:t>
            </a:r>
            <a:r>
              <a:rPr lang="fr-FR" dirty="0"/>
              <a:t> states:</a:t>
            </a:r>
          </a:p>
          <a:p>
            <a:pPr lvl="2"/>
            <a:r>
              <a:rPr lang="fr-FR" dirty="0"/>
              <a:t>Start phase</a:t>
            </a:r>
          </a:p>
          <a:p>
            <a:pPr lvl="3"/>
            <a:r>
              <a:rPr lang="fr-FR" dirty="0"/>
              <a:t>start and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bottleneck’s</a:t>
            </a:r>
            <a:r>
              <a:rPr lang="fr-FR" dirty="0"/>
              <a:t> </a:t>
            </a:r>
            <a:r>
              <a:rPr lang="fr-FR" dirty="0" err="1"/>
              <a:t>bandwidth</a:t>
            </a:r>
            <a:endParaRPr lang="fr-FR" dirty="0"/>
          </a:p>
          <a:p>
            <a:pPr lvl="2"/>
            <a:r>
              <a:rPr lang="fr-FR" dirty="0" err="1"/>
              <a:t>Cruising</a:t>
            </a:r>
            <a:r>
              <a:rPr lang="fr-FR" dirty="0"/>
              <a:t> state </a:t>
            </a:r>
          </a:p>
          <a:p>
            <a:pPr lvl="3"/>
            <a:r>
              <a:rPr lang="fr-FR" dirty="0" err="1"/>
              <a:t>stay</a:t>
            </a:r>
            <a:r>
              <a:rPr lang="fr-FR" dirty="0"/>
              <a:t> at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perfect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2"/>
            <a:r>
              <a:rPr lang="fr-FR" dirty="0" err="1"/>
              <a:t>Probing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Testing</a:t>
            </a:r>
            <a:r>
              <a:rPr lang="fr-FR" dirty="0"/>
              <a:t> the network to </a:t>
            </a:r>
            <a:r>
              <a:rPr lang="fr-FR" dirty="0" err="1"/>
              <a:t>determine</a:t>
            </a:r>
            <a:r>
              <a:rPr lang="fr-FR" dirty="0"/>
              <a:t> if more </a:t>
            </a:r>
            <a:r>
              <a:rPr lang="fr-FR" dirty="0" err="1"/>
              <a:t>is</a:t>
            </a:r>
            <a:r>
              <a:rPr lang="fr-FR" dirty="0"/>
              <a:t> possible</a:t>
            </a:r>
          </a:p>
          <a:p>
            <a:pPr lvl="2"/>
            <a:r>
              <a:rPr lang="fr-FR" dirty="0" err="1"/>
              <a:t>Recovery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Recovery</a:t>
            </a:r>
            <a:r>
              <a:rPr lang="fr-FR" dirty="0"/>
              <a:t> the networks </a:t>
            </a:r>
            <a:r>
              <a:rPr lang="fr-FR" dirty="0" err="1"/>
              <a:t>recources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probing</a:t>
            </a:r>
            <a:r>
              <a:rPr lang="fr-FR" dirty="0"/>
              <a:t> phase 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77413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/>
              <a:t>Tries to </a:t>
            </a:r>
            <a:r>
              <a:rPr lang="fr-FR" dirty="0" err="1"/>
              <a:t>be</a:t>
            </a:r>
            <a:r>
              <a:rPr lang="fr-FR" dirty="0"/>
              <a:t> at Point A, but </a:t>
            </a:r>
            <a:r>
              <a:rPr lang="fr-FR" dirty="0" err="1"/>
              <a:t>is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  <a:p>
            <a:pPr lvl="2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 good,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operating Point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Point B</a:t>
            </a:r>
          </a:p>
          <a:p>
            <a:pPr lvl="2"/>
            <a:r>
              <a:rPr lang="fr-FR" dirty="0" err="1"/>
              <a:t>With</a:t>
            </a:r>
            <a:r>
              <a:rPr lang="fr-FR" dirty="0"/>
              <a:t> large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Point A,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good</a:t>
            </a:r>
          </a:p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Jains </a:t>
            </a:r>
            <a:r>
              <a:rPr lang="fr-FR" dirty="0" err="1"/>
              <a:t>Fairness</a:t>
            </a:r>
            <a:r>
              <a:rPr lang="fr-FR" dirty="0"/>
              <a:t> Index (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0.9)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21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858465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 err="1"/>
              <a:t>Lower</a:t>
            </a:r>
            <a:r>
              <a:rPr lang="fr-FR" dirty="0"/>
              <a:t> RTT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Better</a:t>
            </a:r>
            <a:r>
              <a:rPr lang="fr-FR" dirty="0"/>
              <a:t> in networks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bottlenecks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large buffer</a:t>
            </a:r>
          </a:p>
          <a:p>
            <a:pPr lvl="1"/>
            <a:r>
              <a:rPr lang="fr-FR" dirty="0" err="1"/>
              <a:t>Higher</a:t>
            </a:r>
            <a:r>
              <a:rPr lang="fr-FR" dirty="0"/>
              <a:t> </a:t>
            </a:r>
            <a:r>
              <a:rPr lang="fr-FR" dirty="0" err="1"/>
              <a:t>amount</a:t>
            </a:r>
            <a:r>
              <a:rPr lang="fr-FR" dirty="0"/>
              <a:t> of retransmissions </a:t>
            </a:r>
            <a:r>
              <a:rPr lang="fr-FR" dirty="0" err="1"/>
              <a:t>than</a:t>
            </a:r>
            <a:r>
              <a:rPr lang="fr-FR" dirty="0"/>
              <a:t>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8C88225-015F-49C1-84CC-0C6001078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59" y="1782388"/>
            <a:ext cx="3697249" cy="154827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7FD34A-D941-4EE9-AA1E-4E8CEFF94E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162" t="172" r="-1206" b="72061"/>
          <a:stretch/>
        </p:blipFill>
        <p:spPr>
          <a:xfrm>
            <a:off x="920485" y="4067869"/>
            <a:ext cx="3816859" cy="15977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3736300-7984-4697-91DD-EB6E87DAC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3266" y="4067870"/>
            <a:ext cx="3645083" cy="154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40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7836444" cy="5311697"/>
          </a:xfrm>
        </p:spPr>
        <p:txBody>
          <a:bodyPr/>
          <a:lstStyle/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pPr lvl="2"/>
            <a:r>
              <a:rPr lang="fr-FR" dirty="0"/>
              <a:t>Tail RTT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lower</a:t>
            </a:r>
            <a:endParaRPr lang="fr-FR" dirty="0"/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</a:t>
            </a:r>
            <a:r>
              <a:rPr lang="fr-FR" dirty="0" err="1"/>
              <a:t>fairness</a:t>
            </a:r>
            <a:r>
              <a:rPr lang="fr-FR" dirty="0"/>
              <a:t> and </a:t>
            </a:r>
            <a:r>
              <a:rPr lang="fr-FR" dirty="0" err="1"/>
              <a:t>queuing</a:t>
            </a:r>
            <a:r>
              <a:rPr lang="fr-FR" dirty="0"/>
              <a:t> </a:t>
            </a:r>
            <a:r>
              <a:rPr lang="fr-FR" dirty="0" err="1"/>
              <a:t>delay</a:t>
            </a:r>
            <a:r>
              <a:rPr lang="fr-FR" dirty="0"/>
              <a:t> </a:t>
            </a:r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maintaining</a:t>
            </a:r>
            <a:r>
              <a:rPr lang="fr-FR" dirty="0"/>
              <a:t> good </a:t>
            </a:r>
            <a:r>
              <a:rPr lang="fr-FR" dirty="0" err="1"/>
              <a:t>link</a:t>
            </a:r>
            <a:r>
              <a:rPr lang="fr-FR" dirty="0"/>
              <a:t> </a:t>
            </a:r>
            <a:r>
              <a:rPr lang="fr-FR" dirty="0" err="1"/>
              <a:t>utilization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0228DDF-47C4-45DA-A742-53D3799552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2781" r="66300" b="35552"/>
          <a:stretch/>
        </p:blipFill>
        <p:spPr>
          <a:xfrm>
            <a:off x="6193709" y="1019433"/>
            <a:ext cx="2677471" cy="151370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A39F20A-12C9-4812-9D3F-09F5B6E4A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415" y="3727231"/>
            <a:ext cx="3645747" cy="226271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DFB452F-B733-4526-B49F-2C726C9D5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96" y="3646705"/>
            <a:ext cx="4205619" cy="248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33308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Not </a:t>
            </a:r>
            <a:r>
              <a:rPr lang="fr-FR" dirty="0" err="1"/>
              <a:t>complex</a:t>
            </a:r>
            <a:r>
              <a:rPr lang="fr-FR" dirty="0"/>
              <a:t> to </a:t>
            </a:r>
            <a:r>
              <a:rPr lang="fr-FR" dirty="0" err="1"/>
              <a:t>understand</a:t>
            </a:r>
            <a:r>
              <a:rPr lang="fr-FR" dirty="0"/>
              <a:t> (</a:t>
            </a:r>
            <a:r>
              <a:rPr lang="fr-FR" dirty="0" err="1"/>
              <a:t>compared</a:t>
            </a:r>
            <a:r>
              <a:rPr lang="fr-FR" dirty="0"/>
              <a:t> to PCC)</a:t>
            </a:r>
          </a:p>
          <a:p>
            <a:pPr lvl="1"/>
            <a:r>
              <a:rPr lang="fr-FR" dirty="0" err="1"/>
              <a:t>Copa</a:t>
            </a:r>
            <a:r>
              <a:rPr lang="fr-FR" dirty="0"/>
              <a:t> default (</a:t>
            </a:r>
            <a:r>
              <a:rPr lang="fr-FR" dirty="0" err="1"/>
              <a:t>Copa</a:t>
            </a:r>
            <a:r>
              <a:rPr lang="fr-FR" dirty="0"/>
              <a:t> D)</a:t>
            </a:r>
          </a:p>
          <a:p>
            <a:pPr lvl="2"/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deactivated</a:t>
            </a:r>
            <a:endParaRPr lang="fr-FR" dirty="0"/>
          </a:p>
          <a:p>
            <a:pPr lvl="2"/>
            <a:r>
              <a:rPr lang="fr-FR" dirty="0"/>
              <a:t>On Ideal line -&gt;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Copa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Better</a:t>
            </a:r>
            <a:r>
              <a:rPr lang="fr-FR" dirty="0"/>
              <a:t> in </a:t>
            </a:r>
            <a:r>
              <a:rPr lang="fr-FR" dirty="0" err="1"/>
              <a:t>changing</a:t>
            </a:r>
            <a:r>
              <a:rPr lang="fr-FR" dirty="0"/>
              <a:t> networks </a:t>
            </a:r>
            <a:r>
              <a:rPr lang="fr-FR" dirty="0" err="1"/>
              <a:t>than</a:t>
            </a:r>
            <a:r>
              <a:rPr lang="fr-FR" dirty="0"/>
              <a:t> 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8427315-C1BB-4A07-A39A-3C3A74CA32B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2"/>
          <a:stretch/>
        </p:blipFill>
        <p:spPr>
          <a:xfrm>
            <a:off x="4892040" y="891488"/>
            <a:ext cx="4019430" cy="292037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E6C73E4-703D-4C64-A015-AF0C73E08A9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151" t="5568" r="67484" b="34189"/>
          <a:stretch/>
        </p:blipFill>
        <p:spPr>
          <a:xfrm>
            <a:off x="5461348" y="3903391"/>
            <a:ext cx="3056349" cy="2213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2914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759611" cy="5311697"/>
          </a:xfrm>
        </p:spPr>
        <p:txBody>
          <a:bodyPr/>
          <a:lstStyle/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control on mode </a:t>
            </a:r>
            <a:r>
              <a:rPr lang="fr-FR" dirty="0" err="1"/>
              <a:t>switching</a:t>
            </a:r>
            <a:r>
              <a:rPr lang="fr-FR" dirty="0"/>
              <a:t>  =&gt; values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Copa</a:t>
            </a:r>
            <a:r>
              <a:rPr lang="fr-FR" dirty="0"/>
              <a:t> default</a:t>
            </a:r>
          </a:p>
          <a:p>
            <a:r>
              <a:rPr lang="fr-FR" dirty="0" err="1"/>
              <a:t>Copa</a:t>
            </a:r>
            <a:r>
              <a:rPr lang="fr-FR" dirty="0"/>
              <a:t> Dynamic </a:t>
            </a:r>
          </a:p>
          <a:p>
            <a:pPr lvl="1"/>
            <a:r>
              <a:rPr lang="fr-FR" dirty="0" err="1"/>
              <a:t>Lower</a:t>
            </a:r>
            <a:r>
              <a:rPr lang="fr-FR" dirty="0"/>
              <a:t> RTT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 err="1"/>
              <a:t>Maintining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throughtput</a:t>
            </a:r>
            <a:r>
              <a:rPr lang="fr-FR" dirty="0"/>
              <a:t> like </a:t>
            </a:r>
            <a:r>
              <a:rPr lang="fr-FR" dirty="0" err="1"/>
              <a:t>Copa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CC33D25-9EE8-4329-B949-ABB68ABE8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746" y="806754"/>
            <a:ext cx="2994518" cy="255154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0BF3A0-1A5A-4149-85F8-90833472F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912" y="3901745"/>
            <a:ext cx="5296359" cy="230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86410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916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r>
              <a:rPr lang="fr-FR" dirty="0"/>
              <a:t>C4</a:t>
            </a:r>
          </a:p>
          <a:p>
            <a:pPr lvl="1"/>
            <a:r>
              <a:rPr lang="fr-FR" dirty="0" err="1"/>
              <a:t>Proved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Wifi networks </a:t>
            </a:r>
            <a:r>
              <a:rPr lang="fr-FR" dirty="0" err="1"/>
              <a:t>than</a:t>
            </a:r>
            <a:r>
              <a:rPr lang="fr-FR" dirty="0"/>
              <a:t> BBR, TCP </a:t>
            </a:r>
            <a:r>
              <a:rPr lang="fr-FR" dirty="0" err="1"/>
              <a:t>Cubic</a:t>
            </a:r>
            <a:endParaRPr lang="fr-FR" dirty="0"/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8454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Who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best?</a:t>
            </a:r>
          </a:p>
          <a:p>
            <a:pPr lvl="1"/>
            <a:r>
              <a:rPr lang="fr-FR" dirty="0"/>
              <a:t>No </a:t>
            </a:r>
            <a:r>
              <a:rPr lang="fr-FR" dirty="0" err="1"/>
              <a:t>perfect</a:t>
            </a:r>
            <a:r>
              <a:rPr lang="fr-FR" dirty="0"/>
              <a:t> Congestion Control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pPr lvl="2"/>
            <a:r>
              <a:rPr lang="fr-FR" dirty="0"/>
              <a:t>No one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on Point A and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fair</a:t>
            </a:r>
            <a:endParaRPr lang="fr-FR" dirty="0"/>
          </a:p>
          <a:p>
            <a:pPr lvl="2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lowest</a:t>
            </a:r>
            <a:r>
              <a:rPr lang="fr-FR" dirty="0"/>
              <a:t> RTT and </a:t>
            </a:r>
            <a:r>
              <a:rPr lang="fr-FR" dirty="0" err="1"/>
              <a:t>highest</a:t>
            </a:r>
            <a:r>
              <a:rPr lang="fr-FR" dirty="0"/>
              <a:t> </a:t>
            </a:r>
            <a:r>
              <a:rPr lang="fr-FR" dirty="0" err="1"/>
              <a:t>throughput</a:t>
            </a:r>
            <a:endParaRPr lang="fr-FR" dirty="0"/>
          </a:p>
          <a:p>
            <a:r>
              <a:rPr lang="fr-FR" dirty="0" err="1"/>
              <a:t>What’s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  <a:p>
            <a:pPr lvl="1"/>
            <a:r>
              <a:rPr lang="fr-FR" dirty="0"/>
              <a:t>New </a:t>
            </a:r>
            <a:r>
              <a:rPr lang="fr-FR" dirty="0" err="1"/>
              <a:t>CCAs</a:t>
            </a:r>
            <a:r>
              <a:rPr lang="fr-FR" dirty="0"/>
              <a:t> are </a:t>
            </a:r>
            <a:r>
              <a:rPr lang="fr-FR" dirty="0" err="1"/>
              <a:t>specialised</a:t>
            </a:r>
            <a:endParaRPr lang="fr-FR" dirty="0"/>
          </a:p>
          <a:p>
            <a:pPr lvl="2"/>
            <a:r>
              <a:rPr lang="fr-FR" dirty="0" err="1"/>
              <a:t>PowerTCP</a:t>
            </a:r>
            <a:r>
              <a:rPr lang="fr-FR" dirty="0"/>
              <a:t> </a:t>
            </a:r>
            <a:r>
              <a:rPr lang="fr-FR" dirty="0" err="1"/>
              <a:t>usually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in Data Center</a:t>
            </a:r>
          </a:p>
          <a:p>
            <a:pPr lvl="1"/>
            <a:r>
              <a:rPr lang="fr-FR" dirty="0" err="1"/>
              <a:t>Other</a:t>
            </a:r>
            <a:r>
              <a:rPr lang="fr-FR" dirty="0"/>
              <a:t> types of networks</a:t>
            </a:r>
          </a:p>
          <a:p>
            <a:pPr lvl="2"/>
            <a:r>
              <a:rPr lang="fr-FR" dirty="0" err="1"/>
              <a:t>Satelite</a:t>
            </a:r>
            <a:r>
              <a:rPr lang="fr-FR" dirty="0"/>
              <a:t> communication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4" name="AutoShape 108">
            <a:extLst>
              <a:ext uri="{FF2B5EF4-FFF2-40B4-BE49-F238E27FC236}">
                <a16:creationId xmlns:a16="http://schemas.microsoft.com/office/drawing/2014/main" id="{26EB3517-C59C-4913-B51D-38F341585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725" y="5232400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Arial"/>
                <a:ea typeface="Arial"/>
                <a:cs typeface="Arial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29779898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0" y="1785956"/>
            <a:ext cx="9144000" cy="457200"/>
          </a:xfrm>
        </p:spPr>
        <p:txBody>
          <a:bodyPr/>
          <a:lstStyle/>
          <a:p>
            <a:pPr algn="ctr"/>
            <a:r>
              <a:rPr lang="en-US" dirty="0"/>
              <a:t>Thanks for listening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292C750-3E4F-4523-A410-59F7D19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48" y="1592421"/>
            <a:ext cx="7414903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58062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BDD0B2-56C3-4041-BFCA-E5A16D4D5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28" y="1490737"/>
            <a:ext cx="3330229" cy="13945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AAD38EE-0645-44BD-BC85-BA144298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472" y="1426485"/>
            <a:ext cx="5204774" cy="400503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5697F0F-B16E-4934-A399-747C0A102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145" y="2885318"/>
            <a:ext cx="3139712" cy="13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89918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AQDC 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255FF16-1400-402B-84FF-A008EE4EE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95" y="837086"/>
            <a:ext cx="5869459" cy="166339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A13896F-CA98-4DC5-9A7A-DEFE0EBD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3337" y="2500480"/>
            <a:ext cx="5381745" cy="274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97106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BBR-ES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0A8707-78EC-4AE7-9EF2-2DC06948B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591" y="891487"/>
            <a:ext cx="4849978" cy="503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09924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PowerTCP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756F8EB-19D0-469E-99E9-BF2D44281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949" y="1966855"/>
            <a:ext cx="5484101" cy="292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97450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72D32EF-5C40-454D-9A41-1C263730B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5191"/>
            <a:ext cx="9144000" cy="322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0352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ACCC9-AF87-4C15-A14D-62A62CD8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Anmerkungen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2CB69C-8900-4161-B167-8811993B85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Da TCP </a:t>
            </a:r>
            <a:r>
              <a:rPr lang="de-DE" dirty="0" err="1"/>
              <a:t>Cubic</a:t>
            </a:r>
            <a:r>
              <a:rPr lang="de-DE" dirty="0"/>
              <a:t> bei PCC und Copa ist kann man die miteinander vergleichen</a:t>
            </a:r>
          </a:p>
          <a:p>
            <a:r>
              <a:rPr lang="de-DE" dirty="0"/>
              <a:t>AQDC und BBR-ES mit BBR vergleichen</a:t>
            </a:r>
          </a:p>
          <a:p>
            <a:pPr lvl="1"/>
            <a:r>
              <a:rPr lang="de-DE" dirty="0"/>
              <a:t>Gleiches für Copa+ und Copa-D</a:t>
            </a:r>
          </a:p>
          <a:p>
            <a:r>
              <a:rPr lang="de-DE" dirty="0"/>
              <a:t>5 oder 6 Folien für </a:t>
            </a:r>
            <a:r>
              <a:rPr lang="de-DE" dirty="0" err="1"/>
              <a:t>Eval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machine</a:t>
            </a:r>
            <a:r>
              <a:rPr lang="de-DE" dirty="0"/>
              <a:t> für BBR:  </a:t>
            </a:r>
          </a:p>
          <a:p>
            <a:r>
              <a:rPr lang="de-DE" dirty="0"/>
              <a:t>Jains Fairness </a:t>
            </a:r>
            <a:r>
              <a:rPr lang="de-DE" dirty="0" err="1"/>
              <a:t>index</a:t>
            </a:r>
            <a:r>
              <a:rPr lang="de-DE" dirty="0"/>
              <a:t> eventuell weg wenn es nicht gebraucht wird</a:t>
            </a:r>
          </a:p>
          <a:p>
            <a:pPr lvl="1"/>
            <a:r>
              <a:rPr lang="de-DE" dirty="0"/>
              <a:t>Eher sowas wie </a:t>
            </a:r>
            <a:r>
              <a:rPr lang="de-DE" dirty="0" err="1"/>
              <a:t>throughtput</a:t>
            </a:r>
            <a:r>
              <a:rPr lang="de-DE" dirty="0"/>
              <a:t> und </a:t>
            </a:r>
            <a:r>
              <a:rPr lang="de-DE" dirty="0" err="1"/>
              <a:t>Qlen</a:t>
            </a:r>
            <a:r>
              <a:rPr lang="de-DE" dirty="0"/>
              <a:t> erklären</a:t>
            </a:r>
          </a:p>
          <a:p>
            <a:r>
              <a:rPr lang="de-DE" dirty="0"/>
              <a:t>Nochmal auf </a:t>
            </a:r>
            <a:r>
              <a:rPr lang="de-DE" dirty="0" err="1"/>
              <a:t>sprache</a:t>
            </a:r>
            <a:r>
              <a:rPr lang="de-DE" dirty="0"/>
              <a:t> gucken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2889782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Vorlesungen-Layout">
  <a:themeElements>
    <a:clrScheme name="Ds-Template">
      <a:dk1>
        <a:srgbClr val="000000"/>
      </a:dk1>
      <a:lt1>
        <a:sysClr val="window" lastClr="FFFFFF"/>
      </a:lt1>
      <a:dk2>
        <a:srgbClr val="000000"/>
      </a:dk2>
      <a:lt2>
        <a:srgbClr val="BBC0AC"/>
      </a:lt2>
      <a:accent1>
        <a:srgbClr val="EEAC19"/>
      </a:accent1>
      <a:accent2>
        <a:srgbClr val="E07602"/>
      </a:accent2>
      <a:accent3>
        <a:srgbClr val="9FF726"/>
      </a:accent3>
      <a:accent4>
        <a:srgbClr val="8BA8D3"/>
      </a:accent4>
      <a:accent5>
        <a:srgbClr val="21449B"/>
      </a:accent5>
      <a:accent6>
        <a:srgbClr val="5E82B7"/>
      </a:accent6>
      <a:hlink>
        <a:srgbClr val="DF7408"/>
      </a:hlink>
      <a:folHlink>
        <a:srgbClr val="DE720C"/>
      </a:folHlink>
    </a:clrScheme>
    <a:fontScheme name="Vorlesungen-Lay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lnDef>
  </a:objectDefaults>
  <a:extraClrSchemeLst>
    <a:extraClrScheme>
      <a:clrScheme name="Vorlesungen-Layo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esungen-Layou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1244</Words>
  <Application>Microsoft Office PowerPoint</Application>
  <PresentationFormat>Bildschirmpräsentation (4:3)</PresentationFormat>
  <Paragraphs>307</Paragraphs>
  <Slides>29</Slides>
  <Notes>27</Notes>
  <HiddenSlides>7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3" baseType="lpstr">
      <vt:lpstr>Wingdings 3</vt:lpstr>
      <vt:lpstr>Arial</vt:lpstr>
      <vt:lpstr>Wingdings 2</vt:lpstr>
      <vt:lpstr>Vorlesungen-Layout</vt:lpstr>
      <vt:lpstr>Modern Congestion Control Algorithms</vt:lpstr>
      <vt:lpstr>Motivation</vt:lpstr>
      <vt:lpstr>Motivation</vt:lpstr>
      <vt:lpstr>Goal of Congestion Control</vt:lpstr>
      <vt:lpstr>Background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Evaluation</vt:lpstr>
      <vt:lpstr>Evaluation</vt:lpstr>
      <vt:lpstr>Evaluation</vt:lpstr>
      <vt:lpstr>Evaluation</vt:lpstr>
      <vt:lpstr>Evaluation</vt:lpstr>
      <vt:lpstr>Evaluation</vt:lpstr>
      <vt:lpstr>Evaluation</vt:lpstr>
      <vt:lpstr>Conclusion</vt:lpstr>
      <vt:lpstr>Thanks for listening</vt:lpstr>
      <vt:lpstr>Evaluation</vt:lpstr>
      <vt:lpstr>Evaluation</vt:lpstr>
      <vt:lpstr>Evaluation</vt:lpstr>
      <vt:lpstr>Evaluation</vt:lpstr>
      <vt:lpstr>Evaluation</vt:lpstr>
      <vt:lpstr>Evaluation</vt:lpstr>
      <vt:lpstr>Anmerkungen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Template</dc:title>
  <dc:subject/>
  <dc:creator>Rainer Krogull</dc:creator>
  <cp:keywords/>
  <dc:description/>
  <cp:lastModifiedBy>Yannik Schreiter</cp:lastModifiedBy>
  <cp:revision>2161</cp:revision>
  <cp:lastPrinted>2009-03-26T18:25:42Z</cp:lastPrinted>
  <dcterms:created xsi:type="dcterms:W3CDTF">2009-04-03T11:12:54Z</dcterms:created>
  <dcterms:modified xsi:type="dcterms:W3CDTF">2026-07-19T18:54:33Z</dcterms:modified>
  <cp:category/>
</cp:coreProperties>
</file>