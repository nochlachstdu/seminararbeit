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>
  <p:sldMasterIdLst>
    <p:sldMasterId id="2147483650" r:id="rId1"/>
  </p:sldMasterIdLst>
  <p:notesMasterIdLst>
    <p:notesMasterId r:id="rId27"/>
  </p:notesMasterIdLst>
  <p:handoutMasterIdLst>
    <p:handoutMasterId r:id="rId28"/>
  </p:handoutMasterIdLst>
  <p:sldIdLst>
    <p:sldId id="930" r:id="rId2"/>
    <p:sldId id="954" r:id="rId3"/>
    <p:sldId id="955" r:id="rId4"/>
    <p:sldId id="956" r:id="rId5"/>
    <p:sldId id="957" r:id="rId6"/>
    <p:sldId id="958" r:id="rId7"/>
    <p:sldId id="959" r:id="rId8"/>
    <p:sldId id="960" r:id="rId9"/>
    <p:sldId id="961" r:id="rId10"/>
    <p:sldId id="962" r:id="rId11"/>
    <p:sldId id="941" r:id="rId12"/>
    <p:sldId id="953" r:id="rId13"/>
    <p:sldId id="942" r:id="rId14"/>
    <p:sldId id="952" r:id="rId15"/>
    <p:sldId id="951" r:id="rId16"/>
    <p:sldId id="943" r:id="rId17"/>
    <p:sldId id="944" r:id="rId18"/>
    <p:sldId id="945" r:id="rId19"/>
    <p:sldId id="946" r:id="rId20"/>
    <p:sldId id="947" r:id="rId21"/>
    <p:sldId id="948" r:id="rId22"/>
    <p:sldId id="949" r:id="rId23"/>
    <p:sldId id="950" r:id="rId24"/>
    <p:sldId id="933" r:id="rId25"/>
    <p:sldId id="887" r:id="rId26"/>
  </p:sldIdLst>
  <p:sldSz cx="9144000" cy="6858000" type="screen4x3"/>
  <p:notesSz cx="6797675" cy="9928225"/>
  <p:embeddedFontLst>
    <p:embeddedFont>
      <p:font typeface="Arial" panose="020B0604020202020204" pitchFamily="34" charset="0"/>
      <p:regular r:id="rId29"/>
      <p:bold r:id="rId30"/>
    </p:embeddedFont>
    <p:embeddedFont>
      <p:font typeface="Wingdings 2" panose="05020102010507070707" pitchFamily="18" charset="2"/>
      <p:regular r:id="rId31"/>
    </p:embeddedFont>
    <p:embeddedFont>
      <p:font typeface="Wingdings 3" panose="05040102010807070707" pitchFamily="18" charset="2"/>
      <p:regular r:id="rId32"/>
    </p:embeddedFont>
  </p:embeddedFontLst>
  <p:custDataLst>
    <p:tags r:id="rId33"/>
  </p:custDataLst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-106" charset="0"/>
        <a:ea typeface="Arial" pitchFamily="-106" charset="0"/>
        <a:cs typeface="Arial" pitchFamily="-106" charset="0"/>
      </a:defRPr>
    </a:lvl1pPr>
    <a:lvl2pPr marL="457200" algn="ctr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-106" charset="0"/>
        <a:ea typeface="Arial" pitchFamily="-106" charset="0"/>
        <a:cs typeface="Arial" pitchFamily="-106" charset="0"/>
      </a:defRPr>
    </a:lvl2pPr>
    <a:lvl3pPr marL="914400" algn="ctr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-106" charset="0"/>
        <a:ea typeface="Arial" pitchFamily="-106" charset="0"/>
        <a:cs typeface="Arial" pitchFamily="-106" charset="0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-106" charset="0"/>
        <a:ea typeface="Arial" pitchFamily="-106" charset="0"/>
        <a:cs typeface="Arial" pitchFamily="-106" charset="0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-106" charset="0"/>
        <a:ea typeface="Arial" pitchFamily="-106" charset="0"/>
        <a:cs typeface="Arial" pitchFamily="-106" charset="0"/>
      </a:defRPr>
    </a:lvl5pPr>
    <a:lvl6pPr marL="2286000" algn="l" defTabSz="457200" rtl="0" eaLnBrk="1" latinLnBrk="0" hangingPunct="1">
      <a:defRPr sz="1400" kern="1200">
        <a:solidFill>
          <a:schemeClr val="tx1"/>
        </a:solidFill>
        <a:latin typeface="Arial" pitchFamily="-106" charset="0"/>
        <a:ea typeface="Arial" pitchFamily="-106" charset="0"/>
        <a:cs typeface="Arial" pitchFamily="-106" charset="0"/>
      </a:defRPr>
    </a:lvl6pPr>
    <a:lvl7pPr marL="2743200" algn="l" defTabSz="457200" rtl="0" eaLnBrk="1" latinLnBrk="0" hangingPunct="1">
      <a:defRPr sz="1400" kern="1200">
        <a:solidFill>
          <a:schemeClr val="tx1"/>
        </a:solidFill>
        <a:latin typeface="Arial" pitchFamily="-106" charset="0"/>
        <a:ea typeface="Arial" pitchFamily="-106" charset="0"/>
        <a:cs typeface="Arial" pitchFamily="-106" charset="0"/>
      </a:defRPr>
    </a:lvl7pPr>
    <a:lvl8pPr marL="3200400" algn="l" defTabSz="457200" rtl="0" eaLnBrk="1" latinLnBrk="0" hangingPunct="1">
      <a:defRPr sz="1400" kern="1200">
        <a:solidFill>
          <a:schemeClr val="tx1"/>
        </a:solidFill>
        <a:latin typeface="Arial" pitchFamily="-106" charset="0"/>
        <a:ea typeface="Arial" pitchFamily="-106" charset="0"/>
        <a:cs typeface="Arial" pitchFamily="-106" charset="0"/>
      </a:defRPr>
    </a:lvl8pPr>
    <a:lvl9pPr marL="3657600" algn="l" defTabSz="457200" rtl="0" eaLnBrk="1" latinLnBrk="0" hangingPunct="1">
      <a:defRPr sz="1400" kern="1200">
        <a:solidFill>
          <a:schemeClr val="tx1"/>
        </a:solidFill>
        <a:latin typeface="Arial" pitchFamily="-106" charset="0"/>
        <a:ea typeface="Arial" pitchFamily="-106" charset="0"/>
        <a:cs typeface="Arial" pitchFamily="-106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101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6">
          <p15:clr>
            <a:srgbClr val="A4A3A4"/>
          </p15:clr>
        </p15:guide>
        <p15:guide id="2" pos="2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 frameSlides="1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290"/>
    <a:srgbClr val="AABBD9"/>
    <a:srgbClr val="9CB5DF"/>
    <a:srgbClr val="617DAB"/>
    <a:srgbClr val="FFB7A6"/>
    <a:srgbClr val="00418F"/>
    <a:srgbClr val="66A1DB"/>
    <a:srgbClr val="3E5C93"/>
    <a:srgbClr val="456399"/>
    <a:srgbClr val="E73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45" autoAdjust="0"/>
    <p:restoredTop sz="96405" autoAdjust="0"/>
  </p:normalViewPr>
  <p:slideViewPr>
    <p:cSldViewPr snapToGrid="0">
      <p:cViewPr varScale="1">
        <p:scale>
          <a:sx n="161" d="100"/>
          <a:sy n="161" d="100"/>
        </p:scale>
        <p:origin x="1878" y="144"/>
      </p:cViewPr>
      <p:guideLst>
        <p:guide orient="horz" pos="2160"/>
        <p:guide pos="1010"/>
      </p:guideLst>
    </p:cSldViewPr>
  </p:slideViewPr>
  <p:outlineViewPr>
    <p:cViewPr>
      <p:scale>
        <a:sx n="33" d="100"/>
        <a:sy n="33" d="100"/>
      </p:scale>
      <p:origin x="0" y="-851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456"/>
    </p:cViewPr>
  </p:sorterViewPr>
  <p:notesViewPr>
    <p:cSldViewPr snapToGrid="0">
      <p:cViewPr>
        <p:scale>
          <a:sx n="100" d="100"/>
          <a:sy n="100" d="100"/>
        </p:scale>
        <p:origin x="8104" y="1960"/>
      </p:cViewPr>
      <p:guideLst>
        <p:guide orient="horz" pos="3106"/>
        <p:guide pos="21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2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00475" y="0"/>
            <a:ext cx="299720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909" tIns="46946" rIns="93909" bIns="46946" numCol="1" anchor="t" anchorCtr="0" compatLnSpc="1">
            <a:prstTxWarp prst="textNoShape">
              <a:avLst/>
            </a:prstTxWarp>
          </a:bodyPr>
          <a:lstStyle>
            <a:lvl1pPr algn="r" defTabSz="4422775">
              <a:defRPr sz="18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>
              <a:latin typeface="Arial"/>
            </a:endParaRP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12725" y="9482138"/>
            <a:ext cx="2927350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909" tIns="46946" rIns="93909" bIns="46946" numCol="1" anchor="b" anchorCtr="0" compatLnSpc="1">
            <a:prstTxWarp prst="textNoShape">
              <a:avLst/>
            </a:prstTxWarp>
          </a:bodyPr>
          <a:lstStyle>
            <a:lvl1pPr algn="l" defTabSz="4422775">
              <a:defRPr sz="18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>
              <a:latin typeface="Arial"/>
            </a:endParaRP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586163" y="9482138"/>
            <a:ext cx="2998787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909" tIns="46946" rIns="93909" bIns="46946" numCol="1" anchor="b" anchorCtr="0" compatLnSpc="1">
            <a:prstTxWarp prst="textNoShape">
              <a:avLst/>
            </a:prstTxWarp>
          </a:bodyPr>
          <a:lstStyle>
            <a:lvl1pPr algn="r" defTabSz="4422775">
              <a:defRPr sz="18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>
              <a:latin typeface="Arial"/>
            </a:endParaRPr>
          </a:p>
        </p:txBody>
      </p:sp>
      <p:sp>
        <p:nvSpPr>
          <p:cNvPr id="17418" name="Text Box 10"/>
          <p:cNvSpPr txBox="1">
            <a:spLocks noChangeArrowheads="1"/>
          </p:cNvSpPr>
          <p:nvPr/>
        </p:nvSpPr>
        <p:spPr bwMode="auto">
          <a:xfrm>
            <a:off x="6493541" y="0"/>
            <a:ext cx="185072" cy="369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641" tIns="45829" rIns="91641" bIns="45829">
            <a:prstTxWarp prst="textNoShape">
              <a:avLst/>
            </a:prstTxWarp>
            <a:spAutoFit/>
          </a:bodyPr>
          <a:lstStyle/>
          <a:p>
            <a:pPr algn="r" defTabSz="4422775">
              <a:defRPr/>
            </a:pPr>
            <a:endParaRPr lang="en-US" sz="1800" dirty="0">
              <a:latin typeface="Arial"/>
              <a:ea typeface="Arial"/>
              <a:cs typeface="Arial"/>
            </a:endParaRPr>
          </a:p>
        </p:txBody>
      </p:sp>
      <p:sp>
        <p:nvSpPr>
          <p:cNvPr id="17420" name="Rectangle 12"/>
          <p:cNvSpPr>
            <a:spLocks noChangeArrowheads="1"/>
          </p:cNvSpPr>
          <p:nvPr/>
        </p:nvSpPr>
        <p:spPr bwMode="auto">
          <a:xfrm>
            <a:off x="566738" y="0"/>
            <a:ext cx="4505325" cy="37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982" tIns="45481" rIns="90982" bIns="45481">
            <a:prstTxWarp prst="textNoShape">
              <a:avLst/>
            </a:prstTxWarp>
            <a:spAutoFit/>
          </a:bodyPr>
          <a:lstStyle/>
          <a:p>
            <a:pPr algn="l" defTabSz="4422775">
              <a:defRPr/>
            </a:pPr>
            <a:endParaRPr lang="en-US" sz="1800" dirty="0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08619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7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909" tIns="46946" rIns="93909" bIns="46946" numCol="1" anchor="t" anchorCtr="0" compatLnSpc="1">
            <a:prstTxWarp prst="textNoShape">
              <a:avLst/>
            </a:prstTxWarp>
          </a:bodyPr>
          <a:lstStyle>
            <a:lvl1pPr algn="l" defTabSz="4422775">
              <a:defRPr sz="1800"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4288" y="0"/>
            <a:ext cx="2951162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909" tIns="46946" rIns="93909" bIns="46946" numCol="1" anchor="t" anchorCtr="0" compatLnSpc="1">
            <a:prstTxWarp prst="textNoShape">
              <a:avLst/>
            </a:prstTxWarp>
          </a:bodyPr>
          <a:lstStyle>
            <a:lvl1pPr algn="r" defTabSz="4422775">
              <a:defRPr sz="1800"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84238" y="723900"/>
            <a:ext cx="5005387" cy="37544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6938" y="4722813"/>
            <a:ext cx="4957762" cy="4481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909" tIns="46946" rIns="93909" bIns="4694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Klicken Sie, um die Formate des Vorlagentextes zu bearbeiten</a:t>
            </a:r>
          </a:p>
          <a:p>
            <a:pPr lvl="1"/>
            <a:r>
              <a:rPr lang="en-US" noProof="0" dirty="0"/>
              <a:t>Zweite Ebene</a:t>
            </a:r>
          </a:p>
          <a:p>
            <a:pPr lvl="2"/>
            <a:r>
              <a:rPr lang="en-US" noProof="0" dirty="0"/>
              <a:t>Dritte Ebene</a:t>
            </a:r>
          </a:p>
          <a:p>
            <a:pPr lvl="3"/>
            <a:r>
              <a:rPr lang="en-US" noProof="0" dirty="0"/>
              <a:t>Vierte Ebene</a:t>
            </a:r>
          </a:p>
          <a:p>
            <a:pPr lvl="4"/>
            <a:r>
              <a:rPr lang="en-US" noProof="0" dirty="0"/>
              <a:t>Fünfte Ebene</a:t>
            </a: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4038"/>
            <a:ext cx="2927350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909" tIns="46946" rIns="93909" bIns="46946" numCol="1" anchor="b" anchorCtr="0" compatLnSpc="1">
            <a:prstTxWarp prst="textNoShape">
              <a:avLst/>
            </a:prstTxWarp>
          </a:bodyPr>
          <a:lstStyle>
            <a:lvl1pPr algn="l" defTabSz="4422775">
              <a:defRPr sz="1800"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86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4288" y="9444038"/>
            <a:ext cx="2951162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909" tIns="46946" rIns="93909" bIns="46946" numCol="1" anchor="b" anchorCtr="0" compatLnSpc="1">
            <a:prstTxWarp prst="textNoShape">
              <a:avLst/>
            </a:prstTxWarp>
          </a:bodyPr>
          <a:lstStyle>
            <a:lvl1pPr algn="r" defTabSz="4422775">
              <a:defRPr sz="1800">
                <a:latin typeface="Arial"/>
                <a:ea typeface="Arial"/>
                <a:cs typeface="Arial"/>
              </a:defRPr>
            </a:lvl1pPr>
          </a:lstStyle>
          <a:p>
            <a:pPr>
              <a:defRPr/>
            </a:pPr>
            <a:fld id="{D197666C-D6B8-904D-B8F2-816FE66458F0}" type="slidenum">
              <a:rPr lang="en-US" smtClean="0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0155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Arial"/>
        <a:cs typeface="Arial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Arial"/>
        <a:cs typeface="Arial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Arial"/>
        <a:cs typeface="Arial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Arial"/>
        <a:cs typeface="Arial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Arial"/>
        <a:cs typeface="Arial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97666C-D6B8-904D-B8F2-816FE66458F0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97666C-D6B8-904D-B8F2-816FE66458F0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2259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97666C-D6B8-904D-B8F2-816FE66458F0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4619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97666C-D6B8-904D-B8F2-816FE66458F0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4420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97666C-D6B8-904D-B8F2-816FE66458F0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476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97666C-D6B8-904D-B8F2-816FE66458F0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3070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97666C-D6B8-904D-B8F2-816FE66458F0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6380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97666C-D6B8-904D-B8F2-816FE66458F0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0354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97666C-D6B8-904D-B8F2-816FE66458F0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3930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97666C-D6B8-904D-B8F2-816FE66458F0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1719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97666C-D6B8-904D-B8F2-816FE66458F0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5922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Animation + text </a:t>
            </a:r>
            <a:r>
              <a:rPr lang="en-US" noProof="0" dirty="0" err="1"/>
              <a:t>mit</a:t>
            </a:r>
            <a:r>
              <a:rPr lang="en-US" noProof="0" dirty="0"/>
              <a:t> </a:t>
            </a:r>
            <a:r>
              <a:rPr lang="en-US" noProof="0" dirty="0" err="1"/>
              <a:t>klammer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97666C-D6B8-904D-B8F2-816FE66458F0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How</a:t>
            </a:r>
            <a:r>
              <a:rPr lang="en-US" baseline="0" noProof="0" dirty="0"/>
              <a:t> can this work in multi-hop networks?</a:t>
            </a:r>
          </a:p>
          <a:p>
            <a:r>
              <a:rPr lang="en-US" baseline="0" noProof="0" dirty="0"/>
              <a:t>This is not useful.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97666C-D6B8-904D-B8F2-816FE66458F0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- Sky">
    <p:bg>
      <p:bgPr>
        <a:gradFill rotWithShape="0">
          <a:gsLst>
            <a:gs pos="0">
              <a:srgbClr val="9FB5D9"/>
            </a:gs>
            <a:gs pos="100000">
              <a:srgbClr val="598CC8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1113" y="5965825"/>
            <a:ext cx="4572000" cy="338138"/>
          </a:xfrm>
          <a:prstGeom prst="rect">
            <a:avLst/>
          </a:prstGeom>
        </p:spPr>
        <p:txBody>
          <a:bodyPr>
            <a:prstTxWarp prst="textNoShape">
              <a:avLst/>
            </a:prstTxWarp>
            <a:spAutoFit/>
          </a:bodyPr>
          <a:lstStyle/>
          <a:p>
            <a:pPr algn="l" eaLnBrk="1" hangingPunct="1">
              <a:spcBef>
                <a:spcPct val="20000"/>
              </a:spcBef>
              <a:defRPr/>
            </a:pPr>
            <a:r>
              <a:rPr lang="en-US" sz="1600" noProof="0">
                <a:solidFill>
                  <a:srgbClr val="0D2766"/>
                </a:solidFill>
                <a:latin typeface="Arial"/>
                <a:ea typeface="Arial"/>
                <a:cs typeface="Arial"/>
              </a:rPr>
              <a:t>https://comsys.rwth-aachen.de/</a:t>
            </a:r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0" y="1095375"/>
            <a:ext cx="9144000" cy="233362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r" eaLnBrk="1" hangingPunct="1">
              <a:spcBef>
                <a:spcPct val="20000"/>
              </a:spcBef>
              <a:defRPr/>
            </a:pPr>
            <a:endParaRPr lang="en-US" sz="1200" noProof="0">
              <a:latin typeface="Arial"/>
              <a:ea typeface="Arial"/>
              <a:cs typeface="Arial"/>
            </a:endParaRPr>
          </a:p>
        </p:txBody>
      </p:sp>
      <p:sp>
        <p:nvSpPr>
          <p:cNvPr id="7" name="Rectangle 6"/>
          <p:cNvSpPr/>
          <p:nvPr userDrawn="1"/>
        </p:nvSpPr>
        <p:spPr bwMode="auto">
          <a:xfrm>
            <a:off x="0" y="3352800"/>
            <a:ext cx="9144000" cy="2286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prstTxWarp prst="textNoShape">
              <a:avLst/>
            </a:prstTxWarp>
          </a:bodyPr>
          <a:lstStyle/>
          <a:p>
            <a:pPr marL="342900" indent="-342900" algn="l" eaLnBrk="1" hangingPunct="1">
              <a:spcBef>
                <a:spcPct val="20000"/>
              </a:spcBef>
              <a:buFontTx/>
              <a:buChar char="•"/>
              <a:defRPr/>
            </a:pPr>
            <a:endParaRPr lang="en-US" sz="1600" noProof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789362" y="1702828"/>
            <a:ext cx="5354637" cy="457200"/>
          </a:xfrm>
          <a:prstGeom prst="rect">
            <a:avLst/>
          </a:prstGeom>
        </p:spPr>
        <p:txBody>
          <a:bodyPr lIns="0" rIns="180000"/>
          <a:lstStyle>
            <a:lvl1pPr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endParaRPr lang="en-US" noProof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3789363" y="2356346"/>
            <a:ext cx="5354637" cy="914400"/>
          </a:xfrm>
        </p:spPr>
        <p:txBody>
          <a:bodyPr lIns="0" rIns="180000"/>
          <a:lstStyle>
            <a:lvl1pPr>
              <a:buNone/>
              <a:defRPr b="1">
                <a:solidFill>
                  <a:srgbClr val="5C8FCA"/>
                </a:solidFill>
                <a:latin typeface="Arial"/>
                <a:cs typeface="Arial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0" name="Rectangle 9"/>
          <p:cNvSpPr/>
          <p:nvPr userDrawn="1"/>
        </p:nvSpPr>
        <p:spPr bwMode="auto">
          <a:xfrm>
            <a:off x="-7938" y="6375400"/>
            <a:ext cx="9159876" cy="482600"/>
          </a:xfrm>
          <a:prstGeom prst="rect">
            <a:avLst/>
          </a:prstGeom>
          <a:gradFill>
            <a:gsLst>
              <a:gs pos="23000">
                <a:srgbClr val="E4E4E4"/>
              </a:gs>
              <a:gs pos="100000">
                <a:srgbClr val="F8FBFF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prstTxWarp prst="textNoShape">
              <a:avLst/>
            </a:prstTxWarp>
          </a:bodyPr>
          <a:lstStyle/>
          <a:p>
            <a:pPr marL="342900" indent="-342900" algn="l" eaLnBrk="1" hangingPunct="1">
              <a:spcBef>
                <a:spcPct val="20000"/>
              </a:spcBef>
              <a:buFontTx/>
              <a:buChar char="•"/>
              <a:defRPr/>
            </a:pPr>
            <a:endParaRPr lang="en-US" sz="1600" noProof="0">
              <a:latin typeface="Arial"/>
              <a:ea typeface="Arial"/>
              <a:cs typeface="Arial"/>
            </a:endParaRPr>
          </a:p>
        </p:txBody>
      </p:sp>
      <p:pic>
        <p:nvPicPr>
          <p:cNvPr id="2" name="Picture 1" descr="rwth_comsys_bild_cmyk.pd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7233" y="6409415"/>
            <a:ext cx="2030415" cy="396178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- Sea">
    <p:bg>
      <p:bgPr>
        <a:gradFill rotWithShape="0">
          <a:gsLst>
            <a:gs pos="0">
              <a:srgbClr val="0D2766"/>
            </a:gs>
            <a:gs pos="100000">
              <a:srgbClr val="9FB5D8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1113" y="5965825"/>
            <a:ext cx="4572000" cy="338138"/>
          </a:xfrm>
          <a:prstGeom prst="rect">
            <a:avLst/>
          </a:prstGeom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l" eaLnBrk="1" hangingPunct="1">
              <a:spcBef>
                <a:spcPct val="20000"/>
              </a:spcBef>
              <a:defRPr/>
            </a:pPr>
            <a:r>
              <a:rPr lang="en-US" sz="1600" noProof="0">
                <a:solidFill>
                  <a:schemeClr val="bg1"/>
                </a:solidFill>
                <a:latin typeface="Arial"/>
                <a:ea typeface="Arial"/>
                <a:cs typeface="Arial"/>
              </a:rPr>
              <a:t>https://comsys.rwth-aachen.de/</a:t>
            </a:r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0" y="1095375"/>
            <a:ext cx="9144000" cy="23336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r" eaLnBrk="1" hangingPunct="1">
              <a:spcBef>
                <a:spcPct val="20000"/>
              </a:spcBef>
              <a:defRPr/>
            </a:pPr>
            <a:endParaRPr lang="en-US" sz="1200" noProof="0">
              <a:latin typeface="Arial"/>
              <a:ea typeface="Arial"/>
              <a:cs typeface="Arial"/>
            </a:endParaRPr>
          </a:p>
        </p:txBody>
      </p:sp>
      <p:sp>
        <p:nvSpPr>
          <p:cNvPr id="7" name="Rectangle 6"/>
          <p:cNvSpPr/>
          <p:nvPr userDrawn="1"/>
        </p:nvSpPr>
        <p:spPr bwMode="auto">
          <a:xfrm>
            <a:off x="0" y="3352800"/>
            <a:ext cx="9144000" cy="228600"/>
          </a:xfrm>
          <a:prstGeom prst="rect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35000">
                <a:schemeClr val="bg1">
                  <a:lumMod val="75000"/>
                </a:schemeClr>
              </a:gs>
              <a:gs pos="100000">
                <a:schemeClr val="bg1">
                  <a:lumMod val="85000"/>
                </a:schemeClr>
              </a:gs>
            </a:gsLst>
          </a:gradFill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prstTxWarp prst="textNoShape">
              <a:avLst/>
            </a:prstTxWarp>
          </a:bodyPr>
          <a:lstStyle/>
          <a:p>
            <a:pPr marL="342900" indent="-342900" algn="l" eaLnBrk="1" hangingPunct="1">
              <a:spcBef>
                <a:spcPct val="20000"/>
              </a:spcBef>
              <a:buFontTx/>
              <a:buChar char="•"/>
              <a:defRPr/>
            </a:pPr>
            <a:endParaRPr lang="en-US" sz="1600" noProof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789362" y="1702828"/>
            <a:ext cx="5354637" cy="457200"/>
          </a:xfrm>
          <a:prstGeom prst="rect">
            <a:avLst/>
          </a:prstGeom>
        </p:spPr>
        <p:txBody>
          <a:bodyPr lIns="0" rIns="180000"/>
          <a:lstStyle>
            <a:lvl1pPr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endParaRPr lang="en-US" noProof="0"/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3789363" y="2356346"/>
            <a:ext cx="5354637" cy="914400"/>
          </a:xfrm>
        </p:spPr>
        <p:txBody>
          <a:bodyPr lIns="0" rIns="180000"/>
          <a:lstStyle>
            <a:lvl1pPr marL="342900" marR="0" indent="-3429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418F"/>
              </a:buClr>
              <a:buSzTx/>
              <a:buFont typeface="Wingdings 2" pitchFamily="-106" charset="2"/>
              <a:buNone/>
              <a:tabLst/>
              <a:defRPr b="1">
                <a:solidFill>
                  <a:srgbClr val="5E76A6"/>
                </a:solidFill>
                <a:latin typeface="Arial"/>
                <a:cs typeface="Arial"/>
              </a:defRPr>
            </a:lvl1pPr>
          </a:lstStyle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418F"/>
              </a:buClr>
              <a:buSzTx/>
              <a:buFont typeface="Wingdings 2" pitchFamily="-106" charset="2"/>
              <a:buNone/>
              <a:tabLst/>
              <a:defRPr/>
            </a:pPr>
            <a:endParaRPr lang="en-US" noProof="0"/>
          </a:p>
        </p:txBody>
      </p:sp>
      <p:sp>
        <p:nvSpPr>
          <p:cNvPr id="10" name="Rectangle 9"/>
          <p:cNvSpPr/>
          <p:nvPr userDrawn="1"/>
        </p:nvSpPr>
        <p:spPr bwMode="auto">
          <a:xfrm>
            <a:off x="-7938" y="6375400"/>
            <a:ext cx="9159876" cy="482600"/>
          </a:xfrm>
          <a:prstGeom prst="rect">
            <a:avLst/>
          </a:prstGeom>
          <a:gradFill>
            <a:gsLst>
              <a:gs pos="23000">
                <a:srgbClr val="E4E4E4"/>
              </a:gs>
              <a:gs pos="100000">
                <a:srgbClr val="F8FBFF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prstTxWarp prst="textNoShape">
              <a:avLst/>
            </a:prstTxWarp>
          </a:bodyPr>
          <a:lstStyle/>
          <a:p>
            <a:pPr marL="342900" indent="-342900" algn="l" eaLnBrk="1" hangingPunct="1">
              <a:spcBef>
                <a:spcPct val="20000"/>
              </a:spcBef>
              <a:buFontTx/>
              <a:buChar char="•"/>
              <a:defRPr/>
            </a:pPr>
            <a:endParaRPr lang="en-US" sz="1600" noProof="0">
              <a:latin typeface="Arial"/>
              <a:ea typeface="Arial"/>
              <a:cs typeface="Arial"/>
            </a:endParaRPr>
          </a:p>
        </p:txBody>
      </p:sp>
      <p:pic>
        <p:nvPicPr>
          <p:cNvPr id="14" name="Picture 13" descr="rwth_comsys_bild_cmyk.pd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7233" y="6409415"/>
            <a:ext cx="2030415" cy="396178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-sky-blue">
    <p:bg>
      <p:bgPr>
        <a:gradFill rotWithShape="0">
          <a:gsLst>
            <a:gs pos="0">
              <a:srgbClr val="9FB5D9"/>
            </a:gs>
            <a:gs pos="100000">
              <a:srgbClr val="598CC8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1095375"/>
            <a:ext cx="9144000" cy="233362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r" eaLnBrk="1" hangingPunct="1">
              <a:spcBef>
                <a:spcPct val="20000"/>
              </a:spcBef>
              <a:defRPr/>
            </a:pPr>
            <a:endParaRPr lang="en-US" sz="1200" noProof="0">
              <a:latin typeface="Arial"/>
              <a:ea typeface="Arial"/>
              <a:cs typeface="Arial"/>
            </a:endParaRPr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0" y="3352800"/>
            <a:ext cx="9144000" cy="2286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prstTxWarp prst="textNoShape">
              <a:avLst/>
            </a:prstTxWarp>
          </a:bodyPr>
          <a:lstStyle/>
          <a:p>
            <a:pPr marL="342900" indent="-342900" algn="l" eaLnBrk="1" hangingPunct="1">
              <a:spcBef>
                <a:spcPct val="20000"/>
              </a:spcBef>
              <a:buFontTx/>
              <a:buChar char="•"/>
              <a:defRPr/>
            </a:pPr>
            <a:endParaRPr lang="en-US" sz="1600" noProof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789362" y="1702828"/>
            <a:ext cx="5354637" cy="457200"/>
          </a:xfrm>
          <a:prstGeom prst="rect">
            <a:avLst/>
          </a:prstGeom>
        </p:spPr>
        <p:txBody>
          <a:bodyPr lIns="0" rIns="180000"/>
          <a:lstStyle>
            <a:lvl1pPr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endParaRPr lang="en-US" noProof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3789363" y="2356346"/>
            <a:ext cx="5354637" cy="914400"/>
          </a:xfrm>
        </p:spPr>
        <p:txBody>
          <a:bodyPr lIns="0" rIns="180000"/>
          <a:lstStyle>
            <a:lvl1pPr>
              <a:buNone/>
              <a:defRPr b="1">
                <a:solidFill>
                  <a:srgbClr val="5C8FCA"/>
                </a:solidFill>
                <a:latin typeface="Arial"/>
                <a:cs typeface="Arial"/>
              </a:defRPr>
            </a:lvl1pPr>
          </a:lstStyle>
          <a:p>
            <a:pPr lvl="0"/>
            <a:endParaRPr lang="en-US" noProof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-seablue">
    <p:bg>
      <p:bgPr>
        <a:gradFill rotWithShape="0">
          <a:gsLst>
            <a:gs pos="0">
              <a:srgbClr val="0D2766"/>
            </a:gs>
            <a:gs pos="100000">
              <a:srgbClr val="9FB5D8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1095375"/>
            <a:ext cx="9144000" cy="23336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r" eaLnBrk="1" hangingPunct="1">
              <a:spcBef>
                <a:spcPct val="20000"/>
              </a:spcBef>
              <a:defRPr/>
            </a:pPr>
            <a:endParaRPr lang="en-US" sz="1200" noProof="0">
              <a:latin typeface="Arial"/>
              <a:ea typeface="Arial"/>
              <a:cs typeface="Arial"/>
            </a:endParaRPr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0" y="3352800"/>
            <a:ext cx="9144000" cy="228600"/>
          </a:xfrm>
          <a:prstGeom prst="rect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35000">
                <a:schemeClr val="bg1">
                  <a:lumMod val="75000"/>
                </a:schemeClr>
              </a:gs>
              <a:gs pos="100000">
                <a:schemeClr val="bg1">
                  <a:lumMod val="85000"/>
                </a:schemeClr>
              </a:gs>
            </a:gsLst>
          </a:gradFill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prstTxWarp prst="textNoShape">
              <a:avLst/>
            </a:prstTxWarp>
          </a:bodyPr>
          <a:lstStyle/>
          <a:p>
            <a:pPr marL="342900" indent="-342900" algn="l" eaLnBrk="1" hangingPunct="1">
              <a:spcBef>
                <a:spcPct val="20000"/>
              </a:spcBef>
              <a:buFontTx/>
              <a:buChar char="•"/>
              <a:defRPr/>
            </a:pPr>
            <a:endParaRPr lang="en-US" sz="1600" noProof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789362" y="1702828"/>
            <a:ext cx="5354637" cy="457200"/>
          </a:xfrm>
          <a:prstGeom prst="rect">
            <a:avLst/>
          </a:prstGeom>
        </p:spPr>
        <p:txBody>
          <a:bodyPr lIns="0" rIns="180000"/>
          <a:lstStyle>
            <a:lvl1pPr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endParaRPr lang="en-US" noProof="0"/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3789363" y="2356346"/>
            <a:ext cx="5354637" cy="914400"/>
          </a:xfrm>
        </p:spPr>
        <p:txBody>
          <a:bodyPr lIns="0" rIns="180000"/>
          <a:lstStyle>
            <a:lvl1pPr>
              <a:buNone/>
              <a:defRPr b="1">
                <a:solidFill>
                  <a:srgbClr val="5E76A6"/>
                </a:solidFill>
                <a:latin typeface="Arial"/>
                <a:cs typeface="Arial"/>
              </a:defRPr>
            </a:lvl1pPr>
          </a:lstStyle>
          <a:p>
            <a:pPr lvl="0"/>
            <a:endParaRPr lang="en-US" noProof="0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688" y="103188"/>
            <a:ext cx="8756650" cy="457200"/>
          </a:xfrm>
          <a:prstGeom prst="rect">
            <a:avLst/>
          </a:prstGeom>
        </p:spPr>
        <p:txBody>
          <a:bodyPr/>
          <a:lstStyle>
            <a:lvl1pPr>
              <a:defRPr b="1">
                <a:latin typeface="Arial"/>
                <a:ea typeface="Arial"/>
                <a:cs typeface="Arial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207806" y="891487"/>
            <a:ext cx="8756062" cy="5311697"/>
          </a:xfrm>
        </p:spPr>
        <p:txBody>
          <a:bodyPr/>
          <a:lstStyle>
            <a:lvl1pPr>
              <a:buClr>
                <a:srgbClr val="004290"/>
              </a:buClr>
              <a:defRPr b="1">
                <a:solidFill>
                  <a:srgbClr val="004290"/>
                </a:solidFill>
                <a:latin typeface="Arial"/>
                <a:cs typeface="Arial"/>
              </a:defRPr>
            </a:lvl1pPr>
            <a:lvl2pPr>
              <a:buClr>
                <a:srgbClr val="004290"/>
              </a:buClr>
              <a:defRPr>
                <a:latin typeface="Arial"/>
                <a:cs typeface="Arial"/>
              </a:defRPr>
            </a:lvl2pPr>
            <a:lvl3pPr>
              <a:buClr>
                <a:srgbClr val="004290"/>
              </a:buClr>
              <a:defRPr>
                <a:latin typeface="Arial"/>
                <a:cs typeface="Arial"/>
              </a:defRPr>
            </a:lvl3pPr>
            <a:lvl4pPr>
              <a:buClr>
                <a:srgbClr val="004290"/>
              </a:buClr>
              <a:defRPr>
                <a:latin typeface="Arial"/>
                <a:cs typeface="Arial"/>
              </a:defRPr>
            </a:lvl4pPr>
            <a:lvl5pPr>
              <a:buClr>
                <a:srgbClr val="004290"/>
              </a:buClr>
              <a:defRPr>
                <a:latin typeface="Arial"/>
                <a:cs typeface="Arial"/>
              </a:defRPr>
            </a:lvl5pPr>
            <a:lvl6pPr>
              <a:defRPr>
                <a:latin typeface="Arial" panose="020B0604020202020204" pitchFamily="34" charset="0"/>
                <a:cs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  <a:cs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5814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Eigth level</a:t>
            </a:r>
          </a:p>
          <a:p>
            <a:pPr lvl="8"/>
            <a:r>
              <a:rPr lang="en-US" noProof="0"/>
              <a:t>Nineth level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688" y="103188"/>
            <a:ext cx="8756650" cy="457200"/>
          </a:xfrm>
          <a:prstGeom prst="rect">
            <a:avLst/>
          </a:prstGeom>
        </p:spPr>
        <p:txBody>
          <a:bodyPr/>
          <a:lstStyle>
            <a:lvl1pPr>
              <a:defRPr b="1">
                <a:latin typeface="Arial"/>
                <a:ea typeface="Arial"/>
                <a:cs typeface="Arial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1"/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121751" y="6434138"/>
            <a:ext cx="34310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rIns="0">
            <a:prstTxWarp prst="textNoShape">
              <a:avLst/>
            </a:prstTxWarp>
            <a:spAutoFit/>
          </a:bodyPr>
          <a:lstStyle/>
          <a:p>
            <a:pPr algn="r">
              <a:defRPr/>
            </a:pPr>
            <a:fld id="{C4701650-41B2-7A4D-B223-84DBE99DBB49}" type="slidenum">
              <a:rPr lang="en-US" sz="1600" noProof="0">
                <a:solidFill>
                  <a:srgbClr val="004290"/>
                </a:solidFill>
                <a:latin typeface="Arial"/>
                <a:ea typeface="Arial"/>
                <a:cs typeface="Arial"/>
              </a:rPr>
              <a:pPr algn="r">
                <a:defRPr/>
              </a:pPr>
              <a:t>‹Nr.›</a:t>
            </a:fld>
            <a:endParaRPr lang="en-US" sz="1600" noProof="0">
              <a:solidFill>
                <a:srgbClr val="00429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688" y="103188"/>
            <a:ext cx="8756650" cy="457200"/>
          </a:xfrm>
          <a:prstGeom prst="rect">
            <a:avLst/>
          </a:prstGeom>
        </p:spPr>
        <p:txBody>
          <a:bodyPr/>
          <a:lstStyle>
            <a:lvl1pPr>
              <a:defRPr b="1">
                <a:latin typeface="Arial"/>
                <a:ea typeface="Arial"/>
                <a:cs typeface="Arial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73474" y="769377"/>
            <a:ext cx="8890394" cy="5922248"/>
          </a:xfrm>
        </p:spPr>
        <p:txBody>
          <a:bodyPr/>
          <a:lstStyle>
            <a:lvl1pPr>
              <a:buClr>
                <a:srgbClr val="004290"/>
              </a:buClr>
              <a:defRPr b="1">
                <a:solidFill>
                  <a:srgbClr val="004290"/>
                </a:solidFill>
                <a:latin typeface="Arial"/>
                <a:cs typeface="Arial"/>
              </a:defRPr>
            </a:lvl1pPr>
            <a:lvl2pPr>
              <a:buClr>
                <a:srgbClr val="004290"/>
              </a:buClr>
              <a:defRPr>
                <a:latin typeface="Arial"/>
                <a:cs typeface="Arial"/>
              </a:defRPr>
            </a:lvl2pPr>
            <a:lvl3pPr>
              <a:buClr>
                <a:srgbClr val="004290"/>
              </a:buClr>
              <a:defRPr>
                <a:latin typeface="Arial"/>
                <a:cs typeface="Arial"/>
              </a:defRPr>
            </a:lvl3pPr>
            <a:lvl4pPr>
              <a:buClr>
                <a:srgbClr val="004290"/>
              </a:buClr>
              <a:defRPr>
                <a:latin typeface="Arial"/>
                <a:cs typeface="Arial"/>
              </a:defRPr>
            </a:lvl4pPr>
            <a:lvl5pPr>
              <a:buClr>
                <a:srgbClr val="004290"/>
              </a:buClr>
              <a:defRPr>
                <a:latin typeface="Arial"/>
                <a:cs typeface="Arial"/>
              </a:defRPr>
            </a:lvl5pPr>
            <a:lvl6pPr>
              <a:defRPr>
                <a:latin typeface="Arial" panose="020B0604020202020204" pitchFamily="34" charset="0"/>
                <a:cs typeface="Arial" panose="020B0604020202020204" pitchFamily="34" charset="0"/>
              </a:defRPr>
            </a:lvl6pPr>
            <a:lvl7pPr>
              <a:defRPr>
                <a:latin typeface="Arial" panose="020B0604020202020204" pitchFamily="34" charset="0"/>
                <a:cs typeface="Arial" panose="020B0604020202020204" pitchFamily="34" charset="0"/>
              </a:defRPr>
            </a:lvl7pPr>
            <a:lvl8pPr>
              <a:defRPr>
                <a:latin typeface="Arial" panose="020B0604020202020204" pitchFamily="34" charset="0"/>
                <a:cs typeface="Arial" panose="020B0604020202020204" pitchFamily="34" charset="0"/>
              </a:defRPr>
            </a:lvl8pPr>
            <a:lvl9pPr>
              <a:defRPr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0" y="6330074"/>
            <a:ext cx="9144000" cy="52792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Arial" pitchFamily="34" charset="-128"/>
            </a:endParaRPr>
          </a:p>
        </p:txBody>
      </p:sp>
      <p:sp>
        <p:nvSpPr>
          <p:cNvPr id="10" name="Rectangle 31"/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1277" y="6444218"/>
            <a:ext cx="34310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rIns="0">
            <a:prstTxWarp prst="textNoShape">
              <a:avLst/>
            </a:prstTxWarp>
            <a:spAutoFit/>
          </a:bodyPr>
          <a:lstStyle/>
          <a:p>
            <a:pPr algn="l">
              <a:defRPr/>
            </a:pPr>
            <a:fld id="{6A113AA4-9849-FB42-8487-64854D6D9D95}" type="slidenum">
              <a:rPr lang="en-US" sz="1600" noProof="0">
                <a:solidFill>
                  <a:srgbClr val="004290"/>
                </a:solidFill>
                <a:latin typeface="Arial"/>
                <a:ea typeface="Arial"/>
                <a:cs typeface="Arial"/>
              </a:rPr>
              <a:pPr algn="l">
                <a:defRPr/>
              </a:pPr>
              <a:t>‹Nr.›</a:t>
            </a:fld>
            <a:endParaRPr lang="en-US" sz="1600" noProof="0">
              <a:solidFill>
                <a:srgbClr val="00429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Picture 10" descr="rwth_comsys_bild_cmyk.pdf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7233" y="6409415"/>
            <a:ext cx="2030415" cy="396178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418F"/>
            </a:gs>
            <a:gs pos="100000">
              <a:srgbClr val="5677C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 userDrawn="1"/>
        </p:nvSpPr>
        <p:spPr bwMode="auto">
          <a:xfrm>
            <a:off x="0" y="0"/>
            <a:ext cx="9144000" cy="838200"/>
          </a:xfrm>
          <a:prstGeom prst="rect">
            <a:avLst/>
          </a:prstGeom>
          <a:gradFill rotWithShape="1">
            <a:gsLst>
              <a:gs pos="0">
                <a:srgbClr val="0C2665"/>
              </a:gs>
              <a:gs pos="100000">
                <a:srgbClr val="9FB6D9"/>
              </a:gs>
            </a:gsLst>
            <a:lin ang="300000"/>
          </a:gradFill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 sz="2400" noProof="0">
              <a:latin typeface="Arial"/>
              <a:ea typeface="Arial"/>
              <a:cs typeface="Arial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  <p:custDataLst>
              <p:tags r:id="rId11"/>
            </p:custDataLst>
          </p:nvPr>
        </p:nvSpPr>
        <p:spPr bwMode="auto">
          <a:xfrm>
            <a:off x="166688" y="817563"/>
            <a:ext cx="8815387" cy="534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Mastertextformat bearbeiten</a:t>
            </a:r>
          </a:p>
          <a:p>
            <a:pPr lvl="1"/>
            <a:r>
              <a:rPr lang="en-US" noProof="0"/>
              <a:t>Zweite Ebene</a:t>
            </a:r>
          </a:p>
          <a:p>
            <a:pPr lvl="2"/>
            <a:r>
              <a:rPr lang="en-US" noProof="0"/>
              <a:t>Dritte Ebene</a:t>
            </a:r>
          </a:p>
          <a:p>
            <a:pPr lvl="3"/>
            <a:r>
              <a:rPr lang="en-US" noProof="0"/>
              <a:t>Vierte Ebene</a:t>
            </a:r>
          </a:p>
          <a:p>
            <a:pPr lvl="4"/>
            <a:r>
              <a:rPr lang="en-US" noProof="0"/>
              <a:t>Fünfte Ebene</a:t>
            </a:r>
          </a:p>
        </p:txBody>
      </p:sp>
      <p:sp>
        <p:nvSpPr>
          <p:cNvPr id="1036" name="Rectangle 12"/>
          <p:cNvSpPr>
            <a:spLocks noChangeArrowheads="1"/>
          </p:cNvSpPr>
          <p:nvPr userDrawn="1"/>
        </p:nvSpPr>
        <p:spPr bwMode="auto">
          <a:xfrm>
            <a:off x="0" y="671513"/>
            <a:ext cx="9144000" cy="57086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 noProof="0">
              <a:latin typeface="Arial"/>
              <a:ea typeface="Arial"/>
              <a:cs typeface="Arial"/>
            </a:endParaRPr>
          </a:p>
        </p:txBody>
      </p:sp>
      <p:sp>
        <p:nvSpPr>
          <p:cNvPr id="11" name="Rectangle 10"/>
          <p:cNvSpPr/>
          <p:nvPr userDrawn="1"/>
        </p:nvSpPr>
        <p:spPr bwMode="auto">
          <a:xfrm>
            <a:off x="0" y="649287"/>
            <a:ext cx="9144000" cy="84137"/>
          </a:xfrm>
          <a:prstGeom prst="rect">
            <a:avLst/>
          </a:prstGeom>
          <a:gradFill>
            <a:gsLst>
              <a:gs pos="100000">
                <a:schemeClr val="accent4">
                  <a:tint val="37000"/>
                  <a:satMod val="300000"/>
                </a:schemeClr>
              </a:gs>
              <a:gs pos="0">
                <a:schemeClr val="bg1">
                  <a:lumMod val="95000"/>
                </a:schemeClr>
              </a:gs>
            </a:gsLst>
          </a:gradFill>
          <a:ln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prstTxWarp prst="textNoShape">
              <a:avLst/>
            </a:prstTxWarp>
          </a:bodyPr>
          <a:lstStyle/>
          <a:p>
            <a:pPr marL="342900" indent="-342900" algn="l" eaLnBrk="1" hangingPunct="1">
              <a:spcBef>
                <a:spcPct val="20000"/>
              </a:spcBef>
              <a:buFontTx/>
              <a:buChar char="•"/>
              <a:defRPr/>
            </a:pPr>
            <a:endParaRPr lang="en-US" sz="1600" noProof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8" name="Rectangle 7"/>
          <p:cNvSpPr/>
          <p:nvPr userDrawn="1"/>
        </p:nvSpPr>
        <p:spPr bwMode="auto">
          <a:xfrm>
            <a:off x="-3176" y="6375400"/>
            <a:ext cx="9144000" cy="482600"/>
          </a:xfrm>
          <a:prstGeom prst="rect">
            <a:avLst/>
          </a:prstGeom>
          <a:gradFill>
            <a:gsLst>
              <a:gs pos="23000">
                <a:srgbClr val="E4E4E4"/>
              </a:gs>
              <a:gs pos="100000">
                <a:srgbClr val="F8FBFF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prstTxWarp prst="textNoShape">
              <a:avLst/>
            </a:prstTxWarp>
          </a:bodyPr>
          <a:lstStyle/>
          <a:p>
            <a:pPr marL="342900" indent="-342900" algn="l" eaLnBrk="1" hangingPunct="1">
              <a:spcBef>
                <a:spcPct val="20000"/>
              </a:spcBef>
              <a:buFontTx/>
              <a:buChar char="•"/>
              <a:defRPr/>
            </a:pPr>
            <a:endParaRPr lang="en-US" sz="1600" noProof="0">
              <a:latin typeface="Arial"/>
              <a:ea typeface="Arial"/>
              <a:cs typeface="Arial"/>
            </a:endParaRPr>
          </a:p>
        </p:txBody>
      </p:sp>
      <p:sp>
        <p:nvSpPr>
          <p:cNvPr id="134175" name="Rectangle 31"/>
          <p:cNvSpPr>
            <a:spLocks noChangeArrowheads="1"/>
          </p:cNvSpPr>
          <p:nvPr userDrawn="1">
            <p:custDataLst>
              <p:tags r:id="rId12"/>
            </p:custDataLst>
          </p:nvPr>
        </p:nvSpPr>
        <p:spPr bwMode="auto">
          <a:xfrm>
            <a:off x="61277" y="6444218"/>
            <a:ext cx="34310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rIns="0">
            <a:prstTxWarp prst="textNoShape">
              <a:avLst/>
            </a:prstTxWarp>
            <a:spAutoFit/>
          </a:bodyPr>
          <a:lstStyle/>
          <a:p>
            <a:pPr algn="l">
              <a:defRPr/>
            </a:pPr>
            <a:fld id="{6A113AA4-9849-FB42-8487-64854D6D9D95}" type="slidenum">
              <a:rPr lang="en-US" sz="1600" noProof="0">
                <a:solidFill>
                  <a:srgbClr val="004290"/>
                </a:solidFill>
                <a:latin typeface="Arial"/>
                <a:ea typeface="Arial"/>
                <a:cs typeface="Arial"/>
              </a:rPr>
              <a:pPr algn="l">
                <a:defRPr/>
              </a:pPr>
              <a:t>‹Nr.›</a:t>
            </a:fld>
            <a:endParaRPr lang="en-US" sz="1600" noProof="0">
              <a:solidFill>
                <a:srgbClr val="00429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Text Placeholder 2"/>
          <p:cNvSpPr txBox="1">
            <a:spLocks/>
          </p:cNvSpPr>
          <p:nvPr userDrawn="1"/>
        </p:nvSpPr>
        <p:spPr bwMode="auto">
          <a:xfrm>
            <a:off x="2065283" y="6372224"/>
            <a:ext cx="5013434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418F"/>
              </a:buClr>
              <a:buSzTx/>
              <a:buFont typeface="Wingdings 2" pitchFamily="-106" charset="2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Name(s) of author(s)</a:t>
            </a:r>
          </a:p>
        </p:txBody>
      </p:sp>
      <p:pic>
        <p:nvPicPr>
          <p:cNvPr id="12" name="Picture 11" descr="rwth_comsys_bild_cmyk.pdf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7233" y="6409415"/>
            <a:ext cx="2030415" cy="3961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92" r:id="rId1"/>
    <p:sldLayoutId id="2147483993" r:id="rId2"/>
    <p:sldLayoutId id="2147483994" r:id="rId3"/>
    <p:sldLayoutId id="2147483995" r:id="rId4"/>
    <p:sldLayoutId id="2147483989" r:id="rId5"/>
    <p:sldLayoutId id="2147483990" r:id="rId6"/>
    <p:sldLayoutId id="2147483991" r:id="rId7"/>
    <p:sldLayoutId id="2147483997" r:id="rId8"/>
    <p:sldLayoutId id="2147483996" r:id="rId9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+mj-lt"/>
          <a:ea typeface="Arial" pitchFamily="-108" charset="0"/>
          <a:cs typeface="Arial" pitchFamily="-108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pitchFamily="34" charset="0"/>
          <a:ea typeface="Arial" pitchFamily="-108" charset="0"/>
          <a:cs typeface="Arial" pitchFamily="-10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pitchFamily="34" charset="0"/>
          <a:ea typeface="Arial" pitchFamily="-108" charset="0"/>
          <a:cs typeface="Arial" pitchFamily="-10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pitchFamily="34" charset="0"/>
          <a:ea typeface="Arial" pitchFamily="-108" charset="0"/>
          <a:cs typeface="Arial" pitchFamily="-10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pitchFamily="34" charset="0"/>
          <a:ea typeface="Arial" pitchFamily="-108" charset="0"/>
          <a:cs typeface="Arial" pitchFamily="-10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418F"/>
          </a:solidFill>
          <a:latin typeface="Arial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418F"/>
          </a:solidFill>
          <a:latin typeface="Arial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418F"/>
          </a:solidFill>
          <a:latin typeface="Arial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418F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00418F"/>
        </a:buClr>
        <a:buFont typeface="Wingdings 2" pitchFamily="-106" charset="2"/>
        <a:buChar char=""/>
        <a:defRPr sz="2400">
          <a:solidFill>
            <a:schemeClr val="tx1"/>
          </a:solidFill>
          <a:latin typeface="Arial"/>
          <a:ea typeface="Arial"/>
          <a:cs typeface="Arial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418F"/>
        </a:buClr>
        <a:buFont typeface="Wingdings 3" pitchFamily="-106" charset="2"/>
        <a:buChar char=""/>
        <a:defRPr sz="2000">
          <a:solidFill>
            <a:schemeClr val="tx1"/>
          </a:solidFill>
          <a:latin typeface="Arial"/>
          <a:ea typeface="Arial"/>
          <a:cs typeface="Arial"/>
        </a:defRPr>
      </a:lvl2pPr>
      <a:lvl3pPr marL="11430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418F"/>
        </a:buClr>
        <a:buFont typeface="Wingdings 2" pitchFamily="-106" charset="2"/>
        <a:buChar char="¾"/>
        <a:defRPr>
          <a:solidFill>
            <a:schemeClr val="tx1"/>
          </a:solidFill>
          <a:latin typeface="Arial"/>
          <a:ea typeface="Arial"/>
          <a:cs typeface="Arial"/>
        </a:defRPr>
      </a:lvl3pPr>
      <a:lvl4pPr marL="15621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418F"/>
        </a:buClr>
        <a:buFont typeface="Wingdings 3" pitchFamily="-106" charset="2"/>
        <a:buChar char="¬"/>
        <a:defRPr>
          <a:solidFill>
            <a:schemeClr val="tx1"/>
          </a:solidFill>
          <a:latin typeface="Arial"/>
          <a:ea typeface="Arial"/>
          <a:cs typeface="Arial"/>
        </a:defRPr>
      </a:lvl4pPr>
      <a:lvl5pPr marL="19812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418F"/>
        </a:buClr>
        <a:buChar char="-"/>
        <a:defRPr>
          <a:solidFill>
            <a:schemeClr val="tx1"/>
          </a:solidFill>
          <a:latin typeface="Arial"/>
          <a:ea typeface="Arial"/>
          <a:cs typeface="Arial"/>
        </a:defRPr>
      </a:lvl5pPr>
      <a:lvl6pPr marL="24384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418F"/>
        </a:buClr>
        <a:buChar char="-"/>
        <a:defRPr>
          <a:solidFill>
            <a:schemeClr val="tx1"/>
          </a:solidFill>
          <a:latin typeface="Arial" pitchFamily="34" charset="-128"/>
        </a:defRPr>
      </a:lvl6pPr>
      <a:lvl7pPr marL="28956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418F"/>
        </a:buClr>
        <a:buChar char="-"/>
        <a:defRPr>
          <a:solidFill>
            <a:schemeClr val="tx1"/>
          </a:solidFill>
          <a:latin typeface="Arial" pitchFamily="34" charset="-128"/>
        </a:defRPr>
      </a:lvl7pPr>
      <a:lvl8pPr marL="33528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418F"/>
        </a:buClr>
        <a:buChar char="-"/>
        <a:defRPr>
          <a:solidFill>
            <a:schemeClr val="tx1"/>
          </a:solidFill>
          <a:latin typeface="Arial" pitchFamily="34" charset="-128"/>
        </a:defRPr>
      </a:lvl8pPr>
      <a:lvl9pPr marL="38100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418F"/>
        </a:buClr>
        <a:buChar char="-"/>
        <a:defRPr>
          <a:solidFill>
            <a:schemeClr val="tx1"/>
          </a:solidFill>
          <a:latin typeface="Arial" pitchFamily="34" charset="-12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jpe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5.png"/><Relationship Id="rId5" Type="http://schemas.openxmlformats.org/officeDocument/2006/relationships/image" Target="../media/image24.wmf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image" Target="../media/image27.jpe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0.wmf"/><Relationship Id="rId5" Type="http://schemas.openxmlformats.org/officeDocument/2006/relationships/image" Target="../media/image29.jpeg"/><Relationship Id="rId4" Type="http://schemas.openxmlformats.org/officeDocument/2006/relationships/image" Target="../media/image28.png"/><Relationship Id="rId9" Type="http://schemas.openxmlformats.org/officeDocument/2006/relationships/image" Target="../media/image33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257267" y="1145948"/>
            <a:ext cx="8432799" cy="1471745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Modern Congestion Control Algorithms</a:t>
            </a:r>
          </a:p>
        </p:txBody>
      </p:sp>
      <p:sp>
        <p:nvSpPr>
          <p:cNvPr id="5" name="Text Placeholder 2"/>
          <p:cNvSpPr txBox="1">
            <a:spLocks/>
          </p:cNvSpPr>
          <p:nvPr/>
        </p:nvSpPr>
        <p:spPr bwMode="auto">
          <a:xfrm>
            <a:off x="528321" y="3712706"/>
            <a:ext cx="8432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418F"/>
              </a:buClr>
              <a:buSzTx/>
              <a:buFont typeface="Wingdings 2" pitchFamily="-106" charset="2"/>
              <a:buNone/>
              <a:tabLst/>
              <a:defRPr/>
            </a:pPr>
            <a:r>
              <a:rPr kumimoji="0" lang="en-US" sz="2200" b="0" i="0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Yannik Schreiter</a:t>
            </a:r>
          </a:p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418F"/>
              </a:buClr>
              <a:buSzTx/>
              <a:buFont typeface="Wingdings 2" pitchFamily="-106" charset="2"/>
              <a:buNone/>
              <a:tabLst/>
              <a:defRPr/>
            </a:pPr>
            <a:endParaRPr lang="en-US" sz="220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418F"/>
              </a:buClr>
              <a:buSzTx/>
              <a:buFont typeface="Wingdings 2" pitchFamily="-106" charset="2"/>
              <a:buNone/>
              <a:tabLst/>
              <a:defRPr/>
            </a:pPr>
            <a:r>
              <a:rPr kumimoji="0" lang="en-US" sz="2200" b="0" i="0" strike="noStrike" kern="0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Benedikt</a:t>
            </a:r>
            <a:r>
              <a:rPr kumimoji="0" lang="en-US" sz="2200" b="0" i="0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 Bode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FD8C91A-111A-4C4F-BFC2-3453EFB03D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7267" y="2798306"/>
            <a:ext cx="5354637" cy="914400"/>
          </a:xfrm>
        </p:spPr>
        <p:txBody>
          <a:bodyPr/>
          <a:lstStyle/>
          <a:p>
            <a:r>
              <a:rPr lang="en-US" dirty="0"/>
              <a:t>Seminar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BD941A-3517-4882-A9A8-CFCB4AE4410B}"/>
              </a:ext>
            </a:extLst>
          </p:cNvPr>
          <p:cNvSpPr txBox="1"/>
          <p:nvPr/>
        </p:nvSpPr>
        <p:spPr>
          <a:xfrm>
            <a:off x="4736892" y="5963170"/>
            <a:ext cx="44026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Aachen, 2026-07-22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What is Congestion Control and why do we need it?</a:t>
            </a:r>
          </a:p>
          <a:p>
            <a:pPr lvl="1"/>
            <a:r>
              <a:rPr lang="en-US" dirty="0"/>
              <a:t>Avoids congestion</a:t>
            </a:r>
          </a:p>
          <a:p>
            <a:pPr lvl="1"/>
            <a:r>
              <a:rPr lang="en-US" dirty="0"/>
              <a:t>Improves use of hardware</a:t>
            </a:r>
          </a:p>
          <a:p>
            <a:pPr lvl="1"/>
            <a:r>
              <a:rPr lang="en-US" dirty="0"/>
              <a:t>Lower latency, packets loss and higher throughput</a:t>
            </a:r>
          </a:p>
          <a:p>
            <a:r>
              <a:rPr lang="en-US" dirty="0"/>
              <a:t>Why not just increase capabilities of the hardware?</a:t>
            </a:r>
          </a:p>
          <a:p>
            <a:pPr lvl="1"/>
            <a:r>
              <a:rPr lang="en-US" dirty="0"/>
              <a:t>An increase needs to happen for all of the hardware in the same amount:</a:t>
            </a:r>
          </a:p>
          <a:p>
            <a:pPr lvl="2"/>
            <a:r>
              <a:rPr lang="en-US" dirty="0"/>
              <a:t>CPU speed</a:t>
            </a:r>
          </a:p>
          <a:p>
            <a:pPr lvl="2"/>
            <a:r>
              <a:rPr lang="en-US" dirty="0"/>
              <a:t>Bandwidth of connection</a:t>
            </a:r>
          </a:p>
          <a:p>
            <a:pPr lvl="2"/>
            <a:r>
              <a:rPr lang="en-US" dirty="0"/>
              <a:t>Memory/Depth of waiting queue</a:t>
            </a:r>
          </a:p>
          <a:p>
            <a:pPr lvl="1"/>
            <a:r>
              <a:rPr lang="en-US" dirty="0"/>
              <a:t>Instead try to fit the hardware perfectly to have the best use of its capabilities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55495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of Congestion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What is the Goal of a Congestion Control Algorithm?</a:t>
            </a:r>
          </a:p>
          <a:p>
            <a:pPr lvl="1"/>
            <a:r>
              <a:rPr lang="en-US" dirty="0"/>
              <a:t>Goal: Point A:</a:t>
            </a:r>
          </a:p>
          <a:p>
            <a:pPr lvl="2"/>
            <a:r>
              <a:rPr lang="en-US" dirty="0"/>
              <a:t>Highest possible throughput while no unnecessary delay and packet loss</a:t>
            </a:r>
          </a:p>
          <a:p>
            <a:pPr lvl="1"/>
            <a:endParaRPr lang="en-US" dirty="0"/>
          </a:p>
        </p:txBody>
      </p:sp>
      <p:pic>
        <p:nvPicPr>
          <p:cNvPr id="46" name="Grafik 45">
            <a:extLst>
              <a:ext uri="{FF2B5EF4-FFF2-40B4-BE49-F238E27FC236}">
                <a16:creationId xmlns:a16="http://schemas.microsoft.com/office/drawing/2014/main" id="{4673A040-B3B4-4D72-8976-6FF3BFBF8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40" y="2133600"/>
            <a:ext cx="8019808" cy="393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0512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07805" y="891487"/>
            <a:ext cx="8873441" cy="5311697"/>
          </a:xfrm>
        </p:spPr>
        <p:txBody>
          <a:bodyPr/>
          <a:lstStyle/>
          <a:p>
            <a:r>
              <a:rPr lang="en-US" dirty="0"/>
              <a:t>TCP Cubic</a:t>
            </a:r>
          </a:p>
          <a:p>
            <a:pPr lvl="1"/>
            <a:r>
              <a:rPr lang="en-US" dirty="0"/>
              <a:t>Starts with Cubically increase of congestion window</a:t>
            </a:r>
          </a:p>
          <a:p>
            <a:pPr lvl="2"/>
            <a:r>
              <a:rPr lang="en-US" dirty="0"/>
              <a:t>Amount of packets transmitted in a certain window</a:t>
            </a:r>
          </a:p>
          <a:p>
            <a:pPr lvl="1"/>
            <a:r>
              <a:rPr lang="en-US" dirty="0"/>
              <a:t>If packet loss occurs(Point B), then decrease congestion window</a:t>
            </a:r>
          </a:p>
          <a:p>
            <a:pPr marL="457200" lvl="1" indent="0">
              <a:buNone/>
            </a:pPr>
            <a:r>
              <a:rPr lang="en-US" dirty="0"/>
              <a:t>	Else increase slowly congestion window</a:t>
            </a:r>
          </a:p>
          <a:p>
            <a:r>
              <a:rPr lang="en-US" dirty="0"/>
              <a:t>TCP Vegas</a:t>
            </a:r>
          </a:p>
          <a:p>
            <a:pPr lvl="1"/>
            <a:r>
              <a:rPr lang="en-US" dirty="0"/>
              <a:t>Increases congestion window only every RTT</a:t>
            </a:r>
          </a:p>
          <a:p>
            <a:pPr lvl="1"/>
            <a:r>
              <a:rPr lang="en-US" dirty="0"/>
              <a:t>Compares earlier RTT to current RTT</a:t>
            </a:r>
          </a:p>
          <a:p>
            <a:pPr lvl="2"/>
            <a:r>
              <a:rPr lang="en-US" dirty="0"/>
              <a:t>If RTT is longer, make window smaller else increase</a:t>
            </a:r>
          </a:p>
          <a:p>
            <a:r>
              <a:rPr lang="en-US" dirty="0"/>
              <a:t>Jain’s Fairness Index:</a:t>
            </a:r>
          </a:p>
          <a:p>
            <a:pPr lvl="1"/>
            <a:r>
              <a:rPr lang="en-US" dirty="0"/>
              <a:t>Value that shows how fair one flow to the others is</a:t>
            </a:r>
          </a:p>
          <a:p>
            <a:pPr lvl="1"/>
            <a:r>
              <a:rPr lang="en-US" dirty="0"/>
              <a:t>If value equals 1, then all flows get same share of the network capabilities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13906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Approaches for Congestion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07805" y="891487"/>
            <a:ext cx="8873441" cy="5311697"/>
          </a:xfrm>
        </p:spPr>
        <p:txBody>
          <a:bodyPr/>
          <a:lstStyle/>
          <a:p>
            <a:r>
              <a:rPr lang="en-US" dirty="0"/>
              <a:t>Bottleneck Bandwidth and Round-Trip Propagation Time(BBR)</a:t>
            </a:r>
          </a:p>
          <a:p>
            <a:pPr lvl="1"/>
            <a:r>
              <a:rPr lang="en-US" dirty="0"/>
              <a:t>Startup phase:</a:t>
            </a:r>
          </a:p>
          <a:p>
            <a:pPr lvl="2"/>
            <a:r>
              <a:rPr lang="en-US" dirty="0"/>
              <a:t>Rapidly increasing of sending rate till delivery rate stops increasing</a:t>
            </a:r>
          </a:p>
          <a:p>
            <a:pPr lvl="3"/>
            <a:r>
              <a:rPr lang="en-US" dirty="0"/>
              <a:t>Point A</a:t>
            </a:r>
          </a:p>
          <a:p>
            <a:pPr lvl="1"/>
            <a:r>
              <a:rPr lang="en-US" dirty="0" err="1"/>
              <a:t>ProbeBW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Try to find out if Bandwidth increased or not</a:t>
            </a:r>
          </a:p>
          <a:p>
            <a:pPr lvl="2"/>
            <a:r>
              <a:rPr lang="en-US" dirty="0"/>
              <a:t>Increase sending rate to 1.25 then reduce to 0.75 to empty queue</a:t>
            </a:r>
          </a:p>
          <a:p>
            <a:pPr lvl="1"/>
            <a:r>
              <a:rPr lang="en-US" dirty="0" err="1"/>
              <a:t>ProbeRTT</a:t>
            </a:r>
            <a:endParaRPr lang="en-US" dirty="0"/>
          </a:p>
          <a:p>
            <a:pPr lvl="2"/>
            <a:r>
              <a:rPr lang="en-US" dirty="0"/>
              <a:t>Find lowest RTT</a:t>
            </a:r>
          </a:p>
          <a:p>
            <a:pPr lvl="2"/>
            <a:r>
              <a:rPr lang="en-US" dirty="0"/>
              <a:t>Empty queue by drastically reducing sending rate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01407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Approaches for Congestion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07805" y="891487"/>
            <a:ext cx="8873441" cy="5311697"/>
          </a:xfrm>
        </p:spPr>
        <p:txBody>
          <a:bodyPr/>
          <a:lstStyle/>
          <a:p>
            <a:r>
              <a:rPr lang="fr-FR" dirty="0"/>
              <a:t>Active Queue </a:t>
            </a:r>
            <a:r>
              <a:rPr lang="fr-FR" dirty="0" err="1"/>
              <a:t>Debt</a:t>
            </a:r>
            <a:r>
              <a:rPr lang="fr-FR" dirty="0"/>
              <a:t> Compensation (AQDC) BBR</a:t>
            </a:r>
          </a:p>
          <a:p>
            <a:pPr lvl="1"/>
            <a:r>
              <a:rPr lang="fr-FR" dirty="0"/>
              <a:t>BBR </a:t>
            </a:r>
            <a:r>
              <a:rPr lang="fr-FR" dirty="0" err="1"/>
              <a:t>may</a:t>
            </a:r>
            <a:r>
              <a:rPr lang="fr-FR" dirty="0"/>
              <a:t> not drain queue </a:t>
            </a:r>
            <a:r>
              <a:rPr lang="fr-FR" dirty="0" err="1"/>
              <a:t>after</a:t>
            </a:r>
            <a:r>
              <a:rPr lang="fr-FR" dirty="0"/>
              <a:t> </a:t>
            </a:r>
            <a:r>
              <a:rPr lang="fr-FR" dirty="0" err="1"/>
              <a:t>ProbeBW</a:t>
            </a:r>
            <a:endParaRPr lang="fr-FR" dirty="0"/>
          </a:p>
          <a:p>
            <a:pPr lvl="1"/>
            <a:r>
              <a:rPr lang="fr-FR" dirty="0"/>
              <a:t>BBR </a:t>
            </a:r>
            <a:r>
              <a:rPr lang="fr-FR" dirty="0" err="1"/>
              <a:t>may</a:t>
            </a:r>
            <a:r>
              <a:rPr lang="fr-FR" dirty="0"/>
              <a:t> not drain queue </a:t>
            </a:r>
            <a:r>
              <a:rPr lang="fr-FR" dirty="0" err="1"/>
              <a:t>before</a:t>
            </a:r>
            <a:r>
              <a:rPr lang="fr-FR" dirty="0"/>
              <a:t> </a:t>
            </a:r>
            <a:r>
              <a:rPr lang="fr-FR" dirty="0" err="1"/>
              <a:t>ProbeRTT</a:t>
            </a:r>
            <a:endParaRPr lang="fr-FR" dirty="0"/>
          </a:p>
          <a:p>
            <a:pPr lvl="1"/>
            <a:r>
              <a:rPr lang="fr-FR" dirty="0"/>
              <a:t>To solve </a:t>
            </a:r>
            <a:r>
              <a:rPr lang="fr-FR" dirty="0" err="1"/>
              <a:t>this</a:t>
            </a:r>
            <a:r>
              <a:rPr lang="fr-FR" dirty="0"/>
              <a:t> AQDC trackes the </a:t>
            </a:r>
            <a:r>
              <a:rPr lang="fr-FR" dirty="0" err="1"/>
              <a:t>debt</a:t>
            </a:r>
            <a:r>
              <a:rPr lang="fr-FR" dirty="0"/>
              <a:t> </a:t>
            </a:r>
            <a:r>
              <a:rPr lang="fr-FR" dirty="0" err="1"/>
              <a:t>inside</a:t>
            </a:r>
            <a:r>
              <a:rPr lang="fr-FR" dirty="0"/>
              <a:t> the queue</a:t>
            </a:r>
          </a:p>
          <a:p>
            <a:r>
              <a:rPr lang="fr-FR" dirty="0"/>
              <a:t>BBR-</a:t>
            </a:r>
            <a:r>
              <a:rPr lang="fr-FR" dirty="0" err="1"/>
              <a:t>Extendend</a:t>
            </a:r>
            <a:r>
              <a:rPr lang="fr-FR" dirty="0"/>
              <a:t> State (BBR-ES)</a:t>
            </a:r>
          </a:p>
          <a:p>
            <a:pPr lvl="1"/>
            <a:r>
              <a:rPr lang="fr-FR" dirty="0" err="1"/>
              <a:t>Creates</a:t>
            </a:r>
            <a:r>
              <a:rPr lang="fr-FR" dirty="0"/>
              <a:t> new phase </a:t>
            </a:r>
            <a:r>
              <a:rPr lang="fr-FR" dirty="0" err="1"/>
              <a:t>between</a:t>
            </a:r>
            <a:r>
              <a:rPr lang="fr-FR" dirty="0"/>
              <a:t> </a:t>
            </a:r>
            <a:r>
              <a:rPr lang="fr-FR" dirty="0" err="1"/>
              <a:t>ProbeRTT</a:t>
            </a:r>
            <a:r>
              <a:rPr lang="fr-FR" dirty="0"/>
              <a:t> and </a:t>
            </a:r>
            <a:r>
              <a:rPr lang="fr-FR" dirty="0" err="1"/>
              <a:t>ProbeBW</a:t>
            </a:r>
            <a:endParaRPr lang="fr-FR" dirty="0"/>
          </a:p>
          <a:p>
            <a:pPr lvl="1"/>
            <a:r>
              <a:rPr lang="fr-FR" dirty="0"/>
              <a:t>Goal </a:t>
            </a:r>
            <a:r>
              <a:rPr lang="fr-FR" dirty="0" err="1"/>
              <a:t>is</a:t>
            </a:r>
            <a:r>
              <a:rPr lang="fr-FR" dirty="0"/>
              <a:t> to drain the queue</a:t>
            </a:r>
          </a:p>
          <a:p>
            <a:pPr lvl="1"/>
            <a:endParaRPr lang="fr-F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79606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Approaches for Congestion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07805" y="891487"/>
            <a:ext cx="8873441" cy="5311697"/>
          </a:xfrm>
        </p:spPr>
        <p:txBody>
          <a:bodyPr/>
          <a:lstStyle/>
          <a:p>
            <a:r>
              <a:rPr lang="fr-FR" dirty="0" err="1"/>
              <a:t>Copa</a:t>
            </a:r>
            <a:endParaRPr lang="fr-FR" dirty="0"/>
          </a:p>
          <a:p>
            <a:pPr lvl="1"/>
            <a:r>
              <a:rPr lang="fr-FR" dirty="0"/>
              <a:t>2 modes:</a:t>
            </a:r>
          </a:p>
          <a:p>
            <a:pPr lvl="2"/>
            <a:r>
              <a:rPr lang="fr-FR" dirty="0"/>
              <a:t>Default mode: </a:t>
            </a:r>
            <a:r>
              <a:rPr lang="fr-FR" dirty="0" err="1"/>
              <a:t>try</a:t>
            </a:r>
            <a:r>
              <a:rPr lang="fr-FR" dirty="0"/>
              <a:t> to </a:t>
            </a:r>
            <a:r>
              <a:rPr lang="fr-FR" dirty="0" err="1"/>
              <a:t>maximize</a:t>
            </a:r>
            <a:r>
              <a:rPr lang="fr-FR" dirty="0"/>
              <a:t> Utility </a:t>
            </a:r>
            <a:r>
              <a:rPr lang="fr-FR" dirty="0" err="1"/>
              <a:t>function</a:t>
            </a:r>
            <a:endParaRPr lang="fr-FR" dirty="0"/>
          </a:p>
          <a:p>
            <a:pPr lvl="2"/>
            <a:r>
              <a:rPr lang="fr-FR" dirty="0" err="1"/>
              <a:t>Competetive</a:t>
            </a:r>
            <a:r>
              <a:rPr lang="fr-FR" dirty="0"/>
              <a:t> mode: To </a:t>
            </a:r>
            <a:r>
              <a:rPr lang="fr-FR" dirty="0" err="1"/>
              <a:t>compete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buffer </a:t>
            </a:r>
            <a:r>
              <a:rPr lang="fr-FR" dirty="0" err="1"/>
              <a:t>filling</a:t>
            </a:r>
            <a:r>
              <a:rPr lang="fr-FR" dirty="0"/>
              <a:t> flows</a:t>
            </a:r>
          </a:p>
          <a:p>
            <a:pPr lvl="3"/>
            <a:r>
              <a:rPr lang="fr-FR" dirty="0" err="1"/>
              <a:t>Should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activated</a:t>
            </a:r>
            <a:r>
              <a:rPr lang="fr-FR" dirty="0"/>
              <a:t> if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another</a:t>
            </a:r>
            <a:r>
              <a:rPr lang="fr-FR" dirty="0"/>
              <a:t> flow</a:t>
            </a:r>
          </a:p>
          <a:p>
            <a:r>
              <a:rPr lang="fr-FR" dirty="0" err="1"/>
              <a:t>Copa</a:t>
            </a:r>
            <a:r>
              <a:rPr lang="fr-FR" dirty="0"/>
              <a:t>+</a:t>
            </a:r>
          </a:p>
          <a:p>
            <a:pPr lvl="1"/>
            <a:r>
              <a:rPr lang="fr-FR" dirty="0" err="1"/>
              <a:t>Competetive</a:t>
            </a:r>
            <a:r>
              <a:rPr lang="fr-FR" dirty="0"/>
              <a:t> mode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unnecessarily</a:t>
            </a:r>
            <a:r>
              <a:rPr lang="fr-FR" dirty="0"/>
              <a:t> </a:t>
            </a:r>
            <a:r>
              <a:rPr lang="fr-FR" dirty="0" err="1"/>
              <a:t>activated</a:t>
            </a:r>
            <a:endParaRPr lang="fr-FR" dirty="0"/>
          </a:p>
          <a:p>
            <a:pPr lvl="1"/>
            <a:r>
              <a:rPr lang="fr-FR" dirty="0" err="1"/>
              <a:t>Introduces</a:t>
            </a:r>
            <a:r>
              <a:rPr lang="fr-FR" dirty="0"/>
              <a:t> new </a:t>
            </a:r>
            <a:r>
              <a:rPr lang="fr-FR" dirty="0" err="1"/>
              <a:t>parameter</a:t>
            </a:r>
            <a:r>
              <a:rPr lang="fr-FR" dirty="0"/>
              <a:t> for </a:t>
            </a:r>
            <a:r>
              <a:rPr lang="fr-FR" dirty="0" err="1"/>
              <a:t>function</a:t>
            </a:r>
            <a:r>
              <a:rPr lang="fr-FR" dirty="0"/>
              <a:t> to </a:t>
            </a:r>
            <a:r>
              <a:rPr lang="fr-FR" dirty="0" err="1"/>
              <a:t>stay</a:t>
            </a:r>
            <a:r>
              <a:rPr lang="fr-FR" dirty="0"/>
              <a:t> </a:t>
            </a:r>
            <a:r>
              <a:rPr lang="fr-FR" dirty="0" err="1"/>
              <a:t>better</a:t>
            </a:r>
            <a:r>
              <a:rPr lang="fr-FR" dirty="0"/>
              <a:t> in default mode</a:t>
            </a:r>
          </a:p>
          <a:p>
            <a:r>
              <a:rPr lang="fr-FR" dirty="0" err="1"/>
              <a:t>Copa</a:t>
            </a:r>
            <a:r>
              <a:rPr lang="fr-FR" dirty="0"/>
              <a:t> Dynamic (</a:t>
            </a:r>
            <a:r>
              <a:rPr lang="fr-FR" dirty="0" err="1"/>
              <a:t>Copa</a:t>
            </a:r>
            <a:r>
              <a:rPr lang="fr-FR" dirty="0"/>
              <a:t>-D)</a:t>
            </a:r>
          </a:p>
          <a:p>
            <a:pPr lvl="1"/>
            <a:r>
              <a:rPr lang="fr-FR" dirty="0" err="1"/>
              <a:t>Instead</a:t>
            </a:r>
            <a:r>
              <a:rPr lang="fr-FR" dirty="0"/>
              <a:t> of </a:t>
            </a:r>
            <a:r>
              <a:rPr lang="fr-FR" dirty="0" err="1"/>
              <a:t>introducing</a:t>
            </a:r>
            <a:r>
              <a:rPr lang="fr-FR" dirty="0"/>
              <a:t> new </a:t>
            </a:r>
            <a:r>
              <a:rPr lang="fr-FR" dirty="0" err="1"/>
              <a:t>parameter</a:t>
            </a:r>
            <a:r>
              <a:rPr lang="fr-FR" dirty="0"/>
              <a:t> change the </a:t>
            </a:r>
            <a:r>
              <a:rPr lang="fr-FR" dirty="0" err="1"/>
              <a:t>problematic</a:t>
            </a:r>
            <a:r>
              <a:rPr lang="fr-FR" dirty="0"/>
              <a:t> </a:t>
            </a:r>
            <a:r>
              <a:rPr lang="fr-FR" dirty="0" err="1"/>
              <a:t>parameter</a:t>
            </a:r>
            <a:r>
              <a:rPr lang="fr-FR" dirty="0"/>
              <a:t> and </a:t>
            </a:r>
            <a:r>
              <a:rPr lang="fr-FR" dirty="0" err="1"/>
              <a:t>make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more </a:t>
            </a:r>
            <a:r>
              <a:rPr lang="fr-FR" dirty="0" err="1"/>
              <a:t>dynamically</a:t>
            </a:r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83854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Approaches for Congestion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07805" y="891487"/>
            <a:ext cx="8873441" cy="5311697"/>
          </a:xfrm>
        </p:spPr>
        <p:txBody>
          <a:bodyPr/>
          <a:lstStyle/>
          <a:p>
            <a:r>
              <a:rPr lang="fr-FR" dirty="0"/>
              <a:t>Performance Congestion Control (PCC)</a:t>
            </a:r>
          </a:p>
          <a:p>
            <a:pPr lvl="1"/>
            <a:r>
              <a:rPr lang="fr-FR" dirty="0" err="1"/>
              <a:t>Takes</a:t>
            </a:r>
            <a:r>
              <a:rPr lang="fr-FR" dirty="0"/>
              <a:t> all information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gets</a:t>
            </a:r>
            <a:r>
              <a:rPr lang="fr-FR" dirty="0"/>
              <a:t> (RTT, </a:t>
            </a:r>
            <a:r>
              <a:rPr lang="fr-FR" dirty="0" err="1"/>
              <a:t>Bandwidth</a:t>
            </a:r>
            <a:r>
              <a:rPr lang="fr-FR" dirty="0"/>
              <a:t>, </a:t>
            </a:r>
            <a:r>
              <a:rPr lang="fr-FR" dirty="0" err="1"/>
              <a:t>latency</a:t>
            </a:r>
            <a:r>
              <a:rPr lang="fr-FR" dirty="0"/>
              <a:t> etc.) to </a:t>
            </a:r>
            <a:r>
              <a:rPr lang="fr-FR" dirty="0" err="1"/>
              <a:t>calculate</a:t>
            </a:r>
            <a:r>
              <a:rPr lang="fr-FR" dirty="0"/>
              <a:t> </a:t>
            </a:r>
            <a:r>
              <a:rPr lang="fr-FR" dirty="0" err="1"/>
              <a:t>sending</a:t>
            </a:r>
            <a:r>
              <a:rPr lang="fr-FR" dirty="0"/>
              <a:t> rate</a:t>
            </a:r>
          </a:p>
          <a:p>
            <a:pPr lvl="1"/>
            <a:r>
              <a:rPr lang="fr-FR" dirty="0" err="1"/>
              <a:t>Core</a:t>
            </a:r>
            <a:r>
              <a:rPr lang="fr-FR" dirty="0"/>
              <a:t> </a:t>
            </a:r>
            <a:r>
              <a:rPr lang="fr-FR" dirty="0" err="1"/>
              <a:t>idea</a:t>
            </a:r>
            <a:r>
              <a:rPr lang="fr-FR" dirty="0"/>
              <a:t> for </a:t>
            </a:r>
            <a:r>
              <a:rPr lang="fr-FR" dirty="0" err="1"/>
              <a:t>calculation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based</a:t>
            </a:r>
            <a:r>
              <a:rPr lang="fr-FR" dirty="0"/>
              <a:t> on Game Theory</a:t>
            </a:r>
          </a:p>
          <a:p>
            <a:pPr lvl="2"/>
            <a:r>
              <a:rPr lang="fr-FR" dirty="0" err="1"/>
              <a:t>Highly</a:t>
            </a:r>
            <a:r>
              <a:rPr lang="fr-FR" dirty="0"/>
              <a:t> </a:t>
            </a:r>
            <a:r>
              <a:rPr lang="fr-FR" dirty="0" err="1"/>
              <a:t>complex</a:t>
            </a:r>
            <a:endParaRPr lang="fr-FR" dirty="0"/>
          </a:p>
          <a:p>
            <a:r>
              <a:rPr lang="fr-FR" dirty="0" err="1"/>
              <a:t>PowerTCP</a:t>
            </a:r>
            <a:endParaRPr lang="fr-FR" dirty="0"/>
          </a:p>
          <a:p>
            <a:pPr lvl="1"/>
            <a:r>
              <a:rPr lang="fr-FR" dirty="0" err="1"/>
              <a:t>Core</a:t>
            </a:r>
            <a:r>
              <a:rPr lang="fr-FR" dirty="0"/>
              <a:t> </a:t>
            </a:r>
            <a:r>
              <a:rPr lang="fr-FR" dirty="0" err="1"/>
              <a:t>Idea</a:t>
            </a:r>
            <a:r>
              <a:rPr lang="fr-FR" dirty="0"/>
              <a:t>: Switches and </a:t>
            </a:r>
            <a:r>
              <a:rPr lang="fr-FR" dirty="0" err="1"/>
              <a:t>routers</a:t>
            </a:r>
            <a:r>
              <a:rPr lang="fr-FR" dirty="0"/>
              <a:t> of network </a:t>
            </a:r>
            <a:r>
              <a:rPr lang="fr-FR" dirty="0" err="1"/>
              <a:t>now</a:t>
            </a:r>
            <a:r>
              <a:rPr lang="fr-FR" dirty="0"/>
              <a:t> </a:t>
            </a:r>
            <a:r>
              <a:rPr lang="fr-FR" dirty="0" err="1"/>
              <a:t>current</a:t>
            </a:r>
            <a:r>
              <a:rPr lang="fr-FR" dirty="0"/>
              <a:t> use of network</a:t>
            </a:r>
          </a:p>
          <a:p>
            <a:pPr lvl="2"/>
            <a:r>
              <a:rPr lang="fr-FR" dirty="0"/>
              <a:t>Use In-Band Network </a:t>
            </a:r>
            <a:r>
              <a:rPr lang="fr-FR" dirty="0" err="1"/>
              <a:t>Telemetry</a:t>
            </a:r>
            <a:r>
              <a:rPr lang="fr-FR" dirty="0"/>
              <a:t> (INT) information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5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Approaches for Congestion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07805" y="891487"/>
            <a:ext cx="8873441" cy="5311697"/>
          </a:xfrm>
        </p:spPr>
        <p:txBody>
          <a:bodyPr/>
          <a:lstStyle/>
          <a:p>
            <a:r>
              <a:rPr lang="fr-FR" dirty="0" err="1"/>
              <a:t>Christians</a:t>
            </a:r>
            <a:r>
              <a:rPr lang="fr-FR" dirty="0"/>
              <a:t> Congestion Control Code (C4)</a:t>
            </a:r>
          </a:p>
          <a:p>
            <a:pPr lvl="1"/>
            <a:r>
              <a:rPr lang="fr-FR" dirty="0"/>
              <a:t>4 </a:t>
            </a:r>
            <a:r>
              <a:rPr lang="fr-FR" dirty="0" err="1"/>
              <a:t>different</a:t>
            </a:r>
            <a:r>
              <a:rPr lang="fr-FR" dirty="0"/>
              <a:t> states:</a:t>
            </a:r>
          </a:p>
          <a:p>
            <a:pPr lvl="2"/>
            <a:r>
              <a:rPr lang="fr-FR" dirty="0"/>
              <a:t>Start phase</a:t>
            </a:r>
          </a:p>
          <a:p>
            <a:pPr lvl="3"/>
            <a:r>
              <a:rPr lang="fr-FR" dirty="0"/>
              <a:t>start and </a:t>
            </a:r>
            <a:r>
              <a:rPr lang="fr-FR" dirty="0" err="1"/>
              <a:t>find</a:t>
            </a:r>
            <a:r>
              <a:rPr lang="fr-FR" dirty="0"/>
              <a:t> </a:t>
            </a:r>
            <a:r>
              <a:rPr lang="fr-FR" dirty="0" err="1"/>
              <a:t>bottleneck’s</a:t>
            </a:r>
            <a:r>
              <a:rPr lang="fr-FR" dirty="0"/>
              <a:t> </a:t>
            </a:r>
            <a:r>
              <a:rPr lang="fr-FR" dirty="0" err="1"/>
              <a:t>bandwidth</a:t>
            </a:r>
            <a:endParaRPr lang="fr-FR" dirty="0"/>
          </a:p>
          <a:p>
            <a:pPr lvl="2"/>
            <a:r>
              <a:rPr lang="fr-FR" dirty="0" err="1"/>
              <a:t>Cruising</a:t>
            </a:r>
            <a:r>
              <a:rPr lang="fr-FR" dirty="0"/>
              <a:t> state </a:t>
            </a:r>
          </a:p>
          <a:p>
            <a:pPr lvl="3"/>
            <a:r>
              <a:rPr lang="fr-FR" dirty="0" err="1"/>
              <a:t>stay</a:t>
            </a:r>
            <a:r>
              <a:rPr lang="fr-FR" dirty="0"/>
              <a:t> at </a:t>
            </a:r>
            <a:r>
              <a:rPr lang="fr-FR" dirty="0" err="1"/>
              <a:t>calculated</a:t>
            </a:r>
            <a:r>
              <a:rPr lang="fr-FR" dirty="0"/>
              <a:t> </a:t>
            </a:r>
            <a:r>
              <a:rPr lang="fr-FR" dirty="0" err="1"/>
              <a:t>perfect</a:t>
            </a:r>
            <a:r>
              <a:rPr lang="fr-FR" dirty="0"/>
              <a:t> </a:t>
            </a:r>
            <a:r>
              <a:rPr lang="fr-FR" dirty="0" err="1"/>
              <a:t>sending</a:t>
            </a:r>
            <a:r>
              <a:rPr lang="fr-FR" dirty="0"/>
              <a:t> rate</a:t>
            </a:r>
          </a:p>
          <a:p>
            <a:pPr lvl="2"/>
            <a:r>
              <a:rPr lang="fr-FR" dirty="0" err="1"/>
              <a:t>Probing</a:t>
            </a:r>
            <a:r>
              <a:rPr lang="fr-FR" dirty="0"/>
              <a:t> phase</a:t>
            </a:r>
          </a:p>
          <a:p>
            <a:pPr lvl="3"/>
            <a:r>
              <a:rPr lang="fr-FR" dirty="0" err="1"/>
              <a:t>Testing</a:t>
            </a:r>
            <a:r>
              <a:rPr lang="fr-FR" dirty="0"/>
              <a:t> the network to </a:t>
            </a:r>
            <a:r>
              <a:rPr lang="fr-FR" dirty="0" err="1"/>
              <a:t>determine</a:t>
            </a:r>
            <a:r>
              <a:rPr lang="fr-FR" dirty="0"/>
              <a:t> if more </a:t>
            </a:r>
            <a:r>
              <a:rPr lang="fr-FR" dirty="0" err="1"/>
              <a:t>is</a:t>
            </a:r>
            <a:r>
              <a:rPr lang="fr-FR" dirty="0"/>
              <a:t> possible</a:t>
            </a:r>
          </a:p>
          <a:p>
            <a:pPr lvl="2"/>
            <a:r>
              <a:rPr lang="fr-FR" dirty="0" err="1"/>
              <a:t>Recovery</a:t>
            </a:r>
            <a:r>
              <a:rPr lang="fr-FR" dirty="0"/>
              <a:t> phase</a:t>
            </a:r>
          </a:p>
          <a:p>
            <a:pPr lvl="3"/>
            <a:r>
              <a:rPr lang="fr-FR" dirty="0" err="1"/>
              <a:t>Recovery</a:t>
            </a:r>
            <a:r>
              <a:rPr lang="fr-FR" dirty="0"/>
              <a:t> the networks </a:t>
            </a:r>
            <a:r>
              <a:rPr lang="fr-FR" dirty="0" err="1"/>
              <a:t>recources</a:t>
            </a:r>
            <a:r>
              <a:rPr lang="fr-FR" dirty="0"/>
              <a:t> </a:t>
            </a:r>
            <a:r>
              <a:rPr lang="fr-FR" dirty="0" err="1"/>
              <a:t>after</a:t>
            </a:r>
            <a:r>
              <a:rPr lang="fr-FR" dirty="0"/>
              <a:t> </a:t>
            </a:r>
            <a:r>
              <a:rPr lang="fr-FR" dirty="0" err="1"/>
              <a:t>probing</a:t>
            </a:r>
            <a:r>
              <a:rPr lang="fr-FR" dirty="0"/>
              <a:t> phase 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17741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07805" y="891487"/>
            <a:ext cx="8873441" cy="5311697"/>
          </a:xfrm>
        </p:spPr>
        <p:txBody>
          <a:bodyPr/>
          <a:lstStyle/>
          <a:p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02175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 – Sky blue</a:t>
            </a:r>
          </a:p>
        </p:txBody>
      </p:sp>
      <p:sp>
        <p:nvSpPr>
          <p:cNvPr id="13315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An alternative title</a:t>
            </a:r>
          </a:p>
        </p:txBody>
      </p:sp>
      <p:pic>
        <p:nvPicPr>
          <p:cNvPr id="8" name="Picture 7" descr="Untitl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21025952">
            <a:off x="450850" y="1087438"/>
            <a:ext cx="2916238" cy="2481262"/>
          </a:xfrm>
          <a:prstGeom prst="rect">
            <a:avLst/>
          </a:prstGeom>
          <a:ln w="88900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</p:pic>
      <p:sp>
        <p:nvSpPr>
          <p:cNvPr id="9" name="Rounded Rectangular Callout 8"/>
          <p:cNvSpPr/>
          <p:nvPr/>
        </p:nvSpPr>
        <p:spPr bwMode="auto">
          <a:xfrm>
            <a:off x="3687288" y="205220"/>
            <a:ext cx="3024188" cy="1487488"/>
          </a:xfrm>
          <a:prstGeom prst="wedgeRoundRectCallout">
            <a:avLst>
              <a:gd name="adj1" fmla="val -63954"/>
              <a:gd name="adj2" fmla="val 22606"/>
              <a:gd name="adj3" fmla="val 16667"/>
            </a:avLst>
          </a:prstGeom>
          <a:gradFill flip="none" rotWithShape="1">
            <a:gsLst>
              <a:gs pos="0">
                <a:srgbClr val="FFD500"/>
              </a:gs>
              <a:gs pos="100000">
                <a:srgbClr val="FFC900"/>
              </a:gs>
            </a:gsLst>
            <a:lin ang="5460000" scaled="0"/>
            <a:tileRect/>
          </a:gradFill>
          <a:ln w="38100">
            <a:solidFill>
              <a:srgbClr val="FFB200"/>
            </a:solidFill>
            <a:round/>
            <a:headEnd/>
            <a:tailEnd/>
          </a:ln>
          <a:effectLst>
            <a:outerShdw blurRad="114300" dist="114300" dir="2400000" rotWithShape="0">
              <a:srgbClr val="000000">
                <a:alpha val="42998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2400">
                <a:latin typeface="Arial"/>
                <a:ea typeface="Arial"/>
                <a:cs typeface="Arial"/>
              </a:rPr>
              <a:t>You can copy the frame style with the brush tool.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892" y="5963170"/>
            <a:ext cx="44026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Location / Event, March 2020</a:t>
            </a:r>
          </a:p>
        </p:txBody>
      </p:sp>
      <p:sp>
        <p:nvSpPr>
          <p:cNvPr id="7" name="AutoShape 108"/>
          <p:cNvSpPr>
            <a:spLocks noChangeArrowheads="1"/>
          </p:cNvSpPr>
          <p:nvPr/>
        </p:nvSpPr>
        <p:spPr bwMode="auto">
          <a:xfrm>
            <a:off x="974725" y="4242816"/>
            <a:ext cx="7132638" cy="1591359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FFD500"/>
              </a:gs>
              <a:gs pos="100000">
                <a:srgbClr val="FFC900"/>
              </a:gs>
            </a:gsLst>
            <a:lin ang="5460000" scaled="0"/>
            <a:tileRect/>
          </a:gradFill>
          <a:ln w="38100">
            <a:solidFill>
              <a:srgbClr val="FFB200"/>
            </a:solidFill>
            <a:round/>
            <a:headEnd/>
            <a:tailEnd/>
          </a:ln>
          <a:effectLst>
            <a:outerShdw blurRad="114300" dist="114300" dir="2400000" rotWithShape="0">
              <a:srgbClr val="000000">
                <a:alpha val="42998"/>
              </a:srgbClr>
            </a:outerShdw>
          </a:effectLst>
        </p:spPr>
        <p:txBody>
          <a:bodyPr wrap="square" anchor="ctr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  <a:defRPr/>
            </a:pPr>
            <a:r>
              <a:rPr lang="en-US" sz="2400">
                <a:latin typeface="Arial"/>
                <a:ea typeface="Arial"/>
                <a:cs typeface="Arial"/>
              </a:rPr>
              <a:t>Please use the latest slide template.</a:t>
            </a:r>
          </a:p>
          <a:p>
            <a:pPr>
              <a:lnSpc>
                <a:spcPct val="110000"/>
              </a:lnSpc>
              <a:defRPr/>
            </a:pPr>
            <a:r>
              <a:rPr lang="en-US" sz="2400">
                <a:latin typeface="Arial"/>
                <a:ea typeface="Arial"/>
                <a:cs typeface="Arial"/>
              </a:rPr>
              <a:t>Students: even if your supervisor gave you this file, ask again for the latest version!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Note on Font Embedding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Why?</a:t>
            </a:r>
          </a:p>
          <a:p>
            <a:pPr lvl="1"/>
            <a:r>
              <a:rPr lang="en-US"/>
              <a:t>Large number of embedded font files</a:t>
            </a:r>
          </a:p>
          <a:p>
            <a:pPr lvl="1"/>
            <a:r>
              <a:rPr lang="en-US"/>
              <a:t>Good for a template: nobody can encounter ‘missing fonts’</a:t>
            </a:r>
          </a:p>
          <a:p>
            <a:pPr lvl="1"/>
            <a:r>
              <a:rPr lang="en-US"/>
              <a:t>Bad for you: annoying to work with</a:t>
            </a:r>
          </a:p>
          <a:p>
            <a:endParaRPr lang="en-US"/>
          </a:p>
          <a:p>
            <a:r>
              <a:rPr lang="en-US"/>
              <a:t>The Fix</a:t>
            </a:r>
          </a:p>
          <a:p>
            <a:pPr lvl="1"/>
            <a:r>
              <a:rPr lang="en-US"/>
              <a:t>Go to </a:t>
            </a:r>
            <a:r>
              <a:rPr lang="en-US" i="1"/>
              <a:t>PowerPoint options</a:t>
            </a:r>
            <a:r>
              <a:rPr lang="en-US"/>
              <a:t>, then </a:t>
            </a:r>
            <a:r>
              <a:rPr lang="en-US" i="1"/>
              <a:t>Save options</a:t>
            </a:r>
          </a:p>
          <a:p>
            <a:pPr lvl="1"/>
            <a:r>
              <a:rPr lang="en-US"/>
              <a:t>Select </a:t>
            </a:r>
            <a:r>
              <a:rPr lang="en-US" i="1"/>
              <a:t>Embed only the characters used in this presentation</a:t>
            </a:r>
          </a:p>
        </p:txBody>
      </p:sp>
      <p:sp>
        <p:nvSpPr>
          <p:cNvPr id="4" name="AutoShape 108"/>
          <p:cNvSpPr>
            <a:spLocks noChangeArrowheads="1"/>
          </p:cNvSpPr>
          <p:nvPr/>
        </p:nvSpPr>
        <p:spPr bwMode="auto">
          <a:xfrm>
            <a:off x="974725" y="1016659"/>
            <a:ext cx="7132638" cy="94615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FFD500"/>
              </a:gs>
              <a:gs pos="100000">
                <a:srgbClr val="FFC900"/>
              </a:gs>
            </a:gsLst>
            <a:lin ang="5460000" scaled="0"/>
            <a:tileRect/>
          </a:gradFill>
          <a:ln w="38100">
            <a:solidFill>
              <a:srgbClr val="FFB200"/>
            </a:solidFill>
            <a:round/>
            <a:headEnd/>
            <a:tailEnd/>
          </a:ln>
          <a:effectLst>
            <a:outerShdw blurRad="114300" dist="114300" dir="2400000" rotWithShape="0">
              <a:srgbClr val="000000">
                <a:alpha val="42998"/>
              </a:srgbClr>
            </a:outerShdw>
          </a:effectLst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  <a:defRPr/>
            </a:pPr>
            <a:r>
              <a:rPr lang="en-US" sz="2400">
                <a:latin typeface="Arial"/>
                <a:ea typeface="Arial"/>
                <a:cs typeface="Arial"/>
              </a:rPr>
              <a:t>This file is slow and huge!!!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Rules for DS Slides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sz="quarter" idx="10"/>
          </p:nvPr>
        </p:nvSpPr>
        <p:spPr>
          <a:xfrm>
            <a:off x="207963" y="892175"/>
            <a:ext cx="8756650" cy="5311775"/>
          </a:xfrm>
        </p:spPr>
        <p:txBody>
          <a:bodyPr/>
          <a:lstStyle/>
          <a:p>
            <a:r>
              <a:rPr lang="en-US" dirty="0"/>
              <a:t>Use only plain, un-animated slide transitions</a:t>
            </a:r>
          </a:p>
          <a:p>
            <a:r>
              <a:rPr lang="en-US" dirty="0"/>
              <a:t>Do not use special animation effects</a:t>
            </a:r>
          </a:p>
          <a:p>
            <a:pPr lvl="1"/>
            <a:r>
              <a:rPr lang="en-US" dirty="0"/>
              <a:t>Things should pop up „hard“</a:t>
            </a:r>
          </a:p>
          <a:p>
            <a:pPr lvl="1"/>
            <a:r>
              <a:rPr lang="en-US" dirty="0"/>
              <a:t>Things should not fly around, glitter, sparkle, beep, blink, etc.</a:t>
            </a:r>
          </a:p>
          <a:p>
            <a:pPr lvl="1"/>
            <a:r>
              <a:rPr lang="en-US" dirty="0"/>
              <a:t>(Dis-)Appear effects are fine to support the flow of the presentation</a:t>
            </a:r>
          </a:p>
          <a:p>
            <a:r>
              <a:rPr lang="en-US" dirty="0"/>
              <a:t>Don‘t overload your slides with text</a:t>
            </a:r>
          </a:p>
          <a:p>
            <a:r>
              <a:rPr lang="en-US" dirty="0"/>
              <a:t>Use graphs and figures</a:t>
            </a:r>
          </a:p>
          <a:p>
            <a:endParaRPr lang="en-US" dirty="0"/>
          </a:p>
          <a:p>
            <a:r>
              <a:rPr lang="en-US" dirty="0"/>
              <a:t>Don‘t leave slides half empty – balance the content</a:t>
            </a:r>
          </a:p>
          <a:p>
            <a:endParaRPr lang="en-US" dirty="0"/>
          </a:p>
          <a:p>
            <a:r>
              <a:rPr lang="en-US" dirty="0"/>
              <a:t>Try to get a consistent look – re-use colors, shapes, etc.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Version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V1: ????-??-?? Tobias Heer</a:t>
            </a:r>
          </a:p>
          <a:p>
            <a:r>
              <a:rPr lang="en-US"/>
              <a:t>V2: 2009-04-03 Tobias Heer</a:t>
            </a:r>
          </a:p>
          <a:p>
            <a:r>
              <a:rPr lang="en-US"/>
              <a:t>V3: 2009-10-20 Stefan Goetz</a:t>
            </a:r>
          </a:p>
          <a:p>
            <a:r>
              <a:rPr lang="en-US"/>
              <a:t>V4: 2010-11-18 Stefan Goetz</a:t>
            </a:r>
          </a:p>
          <a:p>
            <a:pPr lvl="1"/>
            <a:r>
              <a:rPr lang="en-US"/>
              <a:t>Changed DS to COMSYS logo and URLs</a:t>
            </a:r>
          </a:p>
          <a:p>
            <a:r>
              <a:rPr lang="en-US"/>
              <a:t>V5: 2011-06-14 Raimondas Sasnauskas</a:t>
            </a:r>
          </a:p>
          <a:p>
            <a:pPr lvl="1"/>
            <a:r>
              <a:rPr lang="en-US"/>
              <a:t>Changed the COMSYS logo (logos/comsys/web/comsys-with-name-web.pdf)</a:t>
            </a:r>
          </a:p>
          <a:p>
            <a:pPr lvl="1"/>
            <a:r>
              <a:rPr lang="en-US"/>
              <a:t>Changed the headings font (Helvetica Neue) and it’s color (RGB: 0-66-144)</a:t>
            </a:r>
          </a:p>
          <a:p>
            <a:r>
              <a:rPr lang="en-US"/>
              <a:t>V6: 2012-01-27 Florian Schmidt</a:t>
            </a:r>
          </a:p>
          <a:p>
            <a:pPr lvl="1"/>
            <a:r>
              <a:rPr lang="en-US"/>
              <a:t>Added title page versions with English “RWTH Aachen University” logo</a:t>
            </a:r>
          </a:p>
          <a:p>
            <a:r>
              <a:rPr lang="en-US"/>
              <a:t>V7: 2012-05-15 Georg Kunz</a:t>
            </a:r>
          </a:p>
          <a:p>
            <a:pPr lvl="1"/>
            <a:r>
              <a:rPr lang="en-US"/>
              <a:t>Replaced Helvetica Neue with Arial for compatibility with Windows</a:t>
            </a:r>
          </a:p>
          <a:p>
            <a:r>
              <a:rPr lang="en-US"/>
              <a:t>V8: 2015-04-28</a:t>
            </a:r>
          </a:p>
          <a:p>
            <a:pPr lvl="1"/>
            <a:r>
              <a:rPr lang="en-US"/>
              <a:t>The Most Awesomest RWTH Aachen University Corporate Identify: Bow Before It!</a:t>
            </a:r>
          </a:p>
          <a:p>
            <a:r>
              <a:rPr lang="en-US"/>
              <a:t>V9: 2015-09-30 Jó Bitsch</a:t>
            </a:r>
          </a:p>
          <a:p>
            <a:pPr lvl="1"/>
            <a:r>
              <a:rPr lang="en-US"/>
              <a:t>Revert to Arial (instead of Unicode), more consistent logo use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Shapes</a:t>
            </a:r>
          </a:p>
        </p:txBody>
      </p:sp>
      <p:sp>
        <p:nvSpPr>
          <p:cNvPr id="1536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Shape repository for presentations</a:t>
            </a:r>
          </a:p>
        </p:txBody>
      </p:sp>
      <p:pic>
        <p:nvPicPr>
          <p:cNvPr id="5" name="Picture 4" descr="griffith-timothy_kiasma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21115401">
            <a:off x="881063" y="793750"/>
            <a:ext cx="2095500" cy="3175000"/>
          </a:xfrm>
          <a:prstGeom prst="rect">
            <a:avLst/>
          </a:prstGeom>
          <a:ln w="88900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Shapes</a:t>
            </a:r>
          </a:p>
        </p:txBody>
      </p:sp>
      <p:sp>
        <p:nvSpPr>
          <p:cNvPr id="1536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Shape repository for presentations</a:t>
            </a:r>
          </a:p>
        </p:txBody>
      </p:sp>
      <p:pic>
        <p:nvPicPr>
          <p:cNvPr id="5" name="Picture 4" descr="griffith-timothy_kiasma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21115401">
            <a:off x="881063" y="793750"/>
            <a:ext cx="2095500" cy="3175000"/>
          </a:xfrm>
          <a:prstGeom prst="rect">
            <a:avLst/>
          </a:prstGeom>
          <a:ln w="88900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Colors and Shapes – Bevel</a:t>
            </a:r>
          </a:p>
        </p:txBody>
      </p:sp>
      <p:sp>
        <p:nvSpPr>
          <p:cNvPr id="4" name="AutoShape 18"/>
          <p:cNvSpPr>
            <a:spLocks noChangeArrowheads="1"/>
          </p:cNvSpPr>
          <p:nvPr/>
        </p:nvSpPr>
        <p:spPr bwMode="auto">
          <a:xfrm>
            <a:off x="373063" y="2241550"/>
            <a:ext cx="1566862" cy="754063"/>
          </a:xfrm>
          <a:prstGeom prst="chevron">
            <a:avLst>
              <a:gd name="adj" fmla="val 25950"/>
            </a:avLst>
          </a:prstGeom>
          <a:ln w="19050" cap="flat" cmpd="sng" algn="ctr">
            <a:solidFill>
              <a:schemeClr val="accent3">
                <a:shade val="95000"/>
                <a:satMod val="10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z="2000">
                <a:latin typeface="Arial"/>
                <a:cs typeface="Arial"/>
              </a:rPr>
              <a:t>GSM</a:t>
            </a:r>
          </a:p>
        </p:txBody>
      </p:sp>
      <p:sp>
        <p:nvSpPr>
          <p:cNvPr id="5" name="AutoShape 18"/>
          <p:cNvSpPr>
            <a:spLocks noChangeArrowheads="1"/>
          </p:cNvSpPr>
          <p:nvPr/>
        </p:nvSpPr>
        <p:spPr bwMode="auto">
          <a:xfrm>
            <a:off x="373063" y="3128963"/>
            <a:ext cx="1566862" cy="755650"/>
          </a:xfrm>
          <a:prstGeom prst="chevron">
            <a:avLst>
              <a:gd name="adj" fmla="val 25950"/>
            </a:avLst>
          </a:prstGeom>
          <a:ln w="19050" cap="flat" cmpd="sng" algn="ctr">
            <a:solidFill>
              <a:schemeClr val="accent4">
                <a:shade val="95000"/>
                <a:satMod val="10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z="2000">
                <a:latin typeface="Arial"/>
                <a:cs typeface="Arial"/>
              </a:rPr>
              <a:t>WiFi</a:t>
            </a:r>
          </a:p>
        </p:txBody>
      </p:sp>
      <p:sp>
        <p:nvSpPr>
          <p:cNvPr id="8" name="AutoShape 18"/>
          <p:cNvSpPr>
            <a:spLocks noChangeArrowheads="1"/>
          </p:cNvSpPr>
          <p:nvPr/>
        </p:nvSpPr>
        <p:spPr bwMode="auto">
          <a:xfrm>
            <a:off x="373063" y="4017963"/>
            <a:ext cx="1566862" cy="754062"/>
          </a:xfrm>
          <a:prstGeom prst="chevron">
            <a:avLst>
              <a:gd name="adj" fmla="val 25950"/>
            </a:avLst>
          </a:prstGeom>
          <a:ln w="19050" cap="flat" cmpd="sng" algn="ctr">
            <a:solidFill>
              <a:schemeClr val="accent1">
                <a:shade val="95000"/>
                <a:satMod val="10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WiMax</a:t>
            </a:r>
          </a:p>
        </p:txBody>
      </p:sp>
      <p:sp>
        <p:nvSpPr>
          <p:cNvPr id="9" name="Rounded Rectangle 8"/>
          <p:cNvSpPr/>
          <p:nvPr/>
        </p:nvSpPr>
        <p:spPr bwMode="auto">
          <a:xfrm>
            <a:off x="4259729" y="2319338"/>
            <a:ext cx="1173163" cy="687387"/>
          </a:xfrm>
          <a:prstGeom prst="roundRect">
            <a:avLst>
              <a:gd name="adj" fmla="val 7183"/>
            </a:avLst>
          </a:prstGeom>
          <a:ln w="19050" cap="flat" cmpd="sng" algn="ctr">
            <a:solidFill>
              <a:schemeClr val="accent3">
                <a:shade val="95000"/>
                <a:satMod val="10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Bla</a:t>
            </a:r>
          </a:p>
        </p:txBody>
      </p:sp>
      <p:sp>
        <p:nvSpPr>
          <p:cNvPr id="10" name="Rounded Rectangle 9"/>
          <p:cNvSpPr/>
          <p:nvPr/>
        </p:nvSpPr>
        <p:spPr bwMode="auto">
          <a:xfrm>
            <a:off x="4259729" y="3213100"/>
            <a:ext cx="1173163" cy="685800"/>
          </a:xfrm>
          <a:prstGeom prst="roundRect">
            <a:avLst>
              <a:gd name="adj" fmla="val 7183"/>
            </a:avLst>
          </a:prstGeom>
          <a:ln w="19050" cap="flat" cmpd="sng" algn="ctr">
            <a:solidFill>
              <a:schemeClr val="accent4">
                <a:shade val="95000"/>
                <a:satMod val="10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Blubb</a:t>
            </a:r>
          </a:p>
        </p:txBody>
      </p:sp>
      <p:sp>
        <p:nvSpPr>
          <p:cNvPr id="11" name="Rounded Rectangle 10"/>
          <p:cNvSpPr/>
          <p:nvPr/>
        </p:nvSpPr>
        <p:spPr bwMode="auto">
          <a:xfrm>
            <a:off x="4259729" y="4105275"/>
            <a:ext cx="1173163" cy="685800"/>
          </a:xfrm>
          <a:prstGeom prst="roundRect">
            <a:avLst>
              <a:gd name="adj" fmla="val 7183"/>
            </a:avLst>
          </a:prstGeom>
          <a:ln w="19050" cap="flat" cmpd="sng" algn="ctr">
            <a:solidFill>
              <a:schemeClr val="accent1">
                <a:shade val="95000"/>
                <a:satMod val="10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Bli</a:t>
            </a:r>
          </a:p>
        </p:txBody>
      </p:sp>
      <p:sp>
        <p:nvSpPr>
          <p:cNvPr id="12" name="Rounded Rectangle 11"/>
          <p:cNvSpPr/>
          <p:nvPr/>
        </p:nvSpPr>
        <p:spPr bwMode="auto">
          <a:xfrm>
            <a:off x="4259729" y="4997450"/>
            <a:ext cx="1173163" cy="687388"/>
          </a:xfrm>
          <a:prstGeom prst="roundRect">
            <a:avLst>
              <a:gd name="adj" fmla="val 7183"/>
            </a:avLst>
          </a:prstGeom>
          <a:gradFill>
            <a:gsLst>
              <a:gs pos="0">
                <a:schemeClr val="bg1">
                  <a:lumMod val="65000"/>
                </a:schemeClr>
              </a:gs>
              <a:gs pos="3400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Blo</a:t>
            </a:r>
          </a:p>
        </p:txBody>
      </p:sp>
      <p:sp>
        <p:nvSpPr>
          <p:cNvPr id="13" name="Rounded Rectangle 12"/>
          <p:cNvSpPr/>
          <p:nvPr/>
        </p:nvSpPr>
        <p:spPr bwMode="auto">
          <a:xfrm>
            <a:off x="4259729" y="5889625"/>
            <a:ext cx="1173163" cy="687388"/>
          </a:xfrm>
          <a:prstGeom prst="roundRect">
            <a:avLst>
              <a:gd name="adj" fmla="val 7183"/>
            </a:avLst>
          </a:prstGeom>
          <a:gradFill flip="none" rotWithShape="1"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0"/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40000" dist="19939" dir="5400000" rotWithShape="0">
              <a:schemeClr val="tx1">
                <a:lumMod val="95000"/>
                <a:lumOff val="5000"/>
                <a:alpha val="38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b="1">
                <a:solidFill>
                  <a:schemeClr val="bg1"/>
                </a:solidFill>
                <a:latin typeface="Arial"/>
                <a:cs typeface="Arial"/>
              </a:rPr>
              <a:t>Gump</a:t>
            </a:r>
          </a:p>
        </p:txBody>
      </p:sp>
      <p:sp>
        <p:nvSpPr>
          <p:cNvPr id="14" name="AutoShape 18"/>
          <p:cNvSpPr>
            <a:spLocks noChangeArrowheads="1"/>
          </p:cNvSpPr>
          <p:nvPr/>
        </p:nvSpPr>
        <p:spPr bwMode="auto">
          <a:xfrm>
            <a:off x="2195513" y="2241550"/>
            <a:ext cx="1566862" cy="754063"/>
          </a:xfrm>
          <a:prstGeom prst="chevron">
            <a:avLst>
              <a:gd name="adj" fmla="val 25950"/>
            </a:avLst>
          </a:prstGeom>
          <a:solidFill>
            <a:srgbClr val="D7FFA4"/>
          </a:solidFill>
          <a:ln w="19050" cap="flat" cmpd="sng" algn="ctr">
            <a:solidFill>
              <a:schemeClr val="accent3">
                <a:shade val="95000"/>
                <a:satMod val="10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z="2000">
                <a:latin typeface="Arial"/>
                <a:cs typeface="Arial"/>
              </a:rPr>
              <a:t>GSM</a:t>
            </a:r>
          </a:p>
        </p:txBody>
      </p:sp>
      <p:sp>
        <p:nvSpPr>
          <p:cNvPr id="15" name="AutoShape 18"/>
          <p:cNvSpPr>
            <a:spLocks noChangeArrowheads="1"/>
          </p:cNvSpPr>
          <p:nvPr/>
        </p:nvSpPr>
        <p:spPr bwMode="auto">
          <a:xfrm>
            <a:off x="2195513" y="3128963"/>
            <a:ext cx="1566862" cy="755650"/>
          </a:xfrm>
          <a:prstGeom prst="chevron">
            <a:avLst>
              <a:gd name="adj" fmla="val 25950"/>
            </a:avLst>
          </a:prstGeom>
          <a:solidFill>
            <a:srgbClr val="D1E1FF"/>
          </a:solidFill>
          <a:ln w="19050" cap="flat" cmpd="sng" algn="ctr">
            <a:solidFill>
              <a:schemeClr val="accent4">
                <a:shade val="95000"/>
                <a:satMod val="10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z="2000">
                <a:latin typeface="Arial"/>
                <a:cs typeface="Arial"/>
              </a:rPr>
              <a:t>WiFi</a:t>
            </a:r>
          </a:p>
        </p:txBody>
      </p:sp>
      <p:sp>
        <p:nvSpPr>
          <p:cNvPr id="16" name="AutoShape 18"/>
          <p:cNvSpPr>
            <a:spLocks noChangeArrowheads="1"/>
          </p:cNvSpPr>
          <p:nvPr/>
        </p:nvSpPr>
        <p:spPr bwMode="auto">
          <a:xfrm>
            <a:off x="2195513" y="4017963"/>
            <a:ext cx="1566862" cy="754062"/>
          </a:xfrm>
          <a:prstGeom prst="chevron">
            <a:avLst>
              <a:gd name="adj" fmla="val 25950"/>
            </a:avLst>
          </a:prstGeom>
          <a:solidFill>
            <a:srgbClr val="FFE7AE"/>
          </a:solidFill>
          <a:ln w="19050" cap="flat" cmpd="sng" algn="ctr">
            <a:solidFill>
              <a:schemeClr val="accent1">
                <a:shade val="95000"/>
                <a:satMod val="10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WiMax</a:t>
            </a:r>
          </a:p>
        </p:txBody>
      </p:sp>
      <p:sp>
        <p:nvSpPr>
          <p:cNvPr id="17" name="Rounded Rectangle 16"/>
          <p:cNvSpPr/>
          <p:nvPr/>
        </p:nvSpPr>
        <p:spPr bwMode="auto">
          <a:xfrm>
            <a:off x="5683717" y="2325688"/>
            <a:ext cx="1173162" cy="687387"/>
          </a:xfrm>
          <a:prstGeom prst="roundRect">
            <a:avLst>
              <a:gd name="adj" fmla="val 7183"/>
            </a:avLst>
          </a:prstGeom>
          <a:solidFill>
            <a:srgbClr val="D7FFA4"/>
          </a:solidFill>
          <a:ln w="19050" cap="flat" cmpd="sng" algn="ctr">
            <a:solidFill>
              <a:schemeClr val="accent3">
                <a:shade val="95000"/>
                <a:satMod val="10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z="2000">
                <a:latin typeface="Arial"/>
                <a:cs typeface="Arial"/>
              </a:rPr>
              <a:t>Bla</a:t>
            </a:r>
          </a:p>
        </p:txBody>
      </p:sp>
      <p:sp>
        <p:nvSpPr>
          <p:cNvPr id="18" name="Rounded Rectangle 17"/>
          <p:cNvSpPr/>
          <p:nvPr/>
        </p:nvSpPr>
        <p:spPr bwMode="auto">
          <a:xfrm>
            <a:off x="5683717" y="3217863"/>
            <a:ext cx="1173162" cy="687387"/>
          </a:xfrm>
          <a:prstGeom prst="roundRect">
            <a:avLst>
              <a:gd name="adj" fmla="val 7183"/>
            </a:avLst>
          </a:prstGeom>
          <a:solidFill>
            <a:srgbClr val="D1E1FF"/>
          </a:solidFill>
          <a:ln w="19050" cap="flat" cmpd="sng" algn="ctr">
            <a:solidFill>
              <a:schemeClr val="accent4">
                <a:shade val="95000"/>
                <a:satMod val="10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z="2000">
                <a:latin typeface="Arial"/>
                <a:cs typeface="Arial"/>
              </a:rPr>
              <a:t>Blubb</a:t>
            </a:r>
          </a:p>
        </p:txBody>
      </p:sp>
      <p:sp>
        <p:nvSpPr>
          <p:cNvPr id="19" name="Rounded Rectangle 18"/>
          <p:cNvSpPr/>
          <p:nvPr/>
        </p:nvSpPr>
        <p:spPr bwMode="auto">
          <a:xfrm>
            <a:off x="5683717" y="4110038"/>
            <a:ext cx="1173162" cy="687387"/>
          </a:xfrm>
          <a:prstGeom prst="roundRect">
            <a:avLst>
              <a:gd name="adj" fmla="val 7183"/>
            </a:avLst>
          </a:prstGeom>
          <a:solidFill>
            <a:srgbClr val="FFE7AE"/>
          </a:solidFill>
          <a:ln w="19050" cap="flat" cmpd="sng" algn="ctr">
            <a:solidFill>
              <a:schemeClr val="accent1">
                <a:shade val="95000"/>
                <a:satMod val="10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z="2000">
                <a:latin typeface="Arial"/>
                <a:cs typeface="Arial"/>
              </a:rPr>
              <a:t>Bli</a:t>
            </a:r>
          </a:p>
        </p:txBody>
      </p:sp>
      <p:sp>
        <p:nvSpPr>
          <p:cNvPr id="20" name="Rounded Rectangle 19"/>
          <p:cNvSpPr/>
          <p:nvPr/>
        </p:nvSpPr>
        <p:spPr bwMode="auto">
          <a:xfrm>
            <a:off x="5683717" y="5002213"/>
            <a:ext cx="1173162" cy="687387"/>
          </a:xfrm>
          <a:prstGeom prst="roundRect">
            <a:avLst>
              <a:gd name="adj" fmla="val 7183"/>
            </a:avLst>
          </a:prstGeom>
          <a:solidFill>
            <a:srgbClr val="CACACA"/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Blo</a:t>
            </a:r>
          </a:p>
        </p:txBody>
      </p:sp>
      <p:sp>
        <p:nvSpPr>
          <p:cNvPr id="21" name="Rounded Rectangle 20"/>
          <p:cNvSpPr/>
          <p:nvPr/>
        </p:nvSpPr>
        <p:spPr bwMode="auto">
          <a:xfrm>
            <a:off x="5683717" y="5894388"/>
            <a:ext cx="1173162" cy="687387"/>
          </a:xfrm>
          <a:prstGeom prst="roundRect">
            <a:avLst>
              <a:gd name="adj" fmla="val 7183"/>
            </a:avLst>
          </a:prstGeom>
          <a:solidFill>
            <a:srgbClr val="565656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b="1">
                <a:solidFill>
                  <a:schemeClr val="bg1"/>
                </a:solidFill>
                <a:latin typeface="Arial"/>
                <a:cs typeface="Arial"/>
              </a:rPr>
              <a:t>Gump</a:t>
            </a:r>
          </a:p>
        </p:txBody>
      </p:sp>
      <p:sp>
        <p:nvSpPr>
          <p:cNvPr id="16403" name="TextBox 21"/>
          <p:cNvSpPr txBox="1">
            <a:spLocks noChangeArrowheads="1"/>
          </p:cNvSpPr>
          <p:nvPr/>
        </p:nvSpPr>
        <p:spPr bwMode="auto">
          <a:xfrm>
            <a:off x="649288" y="1690688"/>
            <a:ext cx="95408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Arial"/>
                <a:ea typeface="Arial"/>
                <a:cs typeface="Arial"/>
              </a:rPr>
              <a:t>Bevel</a:t>
            </a:r>
          </a:p>
        </p:txBody>
      </p:sp>
      <p:sp>
        <p:nvSpPr>
          <p:cNvPr id="16404" name="TextBox 22"/>
          <p:cNvSpPr txBox="1">
            <a:spLocks noChangeArrowheads="1"/>
          </p:cNvSpPr>
          <p:nvPr/>
        </p:nvSpPr>
        <p:spPr bwMode="auto">
          <a:xfrm>
            <a:off x="2571750" y="1690688"/>
            <a:ext cx="6985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Arial"/>
                <a:ea typeface="Arial"/>
                <a:cs typeface="Arial"/>
              </a:rPr>
              <a:t>Flat</a:t>
            </a:r>
          </a:p>
        </p:txBody>
      </p:sp>
      <p:sp>
        <p:nvSpPr>
          <p:cNvPr id="16405" name="TextBox 23"/>
          <p:cNvSpPr txBox="1">
            <a:spLocks noChangeArrowheads="1"/>
          </p:cNvSpPr>
          <p:nvPr/>
        </p:nvSpPr>
        <p:spPr bwMode="auto">
          <a:xfrm>
            <a:off x="4369267" y="1690688"/>
            <a:ext cx="95408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Arial"/>
                <a:ea typeface="Arial"/>
                <a:cs typeface="Arial"/>
              </a:rPr>
              <a:t>Bevel</a:t>
            </a:r>
          </a:p>
        </p:txBody>
      </p:sp>
      <p:sp>
        <p:nvSpPr>
          <p:cNvPr id="16406" name="TextBox 24"/>
          <p:cNvSpPr txBox="1">
            <a:spLocks noChangeArrowheads="1"/>
          </p:cNvSpPr>
          <p:nvPr/>
        </p:nvSpPr>
        <p:spPr bwMode="auto">
          <a:xfrm>
            <a:off x="5921842" y="1690688"/>
            <a:ext cx="69691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Arial"/>
                <a:ea typeface="Arial"/>
                <a:cs typeface="Arial"/>
              </a:rPr>
              <a:t>Flat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Arrow Styles</a:t>
            </a:r>
          </a:p>
        </p:txBody>
      </p:sp>
      <p:sp>
        <p:nvSpPr>
          <p:cNvPr id="6" name="Rounded Rectangle 5"/>
          <p:cNvSpPr/>
          <p:nvPr/>
        </p:nvSpPr>
        <p:spPr bwMode="auto">
          <a:xfrm>
            <a:off x="6008688" y="4140200"/>
            <a:ext cx="1892300" cy="1892300"/>
          </a:xfrm>
          <a:prstGeom prst="roundRect">
            <a:avLst/>
          </a:prstGeom>
          <a:ln w="22225" cap="flat" cmpd="sng" algn="ctr">
            <a:solidFill>
              <a:schemeClr val="accent3">
                <a:shade val="95000"/>
                <a:satMod val="10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7" name="Rounded Rectangle 6"/>
          <p:cNvSpPr/>
          <p:nvPr/>
        </p:nvSpPr>
        <p:spPr bwMode="auto">
          <a:xfrm>
            <a:off x="1031875" y="2482850"/>
            <a:ext cx="1892300" cy="1892300"/>
          </a:xfrm>
          <a:prstGeom prst="roundRect">
            <a:avLst/>
          </a:prstGeom>
          <a:ln w="22225" cap="flat" cmpd="sng" algn="ctr">
            <a:solidFill>
              <a:schemeClr val="accent4">
                <a:shade val="95000"/>
                <a:satMod val="10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17413" name="Elbow Connector 8"/>
          <p:cNvCxnSpPr>
            <a:cxnSpLocks noChangeShapeType="1"/>
            <a:stCxn id="7" idx="3"/>
            <a:endCxn id="6" idx="1"/>
          </p:cNvCxnSpPr>
          <p:nvPr/>
        </p:nvCxnSpPr>
        <p:spPr bwMode="auto">
          <a:xfrm>
            <a:off x="2924175" y="3429000"/>
            <a:ext cx="3084513" cy="1657350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11" name="Right Arrow 10"/>
          <p:cNvSpPr/>
          <p:nvPr/>
        </p:nvSpPr>
        <p:spPr bwMode="auto">
          <a:xfrm>
            <a:off x="4946650" y="1684338"/>
            <a:ext cx="2185988" cy="879475"/>
          </a:xfrm>
          <a:prstGeom prst="rightArrow">
            <a:avLst/>
          </a:prstGeom>
          <a:gradFill flip="none" rotWithShape="1"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0"/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40000" dist="19939" dir="5400000" rotWithShape="0">
              <a:schemeClr val="tx1">
                <a:lumMod val="95000"/>
                <a:lumOff val="5000"/>
                <a:alpha val="38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 b="1">
              <a:solidFill>
                <a:schemeClr val="bg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435" name="Content Placeholder 2"/>
          <p:cNvSpPr>
            <a:spLocks noGrp="1"/>
          </p:cNvSpPr>
          <p:nvPr>
            <p:ph sz="quarter" idx="10"/>
          </p:nvPr>
        </p:nvSpPr>
        <p:spPr>
          <a:xfrm>
            <a:off x="73025" y="769938"/>
            <a:ext cx="8891588" cy="592137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AutoShape 108"/>
          <p:cNvSpPr>
            <a:spLocks noChangeArrowheads="1"/>
          </p:cNvSpPr>
          <p:nvPr/>
        </p:nvSpPr>
        <p:spPr bwMode="auto">
          <a:xfrm>
            <a:off x="974725" y="5232400"/>
            <a:ext cx="7132638" cy="94615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FFD500"/>
              </a:gs>
              <a:gs pos="100000">
                <a:srgbClr val="FFC900"/>
              </a:gs>
            </a:gsLst>
            <a:lin ang="5460000" scaled="0"/>
            <a:tileRect/>
          </a:gradFill>
          <a:ln w="38100">
            <a:solidFill>
              <a:srgbClr val="FFB200"/>
            </a:solidFill>
            <a:round/>
            <a:headEnd/>
            <a:tailEnd/>
          </a:ln>
          <a:effectLst>
            <a:outerShdw blurRad="114300" dist="114300" dir="2400000" rotWithShape="0">
              <a:srgbClr val="000000">
                <a:alpha val="42998"/>
              </a:srgbClr>
            </a:outerShdw>
          </a:effectLst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  <a:defRPr/>
            </a:pPr>
            <a:r>
              <a:rPr lang="en-US" sz="2400">
                <a:latin typeface="Arial"/>
                <a:ea typeface="Arial"/>
                <a:cs typeface="Arial"/>
              </a:rPr>
              <a:t>Your very important message goes here</a:t>
            </a: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5634038" y="1012825"/>
            <a:ext cx="3024187" cy="1487488"/>
          </a:xfrm>
          <a:prstGeom prst="wedgeRoundRectCallout">
            <a:avLst>
              <a:gd name="adj1" fmla="val -20833"/>
              <a:gd name="adj2" fmla="val 74823"/>
              <a:gd name="adj3" fmla="val 16667"/>
            </a:avLst>
          </a:prstGeom>
          <a:gradFill flip="none" rotWithShape="1">
            <a:gsLst>
              <a:gs pos="0">
                <a:srgbClr val="FFD500"/>
              </a:gs>
              <a:gs pos="100000">
                <a:srgbClr val="FFC900"/>
              </a:gs>
            </a:gsLst>
            <a:lin ang="5460000" scaled="0"/>
            <a:tileRect/>
          </a:gradFill>
          <a:ln w="38100">
            <a:solidFill>
              <a:srgbClr val="FFB200"/>
            </a:solidFill>
            <a:round/>
            <a:headEnd/>
            <a:tailEnd/>
          </a:ln>
          <a:effectLst>
            <a:outerShdw blurRad="114300" dist="114300" dir="2400000" rotWithShape="0">
              <a:srgbClr val="000000">
                <a:alpha val="42998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2400">
                <a:latin typeface="Arial"/>
                <a:ea typeface="Arial"/>
                <a:cs typeface="Arial"/>
              </a:rPr>
              <a:t>Your very important remark goes here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Visio Devices</a:t>
            </a:r>
          </a:p>
        </p:txBody>
      </p:sp>
      <p:pic>
        <p:nvPicPr>
          <p:cNvPr id="19459" name="Content Placeholder 3" descr="notebook.png"/>
          <p:cNvPicPr>
            <a:picLocks noGrp="1" noChangeAspect="1"/>
          </p:cNvPicPr>
          <p:nvPr>
            <p:ph sz="quarter" idx="10"/>
          </p:nvPr>
        </p:nvPicPr>
        <p:blipFill>
          <a:blip r:embed="rId2" cstate="print"/>
          <a:srcRect l="-24028" r="-24028"/>
          <a:stretch>
            <a:fillRect/>
          </a:stretch>
        </p:blipFill>
        <p:spPr>
          <a:xfrm>
            <a:off x="720725" y="1258888"/>
            <a:ext cx="1428750" cy="950912"/>
          </a:xfrm>
        </p:spPr>
      </p:pic>
      <p:pic>
        <p:nvPicPr>
          <p:cNvPr id="19460" name="Picture 4" descr="pda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54575" y="3429000"/>
            <a:ext cx="1679575" cy="201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1" name="Picture 5" descr="pda2.pn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36838" y="3052763"/>
            <a:ext cx="1919287" cy="2560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2" name="Picture 6" descr="phone.pn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726238" y="1803400"/>
            <a:ext cx="1431925" cy="140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3" name="Picture 7" descr="Server.png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195513" y="1393825"/>
            <a:ext cx="1236662" cy="169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4" name="Picture 15" descr="host.png"/>
          <p:cNvPicPr>
            <a:picLocks noChangeAspect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54063" y="3429000"/>
            <a:ext cx="1835150" cy="193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Devices</a:t>
            </a:r>
          </a:p>
        </p:txBody>
      </p:sp>
      <p:pic>
        <p:nvPicPr>
          <p:cNvPr id="20483" name="Content Placeholder 3" descr="2006-macbook-pro Kopie.png"/>
          <p:cNvPicPr>
            <a:picLocks noGrp="1" noChangeAspect="1"/>
          </p:cNvPicPr>
          <p:nvPr>
            <p:ph sz="quarter" idx="10"/>
          </p:nvPr>
        </p:nvPicPr>
        <p:blipFill>
          <a:blip r:embed="rId2" cstate="print"/>
          <a:srcRect l="-22112" r="-22112"/>
          <a:stretch>
            <a:fillRect/>
          </a:stretch>
        </p:blipFill>
        <p:spPr>
          <a:xfrm>
            <a:off x="4913313" y="685800"/>
            <a:ext cx="2746375" cy="1830388"/>
          </a:xfrm>
        </p:spPr>
      </p:pic>
      <p:pic>
        <p:nvPicPr>
          <p:cNvPr id="20484" name="Picture 5" descr="114933vb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65275" y="5080000"/>
            <a:ext cx="130492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5" name="Picture 6" descr="Cisco_WLAN_AP_1252.pn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43675" y="4776788"/>
            <a:ext cx="2600325" cy="2081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6" name="Picture 7" descr="iphone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-182563" y="2681288"/>
            <a:ext cx="2393951" cy="3192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7" name="Picture 8" descr="iPhone.png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156450" y="1116013"/>
            <a:ext cx="1389063" cy="319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8" name="Picture 9" descr="old_phone.png"/>
          <p:cNvPicPr>
            <a:picLocks noChangeAspect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398713" y="3736975"/>
            <a:ext cx="3255962" cy="216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9" name="Picture 10" descr="UX90PS.png"/>
          <p:cNvPicPr>
            <a:picLocks noChangeAspect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810125" y="3429000"/>
            <a:ext cx="2222500" cy="232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90" name="Picture 11" descr="l_12020018.png"/>
          <p:cNvPicPr>
            <a:picLocks noChangeAspect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333750" y="1473200"/>
            <a:ext cx="2454275" cy="217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91" name="Picture 12" descr="nokia_7610_phone.png"/>
          <p:cNvPicPr>
            <a:picLocks noChangeAspect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550988" y="781050"/>
            <a:ext cx="1770062" cy="248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92" name="Picture 13" descr="nokia-n800.png"/>
          <p:cNvPicPr>
            <a:picLocks noChangeAspect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3956050" y="5083175"/>
            <a:ext cx="2663825" cy="177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Misc</a:t>
            </a:r>
            <a:br>
              <a:rPr lang="en-US"/>
            </a:br>
            <a:endParaRPr lang="en-US"/>
          </a:p>
        </p:txBody>
      </p:sp>
      <p:pic>
        <p:nvPicPr>
          <p:cNvPr id="21507" name="Content Placeholder 9" descr="world"/>
          <p:cNvPicPr>
            <a:picLocks noGrp="1" noChangeAspect="1"/>
          </p:cNvPicPr>
          <p:nvPr>
            <p:ph sz="quarter" idx="10"/>
          </p:nvPr>
        </p:nvPicPr>
        <p:blipFill>
          <a:blip r:embed="rId2" cstate="print"/>
          <a:srcRect l="-22266" r="-22266"/>
          <a:stretch>
            <a:fillRect/>
          </a:stretch>
        </p:blipFill>
        <p:spPr>
          <a:xfrm>
            <a:off x="4910138" y="1249363"/>
            <a:ext cx="3714750" cy="2474912"/>
          </a:xfrm>
        </p:spPr>
      </p:pic>
      <p:pic>
        <p:nvPicPr>
          <p:cNvPr id="21508" name="Picture 3" descr="user2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0238" y="3044825"/>
            <a:ext cx="546100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09" name="Picture 4" descr="user1.pn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6625" y="4583113"/>
            <a:ext cx="546100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10" name="Picture 5" descr="user.wmf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465388" y="1892300"/>
            <a:ext cx="1000125" cy="1306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11" name="Picture 6" descr="flag.png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178300" y="4722813"/>
            <a:ext cx="1584325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Logos</a:t>
            </a:r>
          </a:p>
        </p:txBody>
      </p:sp>
      <p:pic>
        <p:nvPicPr>
          <p:cNvPr id="22531" name="Content Placeholder 3" descr="hipl.tiff"/>
          <p:cNvPicPr>
            <a:picLocks noGrp="1" noChangeAspect="1"/>
          </p:cNvPicPr>
          <p:nvPr>
            <p:ph sz="quarter" idx="10"/>
          </p:nvPr>
        </p:nvPicPr>
        <p:blipFill>
          <a:blip r:embed="rId2" cstate="print"/>
          <a:srcRect l="-31007" r="-31007"/>
          <a:stretch>
            <a:fillRect/>
          </a:stretch>
        </p:blipFill>
        <p:spPr>
          <a:xfrm>
            <a:off x="463550" y="1614488"/>
            <a:ext cx="2724150" cy="1814512"/>
          </a:xfrm>
        </p:spPr>
      </p:pic>
      <p:pic>
        <p:nvPicPr>
          <p:cNvPr id="22532" name="Picture 4" descr="fonrund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0325" y="4164013"/>
            <a:ext cx="2016125" cy="201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3" name="Picture 5" descr="umic_logo_w.pn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72288" y="5241925"/>
            <a:ext cx="18605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4" name="Picture 6" descr="umic_logo_b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613400" y="6048375"/>
            <a:ext cx="1863725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5" name="Picture 8" descr="MicrosoftLogo.wmf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440363" y="2600325"/>
            <a:ext cx="1281112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6" name="Picture 9" descr="logo GK.png"/>
          <p:cNvPicPr>
            <a:picLocks noChangeAspect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421313" y="3429000"/>
            <a:ext cx="1477962" cy="146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7" name="Picture 10" descr="IEEEblack.wmf"/>
          <p:cNvPicPr>
            <a:picLocks noChangeAspect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789363" y="1441450"/>
            <a:ext cx="2268537" cy="6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8" name="Picture 11" descr="ericsson_logo_black.wmf"/>
          <p:cNvPicPr>
            <a:picLocks noChangeAspect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497638" y="1717675"/>
            <a:ext cx="2030412" cy="40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/>
              <a:t>Integrity Protection</a:t>
            </a:r>
            <a:r>
              <a:rPr lang="en-US"/>
              <a:t> - Delayed Key Disclosure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611188" y="3784600"/>
            <a:ext cx="8532812" cy="2906713"/>
          </a:xfrm>
        </p:spPr>
        <p:txBody>
          <a:bodyPr/>
          <a:lstStyle/>
          <a:p>
            <a:pPr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/>
          </a:p>
          <a:p>
            <a:pPr marL="514350" indent="-457200"/>
            <a:r>
              <a:rPr lang="en-US" b="1"/>
              <a:t>Temporal separation between 1. and 2.</a:t>
            </a:r>
          </a:p>
          <a:p>
            <a:pPr marL="914400" lvl="1" indent="-457200"/>
            <a:r>
              <a:rPr lang="en-US"/>
              <a:t>Time synchronization / epochs  (TESLA)</a:t>
            </a:r>
          </a:p>
          <a:p>
            <a:pPr marL="914400" lvl="1" indent="-457200"/>
            <a:r>
              <a:rPr lang="en-US"/>
              <a:t>Interaction (Zero Common Knowledge, WIMP, Guy Fawkes)</a:t>
            </a:r>
          </a:p>
          <a:p>
            <a:pPr>
              <a:buNone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 bwMode="auto">
          <a:xfrm>
            <a:off x="1231900" y="1549400"/>
            <a:ext cx="6870700" cy="12700"/>
          </a:xfrm>
          <a:prstGeom prst="line">
            <a:avLst/>
          </a:prstGeom>
          <a:solidFill>
            <a:srgbClr val="EAEAEA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" name="Oval 21"/>
          <p:cNvSpPr/>
          <p:nvPr/>
        </p:nvSpPr>
        <p:spPr bwMode="auto">
          <a:xfrm>
            <a:off x="7825665" y="1265144"/>
            <a:ext cx="561770" cy="561770"/>
          </a:xfrm>
          <a:prstGeom prst="ellipse">
            <a:avLst/>
          </a:prstGeom>
          <a:gradFill>
            <a:gsLst>
              <a:gs pos="0">
                <a:srgbClr val="99AD21"/>
              </a:gs>
              <a:gs pos="100000">
                <a:srgbClr val="E4FF80"/>
              </a:gs>
            </a:gsLst>
          </a:gradFill>
          <a:ln w="28575" cap="flat" cmpd="sng" algn="ctr">
            <a:solidFill>
              <a:srgbClr val="9BB02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tIns="46800" bIns="18000" anchor="b">
            <a:prstTxWarp prst="textNoShape">
              <a:avLst/>
            </a:prstTxWarp>
          </a:bodyPr>
          <a:lstStyle/>
          <a:p>
            <a:pPr>
              <a:defRPr/>
            </a:pPr>
            <a:endParaRPr lang="en-US" sz="1600"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830891" y="1214861"/>
            <a:ext cx="561770" cy="561770"/>
          </a:xfrm>
          <a:prstGeom prst="ellipse">
            <a:avLst/>
          </a:prstGeom>
          <a:ln w="19050" cap="flat" cmpd="sng" algn="ctr">
            <a:solidFill>
              <a:schemeClr val="accent4">
                <a:shade val="95000"/>
                <a:satMod val="10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b">
            <a:prstTxWarp prst="textNoShape">
              <a:avLst/>
            </a:prstTxWarp>
          </a:bodyPr>
          <a:lstStyle/>
          <a:p>
            <a:pPr>
              <a:defRPr/>
            </a:pPr>
            <a:endParaRPr lang="en-US" sz="2800"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84809" y="1109344"/>
            <a:ext cx="4414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87589" y="1172844"/>
            <a:ext cx="4414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grpSp>
        <p:nvGrpSpPr>
          <p:cNvPr id="37" name="Group 180"/>
          <p:cNvGrpSpPr/>
          <p:nvPr/>
        </p:nvGrpSpPr>
        <p:grpSpPr>
          <a:xfrm>
            <a:off x="8443026" y="1314783"/>
            <a:ext cx="307274" cy="476980"/>
            <a:chOff x="3781276" y="2662711"/>
            <a:chExt cx="307274" cy="476980"/>
          </a:xfrm>
        </p:grpSpPr>
        <p:sp>
          <p:nvSpPr>
            <p:cNvPr id="61" name="Rounded Rectangle 60"/>
            <p:cNvSpPr/>
            <p:nvPr/>
          </p:nvSpPr>
          <p:spPr bwMode="auto">
            <a:xfrm>
              <a:off x="3781276" y="2662711"/>
              <a:ext cx="307274" cy="476980"/>
            </a:xfrm>
            <a:prstGeom prst="roundRect">
              <a:avLst>
                <a:gd name="adj" fmla="val 7183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1800">
                <a:solidFill>
                  <a:schemeClr val="tx1"/>
                </a:solidFill>
                <a:latin typeface="Arial"/>
                <a:cs typeface="Arial"/>
              </a:endParaRPr>
            </a:p>
            <a:p>
              <a:pPr>
                <a:defRPr/>
              </a:pPr>
              <a:endParaRPr lang="en-US" sz="1800"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grpSp>
          <p:nvGrpSpPr>
            <p:cNvPr id="38" name="Group 175"/>
            <p:cNvGrpSpPr/>
            <p:nvPr/>
          </p:nvGrpSpPr>
          <p:grpSpPr>
            <a:xfrm>
              <a:off x="3793703" y="2770857"/>
              <a:ext cx="292189" cy="292189"/>
              <a:chOff x="2326389" y="5641484"/>
              <a:chExt cx="820417" cy="820418"/>
            </a:xfrm>
            <a:solidFill>
              <a:schemeClr val="accent4">
                <a:lumMod val="50000"/>
              </a:schemeClr>
            </a:solidFill>
          </p:grpSpPr>
          <p:sp>
            <p:nvSpPr>
              <p:cNvPr id="63" name="Circular Arrow 62"/>
              <p:cNvSpPr/>
              <p:nvPr/>
            </p:nvSpPr>
            <p:spPr bwMode="auto">
              <a:xfrm rot="11039822">
                <a:off x="2326389" y="5641485"/>
                <a:ext cx="820417" cy="820417"/>
              </a:xfrm>
              <a:prstGeom prst="circularArrow">
                <a:avLst>
                  <a:gd name="adj1" fmla="val 12500"/>
                  <a:gd name="adj2" fmla="val 1142319"/>
                  <a:gd name="adj3" fmla="val 20457681"/>
                  <a:gd name="adj4" fmla="val 15322452"/>
                  <a:gd name="adj5" fmla="val 12500"/>
                </a:avLst>
              </a:prstGeom>
              <a:grp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64" name="Circular Arrow 63"/>
              <p:cNvSpPr/>
              <p:nvPr/>
            </p:nvSpPr>
            <p:spPr bwMode="auto">
              <a:xfrm rot="10574178" flipH="1">
                <a:off x="2331533" y="5659237"/>
                <a:ext cx="796991" cy="796991"/>
              </a:xfrm>
              <a:prstGeom prst="circularArrow">
                <a:avLst>
                  <a:gd name="adj1" fmla="val 12500"/>
                  <a:gd name="adj2" fmla="val 1142319"/>
                  <a:gd name="adj3" fmla="val 20457681"/>
                  <a:gd name="adj4" fmla="val 16032624"/>
                  <a:gd name="adj5" fmla="val 12500"/>
                </a:avLst>
              </a:prstGeom>
              <a:grp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65" name="Process 64"/>
              <p:cNvSpPr/>
              <p:nvPr/>
            </p:nvSpPr>
            <p:spPr bwMode="auto">
              <a:xfrm>
                <a:off x="2665870" y="5641484"/>
                <a:ext cx="134863" cy="685518"/>
              </a:xfrm>
              <a:prstGeom prst="flowChartProcess">
                <a:avLst/>
              </a:prstGeom>
              <a:grp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66" name="Process 65"/>
              <p:cNvSpPr/>
              <p:nvPr/>
            </p:nvSpPr>
            <p:spPr bwMode="auto">
              <a:xfrm>
                <a:off x="2461247" y="5742627"/>
                <a:ext cx="573168" cy="78666"/>
              </a:xfrm>
              <a:prstGeom prst="flowChartProcess">
                <a:avLst/>
              </a:prstGeom>
              <a:grp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/>
                  <a:ea typeface="Arial"/>
                  <a:cs typeface="Arial"/>
                </a:endParaRPr>
              </a:p>
            </p:txBody>
          </p:sp>
        </p:grpSp>
      </p:grpSp>
      <p:grpSp>
        <p:nvGrpSpPr>
          <p:cNvPr id="39" name="Group 187"/>
          <p:cNvGrpSpPr/>
          <p:nvPr/>
        </p:nvGrpSpPr>
        <p:grpSpPr>
          <a:xfrm>
            <a:off x="448438" y="1284489"/>
            <a:ext cx="307274" cy="476980"/>
            <a:chOff x="4194161" y="2669054"/>
            <a:chExt cx="307274" cy="476980"/>
          </a:xfrm>
        </p:grpSpPr>
        <p:sp>
          <p:nvSpPr>
            <p:cNvPr id="68" name="Rounded Rectangle 67"/>
            <p:cNvSpPr/>
            <p:nvPr/>
          </p:nvSpPr>
          <p:spPr bwMode="auto">
            <a:xfrm>
              <a:off x="4194161" y="2669054"/>
              <a:ext cx="307274" cy="476980"/>
            </a:xfrm>
            <a:prstGeom prst="roundRect">
              <a:avLst>
                <a:gd name="adj" fmla="val 7183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1800">
                <a:solidFill>
                  <a:schemeClr val="tx1"/>
                </a:solidFill>
                <a:latin typeface="Arial"/>
                <a:cs typeface="Arial"/>
              </a:endParaRPr>
            </a:p>
            <a:p>
              <a:pPr>
                <a:defRPr/>
              </a:pPr>
              <a:endParaRPr lang="en-US" sz="1800"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grpSp>
          <p:nvGrpSpPr>
            <p:cNvPr id="40" name="Group 182"/>
            <p:cNvGrpSpPr/>
            <p:nvPr/>
          </p:nvGrpSpPr>
          <p:grpSpPr>
            <a:xfrm>
              <a:off x="4204600" y="2777163"/>
              <a:ext cx="292189" cy="292189"/>
              <a:chOff x="2326389" y="5641484"/>
              <a:chExt cx="820417" cy="820418"/>
            </a:xfrm>
            <a:solidFill>
              <a:schemeClr val="accent3">
                <a:lumMod val="50000"/>
              </a:schemeClr>
            </a:solidFill>
          </p:grpSpPr>
          <p:sp>
            <p:nvSpPr>
              <p:cNvPr id="70" name="Circular Arrow 69"/>
              <p:cNvSpPr/>
              <p:nvPr/>
            </p:nvSpPr>
            <p:spPr bwMode="auto">
              <a:xfrm rot="11039822">
                <a:off x="2326389" y="5641485"/>
                <a:ext cx="820417" cy="820417"/>
              </a:xfrm>
              <a:prstGeom prst="circularArrow">
                <a:avLst>
                  <a:gd name="adj1" fmla="val 12500"/>
                  <a:gd name="adj2" fmla="val 1142319"/>
                  <a:gd name="adj3" fmla="val 20457681"/>
                  <a:gd name="adj4" fmla="val 15322452"/>
                  <a:gd name="adj5" fmla="val 12500"/>
                </a:avLst>
              </a:prstGeom>
              <a:grp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71" name="Circular Arrow 70"/>
              <p:cNvSpPr/>
              <p:nvPr/>
            </p:nvSpPr>
            <p:spPr bwMode="auto">
              <a:xfrm rot="10574178" flipH="1">
                <a:off x="2331533" y="5659237"/>
                <a:ext cx="796991" cy="796991"/>
              </a:xfrm>
              <a:prstGeom prst="circularArrow">
                <a:avLst>
                  <a:gd name="adj1" fmla="val 12500"/>
                  <a:gd name="adj2" fmla="val 1142319"/>
                  <a:gd name="adj3" fmla="val 20457681"/>
                  <a:gd name="adj4" fmla="val 16032624"/>
                  <a:gd name="adj5" fmla="val 12500"/>
                </a:avLst>
              </a:prstGeom>
              <a:grp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72" name="Process 71"/>
              <p:cNvSpPr/>
              <p:nvPr/>
            </p:nvSpPr>
            <p:spPr bwMode="auto">
              <a:xfrm>
                <a:off x="2665870" y="5641484"/>
                <a:ext cx="134863" cy="685518"/>
              </a:xfrm>
              <a:prstGeom prst="flowChartProcess">
                <a:avLst/>
              </a:prstGeom>
              <a:grp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73" name="Process 72"/>
              <p:cNvSpPr/>
              <p:nvPr/>
            </p:nvSpPr>
            <p:spPr bwMode="auto">
              <a:xfrm>
                <a:off x="2461247" y="5742627"/>
                <a:ext cx="573168" cy="78666"/>
              </a:xfrm>
              <a:prstGeom prst="flowChartProcess">
                <a:avLst/>
              </a:prstGeom>
              <a:grp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/>
                  <a:ea typeface="Arial"/>
                  <a:cs typeface="Arial"/>
                </a:endParaRPr>
              </a:p>
            </p:txBody>
          </p:sp>
        </p:grpSp>
      </p:grpSp>
      <p:cxnSp>
        <p:nvCxnSpPr>
          <p:cNvPr id="81" name="Straight Arrow Connector 80"/>
          <p:cNvCxnSpPr/>
          <p:nvPr/>
        </p:nvCxnSpPr>
        <p:spPr bwMode="auto">
          <a:xfrm>
            <a:off x="1527894" y="3130486"/>
            <a:ext cx="6219106" cy="19114"/>
          </a:xfrm>
          <a:prstGeom prst="straightConnector1">
            <a:avLst/>
          </a:prstGeom>
          <a:grpFill/>
          <a:ln w="57150" cap="flat" cmpd="sng" algn="ctr">
            <a:solidFill>
              <a:srgbClr val="93B218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grpSp>
        <p:nvGrpSpPr>
          <p:cNvPr id="82" name="Group 81"/>
          <p:cNvGrpSpPr/>
          <p:nvPr/>
        </p:nvGrpSpPr>
        <p:grpSpPr>
          <a:xfrm>
            <a:off x="1066800" y="1897248"/>
            <a:ext cx="6680200" cy="2065152"/>
            <a:chOff x="1066800" y="1897248"/>
            <a:chExt cx="6680200" cy="2065152"/>
          </a:xfrm>
        </p:grpSpPr>
        <p:cxnSp>
          <p:nvCxnSpPr>
            <p:cNvPr id="75" name="Straight Arrow Connector 74"/>
            <p:cNvCxnSpPr/>
            <p:nvPr/>
          </p:nvCxnSpPr>
          <p:spPr bwMode="auto">
            <a:xfrm>
              <a:off x="1527894" y="2533586"/>
              <a:ext cx="6219106" cy="19114"/>
            </a:xfrm>
            <a:prstGeom prst="straightConnector1">
              <a:avLst/>
            </a:prstGeom>
            <a:solidFill>
              <a:srgbClr val="EAEAEA"/>
            </a:solidFill>
            <a:ln w="152400" cap="flat" cmpd="sng" algn="ctr">
              <a:solidFill>
                <a:srgbClr val="667DA9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  <p:cxnSp>
          <p:nvCxnSpPr>
            <p:cNvPr id="84" name="Straight Arrow Connector 83"/>
            <p:cNvCxnSpPr/>
            <p:nvPr/>
          </p:nvCxnSpPr>
          <p:spPr bwMode="auto">
            <a:xfrm>
              <a:off x="1527894" y="3943286"/>
              <a:ext cx="6219106" cy="19114"/>
            </a:xfrm>
            <a:prstGeom prst="straightConnector1">
              <a:avLst/>
            </a:prstGeom>
            <a:solidFill>
              <a:srgbClr val="EAEAEA"/>
            </a:solidFill>
            <a:ln w="57150" cap="flat" cmpd="sng" algn="ctr">
              <a:solidFill>
                <a:srgbClr val="8AA8E7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52" name="Rounded Rectangle 51"/>
            <p:cNvSpPr/>
            <p:nvPr/>
          </p:nvSpPr>
          <p:spPr bwMode="auto">
            <a:xfrm>
              <a:off x="3158780" y="1901661"/>
              <a:ext cx="1502120" cy="476980"/>
            </a:xfrm>
            <a:prstGeom prst="roundRect">
              <a:avLst>
                <a:gd name="adj" fmla="val 7183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defRPr/>
              </a:pPr>
              <a:r>
                <a:rPr lang="en-US" sz="2400">
                  <a:solidFill>
                    <a:schemeClr val="tx1"/>
                  </a:solidFill>
                  <a:latin typeface="Arial"/>
                  <a:cs typeface="Arial"/>
                </a:rPr>
                <a:t>M(h</a:t>
              </a:r>
              <a:r>
                <a:rPr lang="en-US" sz="2400" baseline="-25000">
                  <a:solidFill>
                    <a:schemeClr val="tx1"/>
                  </a:solidFill>
                  <a:latin typeface="Arial"/>
                  <a:cs typeface="Arial"/>
                </a:rPr>
                <a:t>n-1</a:t>
              </a:r>
              <a:r>
                <a:rPr lang="en-US" sz="2400">
                  <a:solidFill>
                    <a:schemeClr val="tx1"/>
                  </a:solidFill>
                  <a:latin typeface="Arial"/>
                  <a:cs typeface="Arial"/>
                </a:rPr>
                <a:t>, m)</a:t>
              </a:r>
            </a:p>
          </p:txBody>
        </p:sp>
        <p:sp>
          <p:nvSpPr>
            <p:cNvPr id="62" name="Rounded Rectangle 61"/>
            <p:cNvSpPr/>
            <p:nvPr/>
          </p:nvSpPr>
          <p:spPr bwMode="auto">
            <a:xfrm>
              <a:off x="1573436" y="1897248"/>
              <a:ext cx="1502120" cy="476980"/>
            </a:xfrm>
            <a:prstGeom prst="roundRect">
              <a:avLst>
                <a:gd name="adj" fmla="val 7183"/>
              </a:avLst>
            </a:prstGeom>
            <a:ln w="19050" cap="flat" cmpd="sng" algn="ctr">
              <a:solidFill>
                <a:schemeClr val="accent4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defRPr/>
              </a:pPr>
              <a:r>
                <a:rPr lang="en-US" sz="2400">
                  <a:solidFill>
                    <a:schemeClr val="tx1"/>
                  </a:solidFill>
                  <a:latin typeface="Arial"/>
                  <a:cs typeface="Arial"/>
                </a:rPr>
                <a:t>m </a:t>
              </a:r>
            </a:p>
          </p:txBody>
        </p:sp>
        <p:sp>
          <p:nvSpPr>
            <p:cNvPr id="60" name="Rounded Rectangle 59"/>
            <p:cNvSpPr/>
            <p:nvPr/>
          </p:nvSpPr>
          <p:spPr bwMode="auto">
            <a:xfrm>
              <a:off x="1674485" y="3376316"/>
              <a:ext cx="739102" cy="476980"/>
            </a:xfrm>
            <a:prstGeom prst="roundRect">
              <a:avLst>
                <a:gd name="adj" fmla="val 7183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defRPr/>
              </a:pPr>
              <a:r>
                <a:rPr lang="en-US" sz="2400">
                  <a:solidFill>
                    <a:schemeClr val="tx1"/>
                  </a:solidFill>
                  <a:latin typeface="Arial"/>
                  <a:cs typeface="Arial"/>
                </a:rPr>
                <a:t>h</a:t>
              </a:r>
              <a:r>
                <a:rPr lang="en-US" sz="2400" baseline="-25000">
                  <a:solidFill>
                    <a:schemeClr val="tx1"/>
                  </a:solidFill>
                  <a:latin typeface="Arial"/>
                  <a:cs typeface="Arial"/>
                </a:rPr>
                <a:t>n-1</a:t>
              </a:r>
              <a:endParaRPr lang="en-US" sz="2400"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1066800" y="1917700"/>
              <a:ext cx="4413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>
                  <a:latin typeface="Arial"/>
                  <a:ea typeface="Arial"/>
                  <a:cs typeface="Arial"/>
                </a:rPr>
                <a:t>1.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1066800" y="3403600"/>
              <a:ext cx="4413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>
                  <a:latin typeface="Arial"/>
                  <a:ea typeface="Arial"/>
                  <a:cs typeface="Arial"/>
                </a:rPr>
                <a:t>2.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2171701" y="2334214"/>
            <a:ext cx="1720261" cy="1069386"/>
            <a:chOff x="2171701" y="2334214"/>
            <a:chExt cx="1720261" cy="1069386"/>
          </a:xfrm>
        </p:grpSpPr>
        <p:cxnSp>
          <p:nvCxnSpPr>
            <p:cNvPr id="35" name="Straight Arrow Connector 34"/>
            <p:cNvCxnSpPr/>
            <p:nvPr/>
          </p:nvCxnSpPr>
          <p:spPr bwMode="auto">
            <a:xfrm rot="10800000" flipV="1">
              <a:off x="2171701" y="2334214"/>
              <a:ext cx="1507649" cy="1069386"/>
            </a:xfrm>
            <a:prstGeom prst="straightConnector1">
              <a:avLst/>
            </a:prstGeom>
            <a:noFill/>
            <a:ln w="76200" cap="flat" cmpd="sng" algn="ctr">
              <a:solidFill>
                <a:srgbClr val="CD4100"/>
              </a:solidFill>
              <a:prstDash val="solid"/>
              <a:bevel/>
              <a:headEnd type="none" w="med" len="med"/>
              <a:tailEnd type="triangle" w="med" len="med"/>
            </a:ln>
            <a:effectLst/>
          </p:spPr>
        </p:cxnSp>
        <p:sp>
          <p:nvSpPr>
            <p:cNvPr id="36" name="TextBox 35"/>
            <p:cNvSpPr txBox="1"/>
            <p:nvPr/>
          </p:nvSpPr>
          <p:spPr>
            <a:xfrm>
              <a:off x="3265343" y="2667319"/>
              <a:ext cx="62661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latin typeface="Arial"/>
                  <a:ea typeface="Arial"/>
                  <a:cs typeface="Arial"/>
                </a:rPr>
                <a:t>Key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Interactive Hash Chain Signatures in ALPHA</a:t>
            </a:r>
          </a:p>
        </p:txBody>
      </p:sp>
      <p:cxnSp>
        <p:nvCxnSpPr>
          <p:cNvPr id="15" name="Straight Connector 14"/>
          <p:cNvCxnSpPr/>
          <p:nvPr/>
        </p:nvCxnSpPr>
        <p:spPr bwMode="auto">
          <a:xfrm>
            <a:off x="6585821" y="2648757"/>
            <a:ext cx="1592982" cy="26714"/>
          </a:xfrm>
          <a:prstGeom prst="line">
            <a:avLst/>
          </a:prstGeom>
          <a:solidFill>
            <a:srgbClr val="EAEAEA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/>
          <p:cNvCxnSpPr/>
          <p:nvPr/>
        </p:nvCxnSpPr>
        <p:spPr bwMode="auto">
          <a:xfrm rot="10800000">
            <a:off x="4954324" y="2463840"/>
            <a:ext cx="1609016" cy="128727"/>
          </a:xfrm>
          <a:prstGeom prst="line">
            <a:avLst/>
          </a:prstGeom>
          <a:solidFill>
            <a:srgbClr val="EAEAEA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7" name="Group 16"/>
          <p:cNvGrpSpPr/>
          <p:nvPr/>
        </p:nvGrpSpPr>
        <p:grpSpPr>
          <a:xfrm>
            <a:off x="765485" y="1828865"/>
            <a:ext cx="4213262" cy="573920"/>
            <a:chOff x="903715" y="1746172"/>
            <a:chExt cx="4213262" cy="573920"/>
          </a:xfrm>
        </p:grpSpPr>
        <p:cxnSp>
          <p:nvCxnSpPr>
            <p:cNvPr id="18" name="Straight Connector 17"/>
            <p:cNvCxnSpPr/>
            <p:nvPr/>
          </p:nvCxnSpPr>
          <p:spPr bwMode="auto">
            <a:xfrm flipV="1">
              <a:off x="903715" y="1746172"/>
              <a:ext cx="2601231" cy="439596"/>
            </a:xfrm>
            <a:prstGeom prst="line">
              <a:avLst/>
            </a:prstGeom>
            <a:solidFill>
              <a:srgbClr val="EAEAEA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Straight Connector 18"/>
            <p:cNvCxnSpPr/>
            <p:nvPr/>
          </p:nvCxnSpPr>
          <p:spPr bwMode="auto">
            <a:xfrm rot="10800000">
              <a:off x="3517159" y="1746173"/>
              <a:ext cx="1599818" cy="573919"/>
            </a:xfrm>
            <a:prstGeom prst="line">
              <a:avLst/>
            </a:prstGeom>
            <a:solidFill>
              <a:srgbClr val="EAEAEA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0" name="Oval 19"/>
          <p:cNvSpPr/>
          <p:nvPr/>
        </p:nvSpPr>
        <p:spPr bwMode="auto">
          <a:xfrm>
            <a:off x="3098042" y="1560192"/>
            <a:ext cx="561770" cy="561770"/>
          </a:xfrm>
          <a:prstGeom prst="ellipse">
            <a:avLst/>
          </a:prstGeom>
          <a:gradFill flip="none" rotWithShape="1"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0"/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40000" dist="19939" dir="5400000" rotWithShape="0">
              <a:schemeClr val="tx1">
                <a:lumMod val="95000"/>
                <a:lumOff val="5000"/>
                <a:alpha val="38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b">
            <a:prstTxWarp prst="textNoShape">
              <a:avLst/>
            </a:prstTxWarp>
          </a:bodyPr>
          <a:lstStyle/>
          <a:p>
            <a:pPr marL="0" marR="0" indent="0" defTabSz="914400" latinLnBrk="0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bg1"/>
                </a:solidFill>
                <a:latin typeface="Arial"/>
                <a:cs typeface="Arial"/>
              </a:rPr>
              <a:t>r</a:t>
            </a:r>
            <a:r>
              <a:rPr lang="en-US" sz="2800" b="1" baseline="-25000">
                <a:solidFill>
                  <a:schemeClr val="bg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21" name="Oval 20"/>
          <p:cNvSpPr/>
          <p:nvPr/>
        </p:nvSpPr>
        <p:spPr bwMode="auto">
          <a:xfrm>
            <a:off x="4654864" y="2164398"/>
            <a:ext cx="561770" cy="561770"/>
          </a:xfrm>
          <a:prstGeom prst="ellipse">
            <a:avLst/>
          </a:prstGeom>
          <a:gradFill flip="none" rotWithShape="1"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0"/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40000" dist="19939" dir="5400000" rotWithShape="0">
              <a:schemeClr val="tx1">
                <a:lumMod val="95000"/>
                <a:lumOff val="5000"/>
                <a:alpha val="38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b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z="2800" b="1">
                <a:solidFill>
                  <a:schemeClr val="bg1"/>
                </a:solidFill>
                <a:latin typeface="Arial"/>
                <a:cs typeface="Arial"/>
              </a:rPr>
              <a:t>r</a:t>
            </a:r>
            <a:r>
              <a:rPr lang="en-US" sz="2800" b="1" baseline="-25000">
                <a:solidFill>
                  <a:schemeClr val="bg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2" name="Oval 21"/>
          <p:cNvSpPr/>
          <p:nvPr/>
        </p:nvSpPr>
        <p:spPr bwMode="auto">
          <a:xfrm>
            <a:off x="7927265" y="2408144"/>
            <a:ext cx="561770" cy="561770"/>
          </a:xfrm>
          <a:prstGeom prst="ellipse">
            <a:avLst/>
          </a:prstGeom>
          <a:gradFill>
            <a:gsLst>
              <a:gs pos="0">
                <a:srgbClr val="99AD21"/>
              </a:gs>
              <a:gs pos="100000">
                <a:srgbClr val="E4FF80"/>
              </a:gs>
            </a:gsLst>
          </a:gradFill>
          <a:ln w="28575" cap="flat" cmpd="sng" algn="ctr">
            <a:solidFill>
              <a:srgbClr val="9BB02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tIns="46800" bIns="18000" anchor="b">
            <a:prstTxWarp prst="textNoShape">
              <a:avLst/>
            </a:prstTxWarp>
          </a:bodyPr>
          <a:lstStyle/>
          <a:p>
            <a:pPr>
              <a:defRPr/>
            </a:pPr>
            <a:endParaRPr lang="en-US" sz="1600"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691191" y="1913361"/>
            <a:ext cx="561770" cy="561770"/>
          </a:xfrm>
          <a:prstGeom prst="ellipse">
            <a:avLst/>
          </a:prstGeom>
          <a:ln w="19050" cap="flat" cmpd="sng" algn="ctr">
            <a:solidFill>
              <a:schemeClr val="accent4">
                <a:shade val="95000"/>
                <a:satMod val="10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b">
            <a:prstTxWarp prst="textNoShape">
              <a:avLst/>
            </a:prstTxWarp>
          </a:bodyPr>
          <a:lstStyle/>
          <a:p>
            <a:pPr>
              <a:defRPr/>
            </a:pPr>
            <a:endParaRPr lang="en-US" sz="2800"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4" name="Oval 23"/>
          <p:cNvSpPr/>
          <p:nvPr/>
        </p:nvSpPr>
        <p:spPr bwMode="auto">
          <a:xfrm>
            <a:off x="6284862" y="2308207"/>
            <a:ext cx="561770" cy="561770"/>
          </a:xfrm>
          <a:prstGeom prst="ellipse">
            <a:avLst/>
          </a:prstGeom>
          <a:gradFill flip="none" rotWithShape="1"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0"/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40000" dist="19939" dir="5400000" rotWithShape="0">
              <a:schemeClr val="tx1">
                <a:lumMod val="95000"/>
                <a:lumOff val="5000"/>
                <a:alpha val="38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b">
            <a:prstTxWarp prst="textNoShape">
              <a:avLst/>
            </a:prstTxWarp>
          </a:bodyPr>
          <a:lstStyle/>
          <a:p>
            <a:pPr marL="0" marR="0" indent="0" defTabSz="914400" latinLnBrk="0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bg1"/>
                </a:solidFill>
                <a:latin typeface="Arial"/>
                <a:cs typeface="Arial"/>
              </a:rPr>
              <a:t>r</a:t>
            </a:r>
            <a:r>
              <a:rPr lang="en-US" sz="2800" b="1" baseline="-25000">
                <a:solidFill>
                  <a:schemeClr val="bg1"/>
                </a:solidFill>
                <a:latin typeface="Arial"/>
                <a:cs typeface="Arial"/>
              </a:rPr>
              <a:t>3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1337394" y="1674976"/>
            <a:ext cx="4911265" cy="737781"/>
            <a:chOff x="1146336" y="2712290"/>
            <a:chExt cx="4911265" cy="737781"/>
          </a:xfrm>
        </p:grpSpPr>
        <p:cxnSp>
          <p:nvCxnSpPr>
            <p:cNvPr id="28" name="Straight Arrow Connector 27"/>
            <p:cNvCxnSpPr/>
            <p:nvPr/>
          </p:nvCxnSpPr>
          <p:spPr bwMode="auto">
            <a:xfrm flipV="1">
              <a:off x="1146336" y="2712290"/>
              <a:ext cx="1663312" cy="292189"/>
            </a:xfrm>
            <a:prstGeom prst="straightConnector1">
              <a:avLst/>
            </a:prstGeom>
            <a:solidFill>
              <a:srgbClr val="EAEAEA"/>
            </a:solidFill>
            <a:ln w="152400" cap="flat" cmpd="sng" algn="ctr">
              <a:solidFill>
                <a:srgbClr val="667DA9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  <p:cxnSp>
          <p:nvCxnSpPr>
            <p:cNvPr id="29" name="Straight Arrow Connector 28"/>
            <p:cNvCxnSpPr/>
            <p:nvPr/>
          </p:nvCxnSpPr>
          <p:spPr bwMode="auto">
            <a:xfrm>
              <a:off x="3585111" y="2798266"/>
              <a:ext cx="854133" cy="337141"/>
            </a:xfrm>
            <a:prstGeom prst="straightConnector1">
              <a:avLst/>
            </a:prstGeom>
            <a:solidFill>
              <a:srgbClr val="EAEAEA"/>
            </a:solidFill>
            <a:ln w="152400" cap="flat" cmpd="sng" algn="ctr">
              <a:solidFill>
                <a:srgbClr val="667DA9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  <p:cxnSp>
          <p:nvCxnSpPr>
            <p:cNvPr id="30" name="Straight Arrow Connector 29"/>
            <p:cNvCxnSpPr/>
            <p:nvPr/>
          </p:nvCxnSpPr>
          <p:spPr bwMode="auto">
            <a:xfrm>
              <a:off x="5111192" y="3357185"/>
              <a:ext cx="946409" cy="92886"/>
            </a:xfrm>
            <a:prstGeom prst="straightConnector1">
              <a:avLst/>
            </a:prstGeom>
            <a:solidFill>
              <a:srgbClr val="EAEAEA"/>
            </a:solidFill>
            <a:ln w="152400" cap="flat" cmpd="sng" algn="ctr">
              <a:solidFill>
                <a:srgbClr val="667DA9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</p:grpSp>
      <p:sp>
        <p:nvSpPr>
          <p:cNvPr id="33" name="Rectangle 32"/>
          <p:cNvSpPr/>
          <p:nvPr/>
        </p:nvSpPr>
        <p:spPr>
          <a:xfrm>
            <a:off x="745109" y="1807844"/>
            <a:ext cx="4414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89189" y="2315844"/>
            <a:ext cx="4414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grpSp>
        <p:nvGrpSpPr>
          <p:cNvPr id="37" name="Group 69"/>
          <p:cNvGrpSpPr/>
          <p:nvPr/>
        </p:nvGrpSpPr>
        <p:grpSpPr>
          <a:xfrm>
            <a:off x="1362794" y="2203296"/>
            <a:ext cx="6453133" cy="788817"/>
            <a:chOff x="1146336" y="2775790"/>
            <a:chExt cx="6453133" cy="788817"/>
          </a:xfrm>
        </p:grpSpPr>
        <p:cxnSp>
          <p:nvCxnSpPr>
            <p:cNvPr id="48" name="Straight Arrow Connector 47"/>
            <p:cNvCxnSpPr/>
            <p:nvPr/>
          </p:nvCxnSpPr>
          <p:spPr bwMode="auto">
            <a:xfrm flipV="1">
              <a:off x="1146336" y="2775790"/>
              <a:ext cx="1663312" cy="292189"/>
            </a:xfrm>
            <a:prstGeom prst="straightConnector1">
              <a:avLst/>
            </a:prstGeom>
            <a:solidFill>
              <a:srgbClr val="EAEAEA"/>
            </a:solidFill>
            <a:ln w="57150" cap="flat" cmpd="sng" algn="ctr">
              <a:solidFill>
                <a:srgbClr val="8AA8E7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9" name="Straight Arrow Connector 48"/>
            <p:cNvCxnSpPr/>
            <p:nvPr/>
          </p:nvCxnSpPr>
          <p:spPr bwMode="auto">
            <a:xfrm>
              <a:off x="3473351" y="2813506"/>
              <a:ext cx="854133" cy="337141"/>
            </a:xfrm>
            <a:prstGeom prst="straightConnector1">
              <a:avLst/>
            </a:prstGeom>
            <a:solidFill>
              <a:srgbClr val="EAEAEA"/>
            </a:solidFill>
            <a:ln w="57150" cap="flat" cmpd="sng" algn="ctr">
              <a:solidFill>
                <a:srgbClr val="8AA8E7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0" name="Straight Arrow Connector 49"/>
            <p:cNvCxnSpPr/>
            <p:nvPr/>
          </p:nvCxnSpPr>
          <p:spPr bwMode="auto">
            <a:xfrm>
              <a:off x="5015942" y="3344485"/>
              <a:ext cx="990600" cy="76200"/>
            </a:xfrm>
            <a:prstGeom prst="straightConnector1">
              <a:avLst/>
            </a:prstGeom>
            <a:solidFill>
              <a:srgbClr val="EAEAEA"/>
            </a:solidFill>
            <a:ln w="57150" cap="flat" cmpd="sng" algn="ctr">
              <a:solidFill>
                <a:srgbClr val="8AA8E7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1" name="Straight Arrow Connector 50"/>
            <p:cNvCxnSpPr/>
            <p:nvPr/>
          </p:nvCxnSpPr>
          <p:spPr bwMode="auto">
            <a:xfrm>
              <a:off x="6703288" y="3540065"/>
              <a:ext cx="896181" cy="24542"/>
            </a:xfrm>
            <a:prstGeom prst="straightConnector1">
              <a:avLst/>
            </a:prstGeom>
            <a:solidFill>
              <a:srgbClr val="EAEAEA"/>
            </a:solidFill>
            <a:ln w="57150" cap="flat" cmpd="sng" algn="ctr">
              <a:solidFill>
                <a:srgbClr val="8AA8E7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52" name="Group 51"/>
          <p:cNvGrpSpPr/>
          <p:nvPr/>
        </p:nvGrpSpPr>
        <p:grpSpPr>
          <a:xfrm>
            <a:off x="1296754" y="2022956"/>
            <a:ext cx="6463293" cy="788817"/>
            <a:chOff x="1146336" y="2775790"/>
            <a:chExt cx="6463293" cy="788817"/>
          </a:xfrm>
          <a:solidFill>
            <a:srgbClr val="B3D547"/>
          </a:solidFill>
        </p:grpSpPr>
        <p:cxnSp>
          <p:nvCxnSpPr>
            <p:cNvPr id="53" name="Straight Arrow Connector 52"/>
            <p:cNvCxnSpPr/>
            <p:nvPr/>
          </p:nvCxnSpPr>
          <p:spPr bwMode="auto">
            <a:xfrm flipV="1">
              <a:off x="1146336" y="2775790"/>
              <a:ext cx="1663312" cy="292189"/>
            </a:xfrm>
            <a:prstGeom prst="straightConnector1">
              <a:avLst/>
            </a:prstGeom>
            <a:grpFill/>
            <a:ln w="57150" cap="flat" cmpd="sng" algn="ctr">
              <a:solidFill>
                <a:srgbClr val="93B218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54" name="Straight Arrow Connector 53"/>
            <p:cNvCxnSpPr/>
            <p:nvPr/>
          </p:nvCxnSpPr>
          <p:spPr bwMode="auto">
            <a:xfrm>
              <a:off x="3534311" y="2808426"/>
              <a:ext cx="854133" cy="337141"/>
            </a:xfrm>
            <a:prstGeom prst="straightConnector1">
              <a:avLst/>
            </a:prstGeom>
            <a:grpFill/>
            <a:ln w="57150" cap="flat" cmpd="sng" algn="ctr">
              <a:solidFill>
                <a:srgbClr val="93B218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55" name="Straight Arrow Connector 54"/>
            <p:cNvCxnSpPr/>
            <p:nvPr/>
          </p:nvCxnSpPr>
          <p:spPr bwMode="auto">
            <a:xfrm>
              <a:off x="5060392" y="3357185"/>
              <a:ext cx="946409" cy="92886"/>
            </a:xfrm>
            <a:prstGeom prst="straightConnector1">
              <a:avLst/>
            </a:prstGeom>
            <a:grpFill/>
            <a:ln w="57150" cap="flat" cmpd="sng" algn="ctr">
              <a:solidFill>
                <a:srgbClr val="93B218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56" name="Straight Arrow Connector 55"/>
            <p:cNvCxnSpPr/>
            <p:nvPr/>
          </p:nvCxnSpPr>
          <p:spPr bwMode="auto">
            <a:xfrm>
              <a:off x="6713448" y="3540065"/>
              <a:ext cx="896181" cy="24542"/>
            </a:xfrm>
            <a:prstGeom prst="straightConnector1">
              <a:avLst/>
            </a:prstGeom>
            <a:grpFill/>
            <a:ln w="57150" cap="flat" cmpd="sng" algn="ctr">
              <a:solidFill>
                <a:srgbClr val="93B218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</p:grpSp>
      <p:grpSp>
        <p:nvGrpSpPr>
          <p:cNvPr id="60" name="Group 180"/>
          <p:cNvGrpSpPr/>
          <p:nvPr/>
        </p:nvGrpSpPr>
        <p:grpSpPr>
          <a:xfrm>
            <a:off x="8544626" y="2457783"/>
            <a:ext cx="307274" cy="476980"/>
            <a:chOff x="3781276" y="2662711"/>
            <a:chExt cx="307274" cy="476980"/>
          </a:xfrm>
        </p:grpSpPr>
        <p:sp>
          <p:nvSpPr>
            <p:cNvPr id="61" name="Rounded Rectangle 60"/>
            <p:cNvSpPr/>
            <p:nvPr/>
          </p:nvSpPr>
          <p:spPr bwMode="auto">
            <a:xfrm>
              <a:off x="3781276" y="2662711"/>
              <a:ext cx="307274" cy="476980"/>
            </a:xfrm>
            <a:prstGeom prst="roundRect">
              <a:avLst>
                <a:gd name="adj" fmla="val 7183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1800">
                <a:solidFill>
                  <a:schemeClr val="tx1"/>
                </a:solidFill>
                <a:latin typeface="Arial"/>
                <a:cs typeface="Arial"/>
              </a:endParaRPr>
            </a:p>
            <a:p>
              <a:pPr>
                <a:defRPr/>
              </a:pPr>
              <a:endParaRPr lang="en-US" sz="1800"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grpSp>
          <p:nvGrpSpPr>
            <p:cNvPr id="62" name="Group 175"/>
            <p:cNvGrpSpPr/>
            <p:nvPr/>
          </p:nvGrpSpPr>
          <p:grpSpPr>
            <a:xfrm>
              <a:off x="3793703" y="2770857"/>
              <a:ext cx="292189" cy="292189"/>
              <a:chOff x="2326389" y="5641484"/>
              <a:chExt cx="820417" cy="820418"/>
            </a:xfrm>
            <a:solidFill>
              <a:schemeClr val="accent4">
                <a:lumMod val="50000"/>
              </a:schemeClr>
            </a:solidFill>
          </p:grpSpPr>
          <p:sp>
            <p:nvSpPr>
              <p:cNvPr id="63" name="Circular Arrow 62"/>
              <p:cNvSpPr/>
              <p:nvPr/>
            </p:nvSpPr>
            <p:spPr bwMode="auto">
              <a:xfrm rot="11039822">
                <a:off x="2326389" y="5641485"/>
                <a:ext cx="820417" cy="820417"/>
              </a:xfrm>
              <a:prstGeom prst="circularArrow">
                <a:avLst>
                  <a:gd name="adj1" fmla="val 12500"/>
                  <a:gd name="adj2" fmla="val 1142319"/>
                  <a:gd name="adj3" fmla="val 20457681"/>
                  <a:gd name="adj4" fmla="val 15322452"/>
                  <a:gd name="adj5" fmla="val 12500"/>
                </a:avLst>
              </a:prstGeom>
              <a:grp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64" name="Circular Arrow 63"/>
              <p:cNvSpPr/>
              <p:nvPr/>
            </p:nvSpPr>
            <p:spPr bwMode="auto">
              <a:xfrm rot="10574178" flipH="1">
                <a:off x="2331533" y="5659237"/>
                <a:ext cx="796991" cy="796991"/>
              </a:xfrm>
              <a:prstGeom prst="circularArrow">
                <a:avLst>
                  <a:gd name="adj1" fmla="val 12500"/>
                  <a:gd name="adj2" fmla="val 1142319"/>
                  <a:gd name="adj3" fmla="val 20457681"/>
                  <a:gd name="adj4" fmla="val 16032624"/>
                  <a:gd name="adj5" fmla="val 12500"/>
                </a:avLst>
              </a:prstGeom>
              <a:grp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65" name="Process 64"/>
              <p:cNvSpPr/>
              <p:nvPr/>
            </p:nvSpPr>
            <p:spPr bwMode="auto">
              <a:xfrm>
                <a:off x="2665870" y="5641484"/>
                <a:ext cx="134863" cy="685518"/>
              </a:xfrm>
              <a:prstGeom prst="flowChartProcess">
                <a:avLst/>
              </a:prstGeom>
              <a:grp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66" name="Process 65"/>
              <p:cNvSpPr/>
              <p:nvPr/>
            </p:nvSpPr>
            <p:spPr bwMode="auto">
              <a:xfrm>
                <a:off x="2461247" y="5742627"/>
                <a:ext cx="573168" cy="78666"/>
              </a:xfrm>
              <a:prstGeom prst="flowChartProcess">
                <a:avLst/>
              </a:prstGeom>
              <a:grp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/>
                  <a:ea typeface="Arial"/>
                  <a:cs typeface="Arial"/>
                </a:endParaRPr>
              </a:p>
            </p:txBody>
          </p:sp>
        </p:grpSp>
      </p:grpSp>
      <p:grpSp>
        <p:nvGrpSpPr>
          <p:cNvPr id="67" name="Group 187"/>
          <p:cNvGrpSpPr/>
          <p:nvPr/>
        </p:nvGrpSpPr>
        <p:grpSpPr>
          <a:xfrm>
            <a:off x="308738" y="1982989"/>
            <a:ext cx="307274" cy="476980"/>
            <a:chOff x="4194161" y="2669054"/>
            <a:chExt cx="307274" cy="476980"/>
          </a:xfrm>
        </p:grpSpPr>
        <p:sp>
          <p:nvSpPr>
            <p:cNvPr id="68" name="Rounded Rectangle 67"/>
            <p:cNvSpPr/>
            <p:nvPr/>
          </p:nvSpPr>
          <p:spPr bwMode="auto">
            <a:xfrm>
              <a:off x="4194161" y="2669054"/>
              <a:ext cx="307274" cy="476980"/>
            </a:xfrm>
            <a:prstGeom prst="roundRect">
              <a:avLst>
                <a:gd name="adj" fmla="val 7183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1800">
                <a:solidFill>
                  <a:schemeClr val="tx1"/>
                </a:solidFill>
                <a:latin typeface="Arial"/>
                <a:cs typeface="Arial"/>
              </a:endParaRPr>
            </a:p>
            <a:p>
              <a:pPr>
                <a:defRPr/>
              </a:pPr>
              <a:endParaRPr lang="en-US" sz="1800"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grpSp>
          <p:nvGrpSpPr>
            <p:cNvPr id="69" name="Group 182"/>
            <p:cNvGrpSpPr/>
            <p:nvPr/>
          </p:nvGrpSpPr>
          <p:grpSpPr>
            <a:xfrm>
              <a:off x="4204600" y="2777163"/>
              <a:ext cx="292189" cy="292189"/>
              <a:chOff x="2326389" y="5641484"/>
              <a:chExt cx="820417" cy="820418"/>
            </a:xfrm>
            <a:solidFill>
              <a:schemeClr val="accent3">
                <a:lumMod val="50000"/>
              </a:schemeClr>
            </a:solidFill>
          </p:grpSpPr>
          <p:sp>
            <p:nvSpPr>
              <p:cNvPr id="70" name="Circular Arrow 69"/>
              <p:cNvSpPr/>
              <p:nvPr/>
            </p:nvSpPr>
            <p:spPr bwMode="auto">
              <a:xfrm rot="11039822">
                <a:off x="2326389" y="5641485"/>
                <a:ext cx="820417" cy="820417"/>
              </a:xfrm>
              <a:prstGeom prst="circularArrow">
                <a:avLst>
                  <a:gd name="adj1" fmla="val 12500"/>
                  <a:gd name="adj2" fmla="val 1142319"/>
                  <a:gd name="adj3" fmla="val 20457681"/>
                  <a:gd name="adj4" fmla="val 15322452"/>
                  <a:gd name="adj5" fmla="val 12500"/>
                </a:avLst>
              </a:prstGeom>
              <a:grp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71" name="Circular Arrow 70"/>
              <p:cNvSpPr/>
              <p:nvPr/>
            </p:nvSpPr>
            <p:spPr bwMode="auto">
              <a:xfrm rot="10574178" flipH="1">
                <a:off x="2331533" y="5659237"/>
                <a:ext cx="796991" cy="796991"/>
              </a:xfrm>
              <a:prstGeom prst="circularArrow">
                <a:avLst>
                  <a:gd name="adj1" fmla="val 12500"/>
                  <a:gd name="adj2" fmla="val 1142319"/>
                  <a:gd name="adj3" fmla="val 20457681"/>
                  <a:gd name="adj4" fmla="val 16032624"/>
                  <a:gd name="adj5" fmla="val 12500"/>
                </a:avLst>
              </a:prstGeom>
              <a:grp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72" name="Process 71"/>
              <p:cNvSpPr/>
              <p:nvPr/>
            </p:nvSpPr>
            <p:spPr bwMode="auto">
              <a:xfrm>
                <a:off x="2665870" y="5641484"/>
                <a:ext cx="134863" cy="685518"/>
              </a:xfrm>
              <a:prstGeom prst="flowChartProcess">
                <a:avLst/>
              </a:prstGeom>
              <a:grp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73" name="Process 72"/>
              <p:cNvSpPr/>
              <p:nvPr/>
            </p:nvSpPr>
            <p:spPr bwMode="auto">
              <a:xfrm>
                <a:off x="2461247" y="5742627"/>
                <a:ext cx="573168" cy="78666"/>
              </a:xfrm>
              <a:prstGeom prst="flowChartProcess">
                <a:avLst/>
              </a:prstGeom>
              <a:grp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/>
                  <a:ea typeface="Arial"/>
                  <a:cs typeface="Arial"/>
                </a:endParaRPr>
              </a:p>
            </p:txBody>
          </p:sp>
        </p:grpSp>
      </p:grpSp>
      <p:cxnSp>
        <p:nvCxnSpPr>
          <p:cNvPr id="97" name="Straight Connector 96"/>
          <p:cNvCxnSpPr/>
          <p:nvPr/>
        </p:nvCxnSpPr>
        <p:spPr bwMode="auto">
          <a:xfrm>
            <a:off x="6611221" y="4375957"/>
            <a:ext cx="1592982" cy="26714"/>
          </a:xfrm>
          <a:prstGeom prst="line">
            <a:avLst/>
          </a:prstGeom>
          <a:solidFill>
            <a:srgbClr val="EAEAEA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8" name="Straight Connector 97"/>
          <p:cNvCxnSpPr/>
          <p:nvPr/>
        </p:nvCxnSpPr>
        <p:spPr bwMode="auto">
          <a:xfrm rot="10800000">
            <a:off x="4979724" y="4191040"/>
            <a:ext cx="1609016" cy="128727"/>
          </a:xfrm>
          <a:prstGeom prst="line">
            <a:avLst/>
          </a:prstGeom>
          <a:solidFill>
            <a:srgbClr val="EAEAEA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99" name="Group 98"/>
          <p:cNvGrpSpPr/>
          <p:nvPr/>
        </p:nvGrpSpPr>
        <p:grpSpPr>
          <a:xfrm>
            <a:off x="790885" y="3556065"/>
            <a:ext cx="4213262" cy="573920"/>
            <a:chOff x="903715" y="1746172"/>
            <a:chExt cx="4213262" cy="573920"/>
          </a:xfrm>
        </p:grpSpPr>
        <p:cxnSp>
          <p:nvCxnSpPr>
            <p:cNvPr id="100" name="Straight Connector 99"/>
            <p:cNvCxnSpPr/>
            <p:nvPr/>
          </p:nvCxnSpPr>
          <p:spPr bwMode="auto">
            <a:xfrm flipV="1">
              <a:off x="903715" y="1746172"/>
              <a:ext cx="2601231" cy="439596"/>
            </a:xfrm>
            <a:prstGeom prst="line">
              <a:avLst/>
            </a:prstGeom>
            <a:solidFill>
              <a:srgbClr val="EAEAEA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1" name="Straight Connector 100"/>
            <p:cNvCxnSpPr/>
            <p:nvPr/>
          </p:nvCxnSpPr>
          <p:spPr bwMode="auto">
            <a:xfrm rot="10800000">
              <a:off x="3517159" y="1746173"/>
              <a:ext cx="1599818" cy="573919"/>
            </a:xfrm>
            <a:prstGeom prst="line">
              <a:avLst/>
            </a:prstGeom>
            <a:solidFill>
              <a:srgbClr val="EAEAEA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02" name="Oval 101"/>
          <p:cNvSpPr/>
          <p:nvPr/>
        </p:nvSpPr>
        <p:spPr bwMode="auto">
          <a:xfrm>
            <a:off x="3123442" y="3287392"/>
            <a:ext cx="561770" cy="561770"/>
          </a:xfrm>
          <a:prstGeom prst="ellipse">
            <a:avLst/>
          </a:prstGeom>
          <a:gradFill flip="none" rotWithShape="1"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0"/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40000" dist="19939" dir="5400000" rotWithShape="0">
              <a:schemeClr val="tx1">
                <a:lumMod val="95000"/>
                <a:lumOff val="5000"/>
                <a:alpha val="38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b">
            <a:prstTxWarp prst="textNoShape">
              <a:avLst/>
            </a:prstTxWarp>
          </a:bodyPr>
          <a:lstStyle/>
          <a:p>
            <a:pPr marL="0" marR="0" indent="0" defTabSz="914400" latinLnBrk="0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bg1"/>
                </a:solidFill>
                <a:latin typeface="Arial"/>
                <a:cs typeface="Arial"/>
              </a:rPr>
              <a:t>r</a:t>
            </a:r>
            <a:r>
              <a:rPr lang="en-US" sz="2800" b="1" baseline="-25000">
                <a:solidFill>
                  <a:schemeClr val="bg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03" name="Oval 102"/>
          <p:cNvSpPr/>
          <p:nvPr/>
        </p:nvSpPr>
        <p:spPr bwMode="auto">
          <a:xfrm>
            <a:off x="4680264" y="3891598"/>
            <a:ext cx="561770" cy="561770"/>
          </a:xfrm>
          <a:prstGeom prst="ellipse">
            <a:avLst/>
          </a:prstGeom>
          <a:gradFill flip="none" rotWithShape="1"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0"/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40000" dist="19939" dir="5400000" rotWithShape="0">
              <a:schemeClr val="tx1">
                <a:lumMod val="95000"/>
                <a:lumOff val="5000"/>
                <a:alpha val="38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b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z="2800" b="1">
                <a:solidFill>
                  <a:schemeClr val="bg1"/>
                </a:solidFill>
                <a:latin typeface="Arial"/>
                <a:cs typeface="Arial"/>
              </a:rPr>
              <a:t>r</a:t>
            </a:r>
            <a:r>
              <a:rPr lang="en-US" sz="2800" b="1" baseline="-25000">
                <a:solidFill>
                  <a:schemeClr val="bg1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04" name="Oval 103"/>
          <p:cNvSpPr/>
          <p:nvPr/>
        </p:nvSpPr>
        <p:spPr bwMode="auto">
          <a:xfrm>
            <a:off x="7952665" y="4135344"/>
            <a:ext cx="561770" cy="561770"/>
          </a:xfrm>
          <a:prstGeom prst="ellipse">
            <a:avLst/>
          </a:prstGeom>
          <a:gradFill>
            <a:gsLst>
              <a:gs pos="0">
                <a:srgbClr val="99AD21"/>
              </a:gs>
              <a:gs pos="100000">
                <a:srgbClr val="E4FF80"/>
              </a:gs>
            </a:gsLst>
          </a:gradFill>
          <a:ln w="28575" cap="flat" cmpd="sng" algn="ctr">
            <a:solidFill>
              <a:srgbClr val="9BB02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tIns="46800" bIns="18000" anchor="b">
            <a:prstTxWarp prst="textNoShape">
              <a:avLst/>
            </a:prstTxWarp>
          </a:bodyPr>
          <a:lstStyle/>
          <a:p>
            <a:pPr>
              <a:defRPr/>
            </a:pPr>
            <a:endParaRPr lang="en-US" sz="1600"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05" name="Oval 104"/>
          <p:cNvSpPr/>
          <p:nvPr/>
        </p:nvSpPr>
        <p:spPr bwMode="auto">
          <a:xfrm>
            <a:off x="716591" y="3640561"/>
            <a:ext cx="561770" cy="561770"/>
          </a:xfrm>
          <a:prstGeom prst="ellipse">
            <a:avLst/>
          </a:prstGeom>
          <a:ln w="19050" cap="flat" cmpd="sng" algn="ctr">
            <a:solidFill>
              <a:schemeClr val="accent4">
                <a:shade val="95000"/>
                <a:satMod val="10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b">
            <a:prstTxWarp prst="textNoShape">
              <a:avLst/>
            </a:prstTxWarp>
          </a:bodyPr>
          <a:lstStyle/>
          <a:p>
            <a:pPr>
              <a:defRPr/>
            </a:pPr>
            <a:endParaRPr lang="en-US" sz="2800"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06" name="Oval 105"/>
          <p:cNvSpPr/>
          <p:nvPr/>
        </p:nvSpPr>
        <p:spPr bwMode="auto">
          <a:xfrm>
            <a:off x="6310262" y="4035407"/>
            <a:ext cx="561770" cy="561770"/>
          </a:xfrm>
          <a:prstGeom prst="ellipse">
            <a:avLst/>
          </a:prstGeom>
          <a:gradFill flip="none" rotWithShape="1"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16200000" scaled="0"/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40000" dist="19939" dir="5400000" rotWithShape="0">
              <a:schemeClr val="tx1">
                <a:lumMod val="95000"/>
                <a:lumOff val="5000"/>
                <a:alpha val="38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b">
            <a:prstTxWarp prst="textNoShape">
              <a:avLst/>
            </a:prstTxWarp>
          </a:bodyPr>
          <a:lstStyle/>
          <a:p>
            <a:pPr marL="0" marR="0" indent="0" defTabSz="914400" latinLnBrk="0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bg1"/>
                </a:solidFill>
                <a:latin typeface="Arial"/>
                <a:cs typeface="Arial"/>
              </a:rPr>
              <a:t>r</a:t>
            </a:r>
            <a:r>
              <a:rPr lang="en-US" sz="2800" b="1" baseline="-25000">
                <a:solidFill>
                  <a:schemeClr val="bg1"/>
                </a:solidFill>
                <a:latin typeface="Arial"/>
                <a:cs typeface="Arial"/>
              </a:rPr>
              <a:t>3</a:t>
            </a:r>
          </a:p>
        </p:txBody>
      </p:sp>
      <p:grpSp>
        <p:nvGrpSpPr>
          <p:cNvPr id="109" name="Group 108"/>
          <p:cNvGrpSpPr/>
          <p:nvPr/>
        </p:nvGrpSpPr>
        <p:grpSpPr>
          <a:xfrm>
            <a:off x="1362794" y="3465676"/>
            <a:ext cx="6479108" cy="809137"/>
            <a:chOff x="1146336" y="2775790"/>
            <a:chExt cx="6479108" cy="809137"/>
          </a:xfrm>
        </p:grpSpPr>
        <p:cxnSp>
          <p:nvCxnSpPr>
            <p:cNvPr id="110" name="Straight Arrow Connector 109"/>
            <p:cNvCxnSpPr/>
            <p:nvPr/>
          </p:nvCxnSpPr>
          <p:spPr bwMode="auto">
            <a:xfrm flipV="1">
              <a:off x="1146336" y="2775790"/>
              <a:ext cx="1663312" cy="292189"/>
            </a:xfrm>
            <a:prstGeom prst="straightConnector1">
              <a:avLst/>
            </a:prstGeom>
            <a:solidFill>
              <a:srgbClr val="EAEAEA"/>
            </a:solidFill>
            <a:ln w="57150" cap="flat" cmpd="sng" algn="ctr">
              <a:solidFill>
                <a:srgbClr val="8AA8E7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11" name="Straight Arrow Connector 110"/>
            <p:cNvCxnSpPr/>
            <p:nvPr/>
          </p:nvCxnSpPr>
          <p:spPr bwMode="auto">
            <a:xfrm>
              <a:off x="3585111" y="2798266"/>
              <a:ext cx="854133" cy="337141"/>
            </a:xfrm>
            <a:prstGeom prst="straightConnector1">
              <a:avLst/>
            </a:prstGeom>
            <a:solidFill>
              <a:srgbClr val="EAEAEA"/>
            </a:solidFill>
            <a:ln w="57150" cap="flat" cmpd="sng" algn="ctr">
              <a:solidFill>
                <a:srgbClr val="8AA8E7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12" name="Straight Arrow Connector 111"/>
            <p:cNvCxnSpPr/>
            <p:nvPr/>
          </p:nvCxnSpPr>
          <p:spPr bwMode="auto">
            <a:xfrm>
              <a:off x="5111192" y="3357185"/>
              <a:ext cx="946409" cy="92886"/>
            </a:xfrm>
            <a:prstGeom prst="straightConnector1">
              <a:avLst/>
            </a:prstGeom>
            <a:solidFill>
              <a:srgbClr val="EAEAEA"/>
            </a:solidFill>
            <a:ln w="57150" cap="flat" cmpd="sng" algn="ctr">
              <a:solidFill>
                <a:srgbClr val="8AA8E7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13" name="Straight Arrow Connector 112"/>
            <p:cNvCxnSpPr/>
            <p:nvPr/>
          </p:nvCxnSpPr>
          <p:spPr bwMode="auto">
            <a:xfrm>
              <a:off x="6729263" y="3560385"/>
              <a:ext cx="896181" cy="24542"/>
            </a:xfrm>
            <a:prstGeom prst="straightConnector1">
              <a:avLst/>
            </a:prstGeom>
            <a:solidFill>
              <a:srgbClr val="EAEAEA"/>
            </a:solidFill>
            <a:ln w="57150" cap="flat" cmpd="sng" algn="ctr">
              <a:solidFill>
                <a:srgbClr val="8AA8E7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115" name="Rectangle 114"/>
          <p:cNvSpPr/>
          <p:nvPr/>
        </p:nvSpPr>
        <p:spPr>
          <a:xfrm>
            <a:off x="770509" y="3535044"/>
            <a:ext cx="4414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014589" y="4043044"/>
            <a:ext cx="4414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grpSp>
        <p:nvGrpSpPr>
          <p:cNvPr id="118" name="Group 69"/>
          <p:cNvGrpSpPr/>
          <p:nvPr/>
        </p:nvGrpSpPr>
        <p:grpSpPr>
          <a:xfrm>
            <a:off x="1388194" y="3968596"/>
            <a:ext cx="3181148" cy="374857"/>
            <a:chOff x="1146336" y="2775790"/>
            <a:chExt cx="3181148" cy="374857"/>
          </a:xfrm>
        </p:grpSpPr>
        <p:cxnSp>
          <p:nvCxnSpPr>
            <p:cNvPr id="119" name="Straight Arrow Connector 118"/>
            <p:cNvCxnSpPr/>
            <p:nvPr/>
          </p:nvCxnSpPr>
          <p:spPr bwMode="auto">
            <a:xfrm flipV="1">
              <a:off x="1146336" y="2775790"/>
              <a:ext cx="1663312" cy="292189"/>
            </a:xfrm>
            <a:prstGeom prst="straightConnector1">
              <a:avLst/>
            </a:prstGeom>
            <a:solidFill>
              <a:srgbClr val="EAEAEA"/>
            </a:solidFill>
            <a:ln w="152400" cap="flat" cmpd="sng" algn="ctr">
              <a:solidFill>
                <a:srgbClr val="667DA9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  <p:cxnSp>
          <p:nvCxnSpPr>
            <p:cNvPr id="120" name="Straight Arrow Connector 119"/>
            <p:cNvCxnSpPr/>
            <p:nvPr/>
          </p:nvCxnSpPr>
          <p:spPr bwMode="auto">
            <a:xfrm>
              <a:off x="3473351" y="2813506"/>
              <a:ext cx="854133" cy="337141"/>
            </a:xfrm>
            <a:prstGeom prst="straightConnector1">
              <a:avLst/>
            </a:prstGeom>
            <a:solidFill>
              <a:srgbClr val="EAEAEA"/>
            </a:solidFill>
            <a:ln w="152400" cap="flat" cmpd="sng" algn="ctr">
              <a:solidFill>
                <a:srgbClr val="667DA9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</p:grpSp>
      <p:grpSp>
        <p:nvGrpSpPr>
          <p:cNvPr id="123" name="Group 122"/>
          <p:cNvGrpSpPr/>
          <p:nvPr/>
        </p:nvGrpSpPr>
        <p:grpSpPr>
          <a:xfrm>
            <a:off x="1322154" y="3750156"/>
            <a:ext cx="6463293" cy="788817"/>
            <a:chOff x="1146336" y="2775790"/>
            <a:chExt cx="6463293" cy="788817"/>
          </a:xfrm>
          <a:solidFill>
            <a:srgbClr val="B3D547"/>
          </a:solidFill>
        </p:grpSpPr>
        <p:cxnSp>
          <p:nvCxnSpPr>
            <p:cNvPr id="124" name="Straight Arrow Connector 123"/>
            <p:cNvCxnSpPr/>
            <p:nvPr/>
          </p:nvCxnSpPr>
          <p:spPr bwMode="auto">
            <a:xfrm flipV="1">
              <a:off x="1146336" y="2775790"/>
              <a:ext cx="1663312" cy="292189"/>
            </a:xfrm>
            <a:prstGeom prst="straightConnector1">
              <a:avLst/>
            </a:prstGeom>
            <a:grpFill/>
            <a:ln w="57150" cap="flat" cmpd="sng" algn="ctr">
              <a:solidFill>
                <a:srgbClr val="93B218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125" name="Straight Arrow Connector 124"/>
            <p:cNvCxnSpPr/>
            <p:nvPr/>
          </p:nvCxnSpPr>
          <p:spPr bwMode="auto">
            <a:xfrm>
              <a:off x="3534311" y="2808426"/>
              <a:ext cx="854133" cy="337141"/>
            </a:xfrm>
            <a:prstGeom prst="straightConnector1">
              <a:avLst/>
            </a:prstGeom>
            <a:grpFill/>
            <a:ln w="57150" cap="flat" cmpd="sng" algn="ctr">
              <a:solidFill>
                <a:srgbClr val="93B218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126" name="Straight Arrow Connector 125"/>
            <p:cNvCxnSpPr/>
            <p:nvPr/>
          </p:nvCxnSpPr>
          <p:spPr bwMode="auto">
            <a:xfrm>
              <a:off x="5060392" y="3357185"/>
              <a:ext cx="946409" cy="92886"/>
            </a:xfrm>
            <a:prstGeom prst="straightConnector1">
              <a:avLst/>
            </a:prstGeom>
            <a:grpFill/>
            <a:ln w="57150" cap="flat" cmpd="sng" algn="ctr">
              <a:solidFill>
                <a:srgbClr val="93B218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127" name="Straight Arrow Connector 126"/>
            <p:cNvCxnSpPr/>
            <p:nvPr/>
          </p:nvCxnSpPr>
          <p:spPr bwMode="auto">
            <a:xfrm>
              <a:off x="6713448" y="3540065"/>
              <a:ext cx="896181" cy="24542"/>
            </a:xfrm>
            <a:prstGeom prst="straightConnector1">
              <a:avLst/>
            </a:prstGeom>
            <a:grpFill/>
            <a:ln w="57150" cap="flat" cmpd="sng" algn="ctr">
              <a:solidFill>
                <a:srgbClr val="93B218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</p:grpSp>
      <p:grpSp>
        <p:nvGrpSpPr>
          <p:cNvPr id="159" name="Group 158"/>
          <p:cNvGrpSpPr/>
          <p:nvPr/>
        </p:nvGrpSpPr>
        <p:grpSpPr>
          <a:xfrm>
            <a:off x="3210959" y="3913702"/>
            <a:ext cx="3538154" cy="1228820"/>
            <a:chOff x="3363359" y="5425002"/>
            <a:chExt cx="3538154" cy="1228820"/>
          </a:xfrm>
        </p:grpSpPr>
        <p:sp>
          <p:nvSpPr>
            <p:cNvPr id="128" name="Rounded Rectangle 127"/>
            <p:cNvSpPr/>
            <p:nvPr/>
          </p:nvSpPr>
          <p:spPr bwMode="auto">
            <a:xfrm>
              <a:off x="3363359" y="5425002"/>
              <a:ext cx="307274" cy="476980"/>
            </a:xfrm>
            <a:prstGeom prst="roundRect">
              <a:avLst>
                <a:gd name="adj" fmla="val 7183"/>
              </a:avLst>
            </a:prstGeom>
            <a:gradFill flip="none" rotWithShape="1"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0"/>
              <a:tileRect/>
            </a:gra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40000" dist="19939" dir="5400000" rotWithShape="0">
                <a:schemeClr val="tx1">
                  <a:lumMod val="95000"/>
                  <a:lumOff val="5000"/>
                  <a:alpha val="38000"/>
                </a:scheme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t">
              <a:prstTxWarp prst="textNoShape">
                <a:avLst/>
              </a:prstTxWarp>
            </a:bodyPr>
            <a:lstStyle/>
            <a:p>
              <a:pPr>
                <a:defRPr/>
              </a:pPr>
              <a:r>
                <a:rPr lang="en-US" sz="2000" b="1">
                  <a:solidFill>
                    <a:schemeClr val="bg1"/>
                  </a:solidFill>
                  <a:latin typeface="Arial"/>
                  <a:cs typeface="Arial"/>
                </a:rPr>
                <a:t>X</a:t>
              </a:r>
            </a:p>
            <a:p>
              <a:pPr>
                <a:defRPr/>
              </a:pPr>
              <a:endParaRPr lang="en-US" sz="2000" b="1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129" name="Rounded Rectangle 128"/>
            <p:cNvSpPr/>
            <p:nvPr/>
          </p:nvSpPr>
          <p:spPr bwMode="auto">
            <a:xfrm>
              <a:off x="4907679" y="6034602"/>
              <a:ext cx="307274" cy="476980"/>
            </a:xfrm>
            <a:prstGeom prst="roundRect">
              <a:avLst>
                <a:gd name="adj" fmla="val 7183"/>
              </a:avLst>
            </a:prstGeom>
            <a:gradFill flip="none" rotWithShape="1"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0"/>
              <a:tileRect/>
            </a:gra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40000" dist="19939" dir="5400000" rotWithShape="0">
                <a:schemeClr val="tx1">
                  <a:lumMod val="95000"/>
                  <a:lumOff val="5000"/>
                  <a:alpha val="38000"/>
                </a:scheme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t">
              <a:prstTxWarp prst="textNoShape">
                <a:avLst/>
              </a:prstTxWarp>
            </a:bodyPr>
            <a:lstStyle/>
            <a:p>
              <a:pPr>
                <a:defRPr/>
              </a:pPr>
              <a:r>
                <a:rPr lang="en-US" sz="2000" b="1">
                  <a:solidFill>
                    <a:schemeClr val="bg1"/>
                  </a:solidFill>
                  <a:latin typeface="Arial"/>
                  <a:cs typeface="Arial"/>
                </a:rPr>
                <a:t>X</a:t>
              </a:r>
            </a:p>
            <a:p>
              <a:pPr>
                <a:defRPr/>
              </a:pPr>
              <a:endParaRPr lang="en-US" sz="2000" b="1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130" name="Rounded Rectangle 129"/>
            <p:cNvSpPr/>
            <p:nvPr/>
          </p:nvSpPr>
          <p:spPr bwMode="auto">
            <a:xfrm>
              <a:off x="6594239" y="6176842"/>
              <a:ext cx="307274" cy="476980"/>
            </a:xfrm>
            <a:prstGeom prst="roundRect">
              <a:avLst>
                <a:gd name="adj" fmla="val 7183"/>
              </a:avLst>
            </a:prstGeom>
            <a:gradFill flip="none" rotWithShape="1"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0"/>
              <a:tileRect/>
            </a:gra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40000" dist="19939" dir="5400000" rotWithShape="0">
                <a:schemeClr val="tx1">
                  <a:lumMod val="95000"/>
                  <a:lumOff val="5000"/>
                  <a:alpha val="38000"/>
                </a:scheme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t">
              <a:prstTxWarp prst="textNoShape">
                <a:avLst/>
              </a:prstTxWarp>
            </a:bodyPr>
            <a:lstStyle/>
            <a:p>
              <a:pPr>
                <a:defRPr/>
              </a:pPr>
              <a:r>
                <a:rPr lang="en-US" sz="2000" b="1">
                  <a:solidFill>
                    <a:schemeClr val="bg1"/>
                  </a:solidFill>
                  <a:latin typeface="Arial"/>
                  <a:cs typeface="Arial"/>
                </a:rPr>
                <a:t>X</a:t>
              </a:r>
            </a:p>
            <a:p>
              <a:pPr>
                <a:defRPr/>
              </a:pPr>
              <a:endParaRPr lang="en-US" sz="2000" b="1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131" name="Group 180"/>
          <p:cNvGrpSpPr/>
          <p:nvPr/>
        </p:nvGrpSpPr>
        <p:grpSpPr>
          <a:xfrm>
            <a:off x="8570026" y="4184983"/>
            <a:ext cx="307274" cy="476980"/>
            <a:chOff x="3781276" y="2662711"/>
            <a:chExt cx="307274" cy="476980"/>
          </a:xfrm>
        </p:grpSpPr>
        <p:sp>
          <p:nvSpPr>
            <p:cNvPr id="132" name="Rounded Rectangle 131"/>
            <p:cNvSpPr/>
            <p:nvPr/>
          </p:nvSpPr>
          <p:spPr bwMode="auto">
            <a:xfrm>
              <a:off x="3781276" y="2662711"/>
              <a:ext cx="307274" cy="476980"/>
            </a:xfrm>
            <a:prstGeom prst="roundRect">
              <a:avLst>
                <a:gd name="adj" fmla="val 7183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1800">
                <a:solidFill>
                  <a:schemeClr val="tx1"/>
                </a:solidFill>
                <a:latin typeface="Arial"/>
                <a:cs typeface="Arial"/>
              </a:endParaRPr>
            </a:p>
            <a:p>
              <a:pPr>
                <a:defRPr/>
              </a:pPr>
              <a:endParaRPr lang="en-US" sz="1800"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grpSp>
          <p:nvGrpSpPr>
            <p:cNvPr id="133" name="Group 175"/>
            <p:cNvGrpSpPr/>
            <p:nvPr/>
          </p:nvGrpSpPr>
          <p:grpSpPr>
            <a:xfrm>
              <a:off x="3793703" y="2770857"/>
              <a:ext cx="292189" cy="292189"/>
              <a:chOff x="2326389" y="5641484"/>
              <a:chExt cx="820417" cy="820418"/>
            </a:xfrm>
            <a:solidFill>
              <a:schemeClr val="accent4">
                <a:lumMod val="50000"/>
              </a:schemeClr>
            </a:solidFill>
          </p:grpSpPr>
          <p:sp>
            <p:nvSpPr>
              <p:cNvPr id="134" name="Circular Arrow 133"/>
              <p:cNvSpPr/>
              <p:nvPr/>
            </p:nvSpPr>
            <p:spPr bwMode="auto">
              <a:xfrm rot="11039822">
                <a:off x="2326389" y="5641485"/>
                <a:ext cx="820417" cy="820417"/>
              </a:xfrm>
              <a:prstGeom prst="circularArrow">
                <a:avLst>
                  <a:gd name="adj1" fmla="val 12500"/>
                  <a:gd name="adj2" fmla="val 1142319"/>
                  <a:gd name="adj3" fmla="val 20457681"/>
                  <a:gd name="adj4" fmla="val 15322452"/>
                  <a:gd name="adj5" fmla="val 12500"/>
                </a:avLst>
              </a:prstGeom>
              <a:grp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35" name="Circular Arrow 134"/>
              <p:cNvSpPr/>
              <p:nvPr/>
            </p:nvSpPr>
            <p:spPr bwMode="auto">
              <a:xfrm rot="10574178" flipH="1">
                <a:off x="2331533" y="5659237"/>
                <a:ext cx="796991" cy="796991"/>
              </a:xfrm>
              <a:prstGeom prst="circularArrow">
                <a:avLst>
                  <a:gd name="adj1" fmla="val 12500"/>
                  <a:gd name="adj2" fmla="val 1142319"/>
                  <a:gd name="adj3" fmla="val 20457681"/>
                  <a:gd name="adj4" fmla="val 16032624"/>
                  <a:gd name="adj5" fmla="val 12500"/>
                </a:avLst>
              </a:prstGeom>
              <a:grp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36" name="Process 135"/>
              <p:cNvSpPr/>
              <p:nvPr/>
            </p:nvSpPr>
            <p:spPr bwMode="auto">
              <a:xfrm>
                <a:off x="2665870" y="5641484"/>
                <a:ext cx="134863" cy="685518"/>
              </a:xfrm>
              <a:prstGeom prst="flowChartProcess">
                <a:avLst/>
              </a:prstGeom>
              <a:grp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37" name="Process 136"/>
              <p:cNvSpPr/>
              <p:nvPr/>
            </p:nvSpPr>
            <p:spPr bwMode="auto">
              <a:xfrm>
                <a:off x="2461247" y="5742627"/>
                <a:ext cx="573168" cy="78666"/>
              </a:xfrm>
              <a:prstGeom prst="flowChartProcess">
                <a:avLst/>
              </a:prstGeom>
              <a:grp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/>
                  <a:ea typeface="Arial"/>
                  <a:cs typeface="Arial"/>
                </a:endParaRPr>
              </a:p>
            </p:txBody>
          </p:sp>
        </p:grpSp>
      </p:grpSp>
      <p:grpSp>
        <p:nvGrpSpPr>
          <p:cNvPr id="138" name="Group 187"/>
          <p:cNvGrpSpPr/>
          <p:nvPr/>
        </p:nvGrpSpPr>
        <p:grpSpPr>
          <a:xfrm>
            <a:off x="334138" y="3710189"/>
            <a:ext cx="307274" cy="476980"/>
            <a:chOff x="4194161" y="2669054"/>
            <a:chExt cx="307274" cy="476980"/>
          </a:xfrm>
        </p:grpSpPr>
        <p:sp>
          <p:nvSpPr>
            <p:cNvPr id="139" name="Rounded Rectangle 138"/>
            <p:cNvSpPr/>
            <p:nvPr/>
          </p:nvSpPr>
          <p:spPr bwMode="auto">
            <a:xfrm>
              <a:off x="4194161" y="2669054"/>
              <a:ext cx="307274" cy="476980"/>
            </a:xfrm>
            <a:prstGeom prst="roundRect">
              <a:avLst>
                <a:gd name="adj" fmla="val 7183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1800">
                <a:solidFill>
                  <a:schemeClr val="tx1"/>
                </a:solidFill>
                <a:latin typeface="Arial"/>
                <a:cs typeface="Arial"/>
              </a:endParaRPr>
            </a:p>
            <a:p>
              <a:pPr>
                <a:defRPr/>
              </a:pPr>
              <a:endParaRPr lang="en-US" sz="1800"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grpSp>
          <p:nvGrpSpPr>
            <p:cNvPr id="140" name="Group 182"/>
            <p:cNvGrpSpPr/>
            <p:nvPr/>
          </p:nvGrpSpPr>
          <p:grpSpPr>
            <a:xfrm>
              <a:off x="4204600" y="2777163"/>
              <a:ext cx="292189" cy="292189"/>
              <a:chOff x="2326389" y="5641484"/>
              <a:chExt cx="820417" cy="820418"/>
            </a:xfrm>
            <a:solidFill>
              <a:schemeClr val="accent3">
                <a:lumMod val="50000"/>
              </a:schemeClr>
            </a:solidFill>
          </p:grpSpPr>
          <p:sp>
            <p:nvSpPr>
              <p:cNvPr id="141" name="Circular Arrow 140"/>
              <p:cNvSpPr/>
              <p:nvPr/>
            </p:nvSpPr>
            <p:spPr bwMode="auto">
              <a:xfrm rot="11039822">
                <a:off x="2326389" y="5641485"/>
                <a:ext cx="820417" cy="820417"/>
              </a:xfrm>
              <a:prstGeom prst="circularArrow">
                <a:avLst>
                  <a:gd name="adj1" fmla="val 12500"/>
                  <a:gd name="adj2" fmla="val 1142319"/>
                  <a:gd name="adj3" fmla="val 20457681"/>
                  <a:gd name="adj4" fmla="val 15322452"/>
                  <a:gd name="adj5" fmla="val 12500"/>
                </a:avLst>
              </a:prstGeom>
              <a:grp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42" name="Circular Arrow 141"/>
              <p:cNvSpPr/>
              <p:nvPr/>
            </p:nvSpPr>
            <p:spPr bwMode="auto">
              <a:xfrm rot="10574178" flipH="1">
                <a:off x="2331533" y="5659237"/>
                <a:ext cx="796991" cy="796991"/>
              </a:xfrm>
              <a:prstGeom prst="circularArrow">
                <a:avLst>
                  <a:gd name="adj1" fmla="val 12500"/>
                  <a:gd name="adj2" fmla="val 1142319"/>
                  <a:gd name="adj3" fmla="val 20457681"/>
                  <a:gd name="adj4" fmla="val 16032624"/>
                  <a:gd name="adj5" fmla="val 12500"/>
                </a:avLst>
              </a:prstGeom>
              <a:grp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43" name="Process 142"/>
              <p:cNvSpPr/>
              <p:nvPr/>
            </p:nvSpPr>
            <p:spPr bwMode="auto">
              <a:xfrm>
                <a:off x="2665870" y="5641484"/>
                <a:ext cx="134863" cy="685518"/>
              </a:xfrm>
              <a:prstGeom prst="flowChartProcess">
                <a:avLst/>
              </a:prstGeom>
              <a:grp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44" name="Process 143"/>
              <p:cNvSpPr/>
              <p:nvPr/>
            </p:nvSpPr>
            <p:spPr bwMode="auto">
              <a:xfrm>
                <a:off x="2461247" y="5742627"/>
                <a:ext cx="573168" cy="78666"/>
              </a:xfrm>
              <a:prstGeom prst="flowChartProcess">
                <a:avLst/>
              </a:prstGeom>
              <a:grp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/>
                  <a:ea typeface="Arial"/>
                  <a:cs typeface="Arial"/>
                </a:endParaRPr>
              </a:p>
            </p:txBody>
          </p:sp>
        </p:grpSp>
      </p:grpSp>
      <p:grpSp>
        <p:nvGrpSpPr>
          <p:cNvPr id="155" name="Group 154"/>
          <p:cNvGrpSpPr/>
          <p:nvPr/>
        </p:nvGrpSpPr>
        <p:grpSpPr>
          <a:xfrm>
            <a:off x="1388194" y="3968596"/>
            <a:ext cx="3181148" cy="374857"/>
            <a:chOff x="1540594" y="5276696"/>
            <a:chExt cx="3181148" cy="374857"/>
          </a:xfrm>
        </p:grpSpPr>
        <p:cxnSp>
          <p:nvCxnSpPr>
            <p:cNvPr id="151" name="Straight Arrow Connector 150"/>
            <p:cNvCxnSpPr/>
            <p:nvPr/>
          </p:nvCxnSpPr>
          <p:spPr bwMode="auto">
            <a:xfrm>
              <a:off x="3867609" y="5314412"/>
              <a:ext cx="854133" cy="337141"/>
            </a:xfrm>
            <a:prstGeom prst="straightConnector1">
              <a:avLst/>
            </a:prstGeom>
            <a:solidFill>
              <a:srgbClr val="EAEAEA"/>
            </a:solidFill>
            <a:ln w="152400" cap="flat" cmpd="sng" algn="ctr">
              <a:solidFill>
                <a:srgbClr val="E73B00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  <p:cxnSp>
          <p:nvCxnSpPr>
            <p:cNvPr id="154" name="Straight Arrow Connector 153"/>
            <p:cNvCxnSpPr/>
            <p:nvPr/>
          </p:nvCxnSpPr>
          <p:spPr bwMode="auto">
            <a:xfrm flipV="1">
              <a:off x="1540594" y="5276696"/>
              <a:ext cx="1663312" cy="292189"/>
            </a:xfrm>
            <a:prstGeom prst="straightConnector1">
              <a:avLst/>
            </a:prstGeom>
            <a:solidFill>
              <a:srgbClr val="EAEAEA"/>
            </a:solidFill>
            <a:ln w="152400" cap="flat" cmpd="sng" algn="ctr">
              <a:solidFill>
                <a:srgbClr val="617DAB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</p:grpSp>
      <p:sp>
        <p:nvSpPr>
          <p:cNvPr id="160" name="Rounded Rectangle 159"/>
          <p:cNvSpPr/>
          <p:nvPr/>
        </p:nvSpPr>
        <p:spPr bwMode="auto">
          <a:xfrm>
            <a:off x="4755279" y="4523302"/>
            <a:ext cx="307274" cy="476980"/>
          </a:xfrm>
          <a:prstGeom prst="roundRect">
            <a:avLst>
              <a:gd name="adj" fmla="val 7183"/>
            </a:avLst>
          </a:prstGeom>
          <a:gradFill flip="none" rotWithShape="1">
            <a:gsLst>
              <a:gs pos="0">
                <a:srgbClr val="FF0000"/>
              </a:gs>
              <a:gs pos="100000">
                <a:srgbClr val="FFB7A6"/>
              </a:gs>
            </a:gsLst>
            <a:lin ang="16200000" scaled="0"/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40000" dist="19939" dir="5400000" rotWithShape="0">
              <a:schemeClr val="tx1">
                <a:lumMod val="95000"/>
                <a:lumOff val="5000"/>
                <a:alpha val="38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t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z="2000" b="1">
                <a:solidFill>
                  <a:schemeClr val="bg1"/>
                </a:solidFill>
                <a:latin typeface="Arial"/>
                <a:cs typeface="Arial"/>
              </a:rPr>
              <a:t>X</a:t>
            </a:r>
          </a:p>
          <a:p>
            <a:pPr>
              <a:defRPr/>
            </a:pPr>
            <a:endParaRPr lang="en-US" sz="2000" b="1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63" name="Content Placeholder 2"/>
          <p:cNvSpPr>
            <a:spLocks noGrp="1"/>
          </p:cNvSpPr>
          <p:nvPr>
            <p:ph sz="quarter" idx="10"/>
          </p:nvPr>
        </p:nvSpPr>
        <p:spPr>
          <a:xfrm>
            <a:off x="101600" y="4483100"/>
            <a:ext cx="8532068" cy="3415025"/>
          </a:xfrm>
        </p:spPr>
        <p:txBody>
          <a:bodyPr/>
          <a:lstStyle/>
          <a:p>
            <a:pPr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/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1. Path reservation</a:t>
            </a: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>
                <a:sym typeface="Wingdings"/>
              </a:rPr>
              <a:t>2. Verifier grants permission</a:t>
            </a:r>
            <a:endParaRPr lang="en-US"/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/>
              <a:t>3. Sender sends message </a:t>
            </a:r>
            <a:r>
              <a:rPr lang="en-US" i="1"/>
              <a:t>m</a:t>
            </a:r>
            <a:endParaRPr lang="en-US">
              <a:sym typeface="Wingdings"/>
            </a:endParaRPr>
          </a:p>
          <a:p>
            <a:pPr>
              <a:buNone/>
            </a:pPr>
            <a:endParaRPr lang="en-US"/>
          </a:p>
        </p:txBody>
      </p:sp>
      <p:sp>
        <p:nvSpPr>
          <p:cNvPr id="164" name="Arc 163"/>
          <p:cNvSpPr/>
          <p:nvPr/>
        </p:nvSpPr>
        <p:spPr bwMode="auto">
          <a:xfrm rot="703428">
            <a:off x="3543773" y="5096234"/>
            <a:ext cx="1072947" cy="1072947"/>
          </a:xfrm>
          <a:prstGeom prst="arc">
            <a:avLst>
              <a:gd name="adj1" fmla="val 15375947"/>
              <a:gd name="adj2" fmla="val 3052351"/>
            </a:avLst>
          </a:prstGeom>
          <a:noFill/>
          <a:ln w="76200" cap="flat" cmpd="sng" algn="ctr">
            <a:solidFill>
              <a:srgbClr val="3E5C93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/>
              <a:ea typeface="Arial"/>
              <a:cs typeface="Arial"/>
            </a:endParaRPr>
          </a:p>
        </p:txBody>
      </p:sp>
      <p:grpSp>
        <p:nvGrpSpPr>
          <p:cNvPr id="146" name="Group 145"/>
          <p:cNvGrpSpPr/>
          <p:nvPr/>
        </p:nvGrpSpPr>
        <p:grpSpPr>
          <a:xfrm>
            <a:off x="1930400" y="1104900"/>
            <a:ext cx="5924202" cy="1391913"/>
            <a:chOff x="1930400" y="901700"/>
            <a:chExt cx="5924202" cy="1391913"/>
          </a:xfrm>
        </p:grpSpPr>
        <p:cxnSp>
          <p:nvCxnSpPr>
            <p:cNvPr id="85" name="Straight Arrow Connector 84"/>
            <p:cNvCxnSpPr/>
            <p:nvPr/>
          </p:nvCxnSpPr>
          <p:spPr bwMode="auto">
            <a:xfrm>
              <a:off x="6958421" y="2269071"/>
              <a:ext cx="896181" cy="24542"/>
            </a:xfrm>
            <a:prstGeom prst="straightConnector1">
              <a:avLst/>
            </a:prstGeom>
            <a:solidFill>
              <a:srgbClr val="EAEAEA"/>
            </a:solidFill>
            <a:ln w="152400" cap="flat" cmpd="sng" algn="ctr">
              <a:solidFill>
                <a:srgbClr val="E73B00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  <p:grpSp>
          <p:nvGrpSpPr>
            <p:cNvPr id="145" name="Group 144"/>
            <p:cNvGrpSpPr/>
            <p:nvPr/>
          </p:nvGrpSpPr>
          <p:grpSpPr>
            <a:xfrm>
              <a:off x="1930400" y="901700"/>
              <a:ext cx="4133993" cy="1118176"/>
              <a:chOff x="1930400" y="901700"/>
              <a:chExt cx="4133993" cy="1118176"/>
            </a:xfrm>
          </p:grpSpPr>
          <p:sp>
            <p:nvSpPr>
              <p:cNvPr id="108" name="TextBox 107"/>
              <p:cNvSpPr txBox="1"/>
              <p:nvPr/>
            </p:nvSpPr>
            <p:spPr>
              <a:xfrm>
                <a:off x="1930400" y="901700"/>
                <a:ext cx="412893" cy="584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>
                    <a:latin typeface="Arial"/>
                    <a:ea typeface="Arial"/>
                    <a:cs typeface="Arial"/>
                  </a:rPr>
                  <a:t>?</a:t>
                </a:r>
              </a:p>
            </p:txBody>
          </p:sp>
          <p:sp>
            <p:nvSpPr>
              <p:cNvPr id="114" name="TextBox 113"/>
              <p:cNvSpPr txBox="1"/>
              <p:nvPr/>
            </p:nvSpPr>
            <p:spPr>
              <a:xfrm>
                <a:off x="4102100" y="1016000"/>
                <a:ext cx="412893" cy="584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>
                    <a:latin typeface="Arial"/>
                    <a:ea typeface="Arial"/>
                    <a:cs typeface="Arial"/>
                  </a:rPr>
                  <a:t>?</a:t>
                </a:r>
              </a:p>
            </p:txBody>
          </p:sp>
          <p:sp>
            <p:nvSpPr>
              <p:cNvPr id="117" name="TextBox 116"/>
              <p:cNvSpPr txBox="1"/>
              <p:nvPr/>
            </p:nvSpPr>
            <p:spPr>
              <a:xfrm>
                <a:off x="5651500" y="1435100"/>
                <a:ext cx="412893" cy="584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>
                    <a:latin typeface="Arial"/>
                    <a:ea typeface="Arial"/>
                    <a:cs typeface="Arial"/>
                  </a:rPr>
                  <a:t>?</a:t>
                </a:r>
              </a:p>
            </p:txBody>
          </p:sp>
        </p:grpSp>
      </p:grpSp>
      <p:sp>
        <p:nvSpPr>
          <p:cNvPr id="107" name="TextBox 106"/>
          <p:cNvSpPr txBox="1"/>
          <p:nvPr/>
        </p:nvSpPr>
        <p:spPr>
          <a:xfrm>
            <a:off x="139700" y="787400"/>
            <a:ext cx="4663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latin typeface="Arial"/>
                <a:ea typeface="Arial"/>
                <a:cs typeface="Arial"/>
              </a:rPr>
              <a:t>General hash-chain based signature model: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39700" y="3213100"/>
            <a:ext cx="1711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latin typeface="Arial"/>
                <a:ea typeface="Arial"/>
                <a:cs typeface="Arial"/>
              </a:rPr>
              <a:t>ALHPA model: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" grpId="0" animBg="1"/>
      <p:bldP spid="163" grpId="0" uiExpand="1" build="p"/>
      <p:bldP spid="164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Vorlesungen-Layout">
  <a:themeElements>
    <a:clrScheme name="Ds-Template">
      <a:dk1>
        <a:srgbClr val="000000"/>
      </a:dk1>
      <a:lt1>
        <a:sysClr val="window" lastClr="FFFFFF"/>
      </a:lt1>
      <a:dk2>
        <a:srgbClr val="000000"/>
      </a:dk2>
      <a:lt2>
        <a:srgbClr val="BBC0AC"/>
      </a:lt2>
      <a:accent1>
        <a:srgbClr val="EEAC19"/>
      </a:accent1>
      <a:accent2>
        <a:srgbClr val="E07602"/>
      </a:accent2>
      <a:accent3>
        <a:srgbClr val="9FF726"/>
      </a:accent3>
      <a:accent4>
        <a:srgbClr val="8BA8D3"/>
      </a:accent4>
      <a:accent5>
        <a:srgbClr val="21449B"/>
      </a:accent5>
      <a:accent6>
        <a:srgbClr val="5E82B7"/>
      </a:accent6>
      <a:hlink>
        <a:srgbClr val="DF7408"/>
      </a:hlink>
      <a:folHlink>
        <a:srgbClr val="DE720C"/>
      </a:folHlink>
    </a:clrScheme>
    <a:fontScheme name="Vorlesungen-Lay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-128"/>
          </a:defRPr>
        </a:defPPr>
      </a:lstStyle>
    </a:lnDef>
  </a:objectDefaults>
  <a:extraClrSchemeLst>
    <a:extraClrScheme>
      <a:clrScheme name="Vorlesungen-Layo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esungen-Layou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orlesungen-Layou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esungen-Layou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esungen-Layo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esungen-Layo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esungen-Layo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1012</Words>
  <Application>Microsoft Office PowerPoint</Application>
  <PresentationFormat>Bildschirmpräsentation (4:3)</PresentationFormat>
  <Paragraphs>224</Paragraphs>
  <Slides>25</Slides>
  <Notes>13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29" baseType="lpstr">
      <vt:lpstr>Wingdings 3</vt:lpstr>
      <vt:lpstr>Wingdings 2</vt:lpstr>
      <vt:lpstr>Arial</vt:lpstr>
      <vt:lpstr>Vorlesungen-Layout</vt:lpstr>
      <vt:lpstr>Modern Congestion Control Algorithms</vt:lpstr>
      <vt:lpstr>Motivation</vt:lpstr>
      <vt:lpstr>Goal of Congestion Control</vt:lpstr>
      <vt:lpstr>Background</vt:lpstr>
      <vt:lpstr>Approaches for Congestion Control</vt:lpstr>
      <vt:lpstr>Approaches for Congestion Control</vt:lpstr>
      <vt:lpstr>Approaches for Congestion Control</vt:lpstr>
      <vt:lpstr>Approaches for Congestion Control</vt:lpstr>
      <vt:lpstr>Approaches for Congestion Control</vt:lpstr>
      <vt:lpstr>Evaluation</vt:lpstr>
      <vt:lpstr>Title – Sky blue</vt:lpstr>
      <vt:lpstr>Note on Font Embedding</vt:lpstr>
      <vt:lpstr>Rules for DS Slides</vt:lpstr>
      <vt:lpstr>Version History</vt:lpstr>
      <vt:lpstr>Shapes</vt:lpstr>
      <vt:lpstr>Shapes</vt:lpstr>
      <vt:lpstr>Colors and Shapes – Bevel</vt:lpstr>
      <vt:lpstr>Arrow Styles</vt:lpstr>
      <vt:lpstr>PowerPoint-Präsentation</vt:lpstr>
      <vt:lpstr>Visio Devices</vt:lpstr>
      <vt:lpstr>Devices</vt:lpstr>
      <vt:lpstr>Misc </vt:lpstr>
      <vt:lpstr>Logos</vt:lpstr>
      <vt:lpstr>Integrity Protection - Delayed Key Disclosure</vt:lpstr>
      <vt:lpstr>Interactive Hash Chain Signatures in ALPHA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Template</dc:title>
  <dc:subject/>
  <dc:creator>Rainer Krogull</dc:creator>
  <cp:keywords/>
  <dc:description/>
  <cp:lastModifiedBy>Yannik Schreiter</cp:lastModifiedBy>
  <cp:revision>2109</cp:revision>
  <cp:lastPrinted>2009-03-26T18:25:42Z</cp:lastPrinted>
  <dcterms:created xsi:type="dcterms:W3CDTF">2009-04-03T11:12:54Z</dcterms:created>
  <dcterms:modified xsi:type="dcterms:W3CDTF">2026-07-15T06:10:53Z</dcterms:modified>
  <cp:category/>
</cp:coreProperties>
</file>